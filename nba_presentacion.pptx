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sldIdLst>
    <p:sldId id="256" r:id="rId3"/>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80" r:id="rId20"/>
    <p:sldId id="272" r:id="rId21"/>
    <p:sldId id="273" r:id="rId22"/>
    <p:sldId id="274" r:id="rId23"/>
    <p:sldId id="275" r:id="rId24"/>
    <p:sldId id="276" r:id="rId25"/>
    <p:sldId id="277" r:id="rId26"/>
    <p:sldId id="278" r:id="rId2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0" Type="http://schemas.openxmlformats.org/officeDocument/2006/relationships/tableStyles" Target="tableStyles.xml"/><Relationship Id="rId3" Type="http://schemas.openxmlformats.org/officeDocument/2006/relationships/slide" Target="slides/slide1.xml"/><Relationship Id="rId29" Type="http://schemas.openxmlformats.org/officeDocument/2006/relationships/viewProps" Target="viewProps.xml"/><Relationship Id="rId28" Type="http://schemas.openxmlformats.org/officeDocument/2006/relationships/presProps" Target="presProps.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PlaceHolder 1"/>
          <p:cNvSpPr>
            <a:spLocks noGrp="1"/>
          </p:cNvSpPr>
          <p:nvPr>
            <p:ph type="sldImg"/>
          </p:nvPr>
        </p:nvSpPr>
        <p:spPr>
          <a:xfrm>
            <a:off x="216000" y="812520"/>
            <a:ext cx="7127280" cy="4008960"/>
          </a:xfrm>
          <a:prstGeom prst="rect">
            <a:avLst/>
          </a:prstGeom>
          <a:noFill/>
          <a:ln w="0">
            <a:noFill/>
          </a:ln>
        </p:spPr>
        <p:txBody>
          <a:bodyPr lIns="0" tIns="0" rIns="0" bIns="0" anchor="ctr">
            <a:noAutofit/>
          </a:bodyPr>
          <a:p>
            <a:r>
              <a:rPr lang="es-ES" sz="1800" b="0" u="none" strike="noStrike">
                <a:solidFill>
                  <a:schemeClr val="dk1"/>
                </a:solidFill>
                <a:effectLst/>
                <a:uFillTx/>
                <a:latin typeface="Calibri" panose="020F0502020204030204"/>
              </a:rPr>
              <a:t>Pulse para </a:t>
            </a:r>
            <a:r>
              <a:rPr lang="es-ES" sz="1800" b="0" u="none" strike="noStrike">
                <a:solidFill>
                  <a:schemeClr val="dk1"/>
                </a:solidFill>
                <a:effectLst/>
                <a:uFillTx/>
                <a:latin typeface="Calibri" panose="020F0502020204030204"/>
              </a:rPr>
              <a:t>desplazar </a:t>
            </a:r>
            <a:r>
              <a:rPr lang="es-ES" sz="1800" b="0" u="none" strike="noStrike">
                <a:solidFill>
                  <a:schemeClr val="dk1"/>
                </a:solidFill>
                <a:effectLst/>
                <a:uFillTx/>
                <a:latin typeface="Calibri" panose="020F0502020204030204"/>
              </a:rPr>
              <a:t>la </a:t>
            </a:r>
            <a:r>
              <a:rPr lang="es-ES" sz="1800" b="0" u="none" strike="noStrike">
                <a:solidFill>
                  <a:schemeClr val="dk1"/>
                </a:solidFill>
                <a:effectLst/>
                <a:uFillTx/>
                <a:latin typeface="Calibri" panose="020F0502020204030204"/>
              </a:rPr>
              <a:t>diapositiv</a:t>
            </a:r>
            <a:r>
              <a:rPr lang="es-ES" sz="1800" b="0" u="none" strike="noStrike">
                <a:solidFill>
                  <a:schemeClr val="dk1"/>
                </a:solidFill>
                <a:effectLst/>
                <a:uFillTx/>
                <a:latin typeface="Calibri" panose="020F0502020204030204"/>
              </a:rPr>
              <a:t>a</a:t>
            </a:r>
            <a:endParaRPr lang="es-ES" sz="1800" b="0" u="none" strike="noStrike">
              <a:solidFill>
                <a:schemeClr val="dk1"/>
              </a:solidFill>
              <a:effectLst/>
              <a:uFillTx/>
              <a:latin typeface="Calibri" panose="020F0502020204030204"/>
            </a:endParaRPr>
          </a:p>
        </p:txBody>
      </p:sp>
      <p:sp>
        <p:nvSpPr>
          <p:cNvPr id="5"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p>
            <a:pPr indent="0" algn="l">
              <a:buNone/>
            </a:pPr>
            <a:r>
              <a:rPr lang="es-ES" sz="2000" b="0" u="none" strike="noStrike">
                <a:solidFill>
                  <a:srgbClr val="000000"/>
                </a:solidFill>
                <a:effectLst/>
                <a:uFillTx/>
                <a:latin typeface="Arial" panose="020B0604020202020204"/>
              </a:rPr>
              <a:t>Pulse </a:t>
            </a:r>
            <a:r>
              <a:rPr lang="es-ES" sz="2000" b="0" u="none" strike="noStrike">
                <a:solidFill>
                  <a:srgbClr val="000000"/>
                </a:solidFill>
                <a:effectLst/>
                <a:uFillTx/>
                <a:latin typeface="Arial" panose="020B0604020202020204"/>
              </a:rPr>
              <a:t>para </a:t>
            </a:r>
            <a:r>
              <a:rPr lang="es-ES" sz="2000" b="0" u="none" strike="noStrike">
                <a:solidFill>
                  <a:srgbClr val="000000"/>
                </a:solidFill>
                <a:effectLst/>
                <a:uFillTx/>
                <a:latin typeface="Arial" panose="020B0604020202020204"/>
              </a:rPr>
              <a:t>editar el </a:t>
            </a:r>
            <a:r>
              <a:rPr lang="es-ES" sz="2000" b="0" u="none" strike="noStrike">
                <a:solidFill>
                  <a:srgbClr val="000000"/>
                </a:solidFill>
                <a:effectLst/>
                <a:uFillTx/>
                <a:latin typeface="Arial" panose="020B0604020202020204"/>
              </a:rPr>
              <a:t>formato </a:t>
            </a:r>
            <a:r>
              <a:rPr lang="es-ES" sz="2000" b="0" u="none" strike="noStrike">
                <a:solidFill>
                  <a:srgbClr val="000000"/>
                </a:solidFill>
                <a:effectLst/>
                <a:uFillTx/>
                <a:latin typeface="Arial" panose="020B0604020202020204"/>
              </a:rPr>
              <a:t>de las </a:t>
            </a:r>
            <a:r>
              <a:rPr lang="es-ES" sz="2000" b="0" u="none" strike="noStrike">
                <a:solidFill>
                  <a:srgbClr val="000000"/>
                </a:solidFill>
                <a:effectLst/>
                <a:uFillTx/>
                <a:latin typeface="Arial" panose="020B0604020202020204"/>
              </a:rPr>
              <a:t>notas</a:t>
            </a:r>
            <a:endParaRPr lang="es-ES" sz="2000" b="0" u="none" strike="noStrike">
              <a:solidFill>
                <a:srgbClr val="000000"/>
              </a:solidFill>
              <a:effectLst/>
              <a:uFillTx/>
              <a:latin typeface="Arial" panose="020B0604020202020204"/>
            </a:endParaRPr>
          </a:p>
        </p:txBody>
      </p:sp>
      <p:sp>
        <p:nvSpPr>
          <p:cNvPr id="6" name="PlaceHolder 3"/>
          <p:cNvSpPr>
            <a:spLocks noGrp="1"/>
          </p:cNvSpPr>
          <p:nvPr>
            <p:ph type="hdr"/>
          </p:nvPr>
        </p:nvSpPr>
        <p:spPr>
          <a:xfrm>
            <a:off x="0" y="0"/>
            <a:ext cx="3280680" cy="534240"/>
          </a:xfrm>
          <a:prstGeom prst="rect">
            <a:avLst/>
          </a:prstGeom>
          <a:noFill/>
          <a:ln w="0">
            <a:noFill/>
          </a:ln>
        </p:spPr>
        <p:txBody>
          <a:bodyPr lIns="0" tIns="0" rIns="0" bIns="0" anchor="t">
            <a:noAutofit/>
          </a:bodyPr>
          <a:p>
            <a:pPr indent="0" algn="l">
              <a:buNone/>
            </a:pPr>
            <a:r>
              <a:rPr lang="es-ES" sz="1400" b="0" u="none" strike="noStrike">
                <a:solidFill>
                  <a:srgbClr val="000000"/>
                </a:solidFill>
                <a:effectLst/>
                <a:uFillTx/>
                <a:latin typeface="Times New Roman" panose="02020603050405020304"/>
              </a:rPr>
              <a:t> </a:t>
            </a:r>
            <a:endParaRPr lang="es-ES" sz="1400" b="0" u="none" strike="noStrike">
              <a:solidFill>
                <a:srgbClr val="000000"/>
              </a:solidFill>
              <a:effectLst/>
              <a:uFillTx/>
              <a:latin typeface="Times New Roman" panose="02020603050405020304"/>
            </a:endParaRPr>
          </a:p>
        </p:txBody>
      </p:sp>
      <p:sp>
        <p:nvSpPr>
          <p:cNvPr id="7"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s-ES" sz="1400" b="0" u="none" strike="noStrike">
                <a:solidFill>
                  <a:srgbClr val="000000"/>
                </a:solidFill>
                <a:effectLst/>
                <a:uFillTx/>
                <a:latin typeface="Times New Roman" panose="02020603050405020304"/>
              </a:defRPr>
            </a:lvl1pPr>
          </a:lstStyle>
          <a:p>
            <a:pPr indent="0" algn="r">
              <a:buNone/>
            </a:pPr>
            <a:r>
              <a:rPr lang="es-ES" sz="1400" b="0" u="none" strike="noStrike">
                <a:solidFill>
                  <a:srgbClr val="000000"/>
                </a:solidFill>
                <a:effectLst/>
                <a:uFillTx/>
                <a:latin typeface="Times New Roman" panose="02020603050405020304"/>
              </a:rPr>
              <a:t> </a:t>
            </a:r>
            <a:endParaRPr lang="es-ES" sz="1400" b="0" u="none" strike="noStrike">
              <a:solidFill>
                <a:srgbClr val="000000"/>
              </a:solidFill>
              <a:effectLst/>
              <a:uFillTx/>
              <a:latin typeface="Times New Roman" panose="02020603050405020304"/>
            </a:endParaRPr>
          </a:p>
        </p:txBody>
      </p:sp>
      <p:sp>
        <p:nvSpPr>
          <p:cNvPr id="8"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lgn="l">
              <a:buNone/>
              <a:defRPr lang="es-ES" sz="1400" b="0" u="none" strike="noStrike">
                <a:solidFill>
                  <a:srgbClr val="000000"/>
                </a:solidFill>
                <a:effectLst/>
                <a:uFillTx/>
                <a:latin typeface="Times New Roman" panose="02020603050405020304"/>
              </a:defRPr>
            </a:lvl1pPr>
          </a:lstStyle>
          <a:p>
            <a:pPr indent="0" algn="l">
              <a:buNone/>
            </a:pPr>
            <a:r>
              <a:rPr lang="es-ES" sz="1400" b="0" u="none" strike="noStrike">
                <a:solidFill>
                  <a:srgbClr val="000000"/>
                </a:solidFill>
                <a:effectLst/>
                <a:uFillTx/>
                <a:latin typeface="Times New Roman" panose="02020603050405020304"/>
              </a:rPr>
              <a:t> </a:t>
            </a:r>
            <a:endParaRPr lang="es-ES" sz="1400" b="0" u="none" strike="noStrike">
              <a:solidFill>
                <a:srgbClr val="000000"/>
              </a:solidFill>
              <a:effectLst/>
              <a:uFillTx/>
              <a:latin typeface="Times New Roman" panose="02020603050405020304"/>
            </a:endParaRPr>
          </a:p>
        </p:txBody>
      </p:sp>
      <p:sp>
        <p:nvSpPr>
          <p:cNvPr id="9"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s-ES" sz="1400" b="0" u="none" strike="noStrike">
                <a:solidFill>
                  <a:srgbClr val="000000"/>
                </a:solidFill>
                <a:effectLst/>
                <a:uFillTx/>
                <a:latin typeface="Times New Roman" panose="02020603050405020304"/>
              </a:defRPr>
            </a:lvl1pPr>
          </a:lstStyle>
          <a:p>
            <a:pPr indent="0" algn="r">
              <a:buNone/>
            </a:pPr>
            <a:fld id="{8287AF92-8FD5-414D-AF9F-606B59EC9EBC}" type="slidenum">
              <a:rPr lang="es-ES" sz="1400" b="0" u="none" strike="noStrike">
                <a:solidFill>
                  <a:srgbClr val="000000"/>
                </a:solidFill>
                <a:effectLst/>
                <a:uFillTx/>
                <a:latin typeface="Times New Roman" panose="02020603050405020304"/>
              </a:rPr>
            </a:fld>
            <a:endParaRPr lang="es-ES" sz="1400" b="0" u="none" strike="noStrike">
              <a:solidFill>
                <a:srgbClr val="000000"/>
              </a:solidFill>
              <a:effectLst/>
              <a:uFillTx/>
              <a:latin typeface="Times New Roman" panose="02020603050405020304"/>
            </a:endParaRPr>
          </a:p>
        </p:txBody>
      </p:sp>
    </p:spTree>
  </p:cSld>
  <p:clrMap bg1="lt1" tx1="dk1" bg2="lt2" tx2="dk2" accent1="accent1" accent2="accent2" accent3="accent3" accent4="accent4" accent5="accent5" accent6="accent6" hlink="hlink" folHlink="folHlink"/>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4" name="PlaceHolder 1"/>
          <p:cNvSpPr>
            <a:spLocks noGrp="1"/>
          </p:cNvSpPr>
          <p:nvPr>
            <p:ph type="sldImg"/>
          </p:nvPr>
        </p:nvSpPr>
        <p:spPr>
          <a:xfrm>
            <a:off x="685800" y="1143000"/>
            <a:ext cx="5486040" cy="3085920"/>
          </a:xfrm>
          <a:prstGeom prst="rect">
            <a:avLst/>
          </a:prstGeom>
          <a:ln w="0">
            <a:noFill/>
          </a:ln>
        </p:spPr>
      </p:sp>
      <p:sp>
        <p:nvSpPr>
          <p:cNvPr id="48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s-ES" sz="1800" b="0" u="none" strike="noStrike">
              <a:solidFill>
                <a:srgbClr val="000000"/>
              </a:solidFill>
              <a:effectLst/>
              <a:uFillTx/>
              <a:latin typeface="Arial" panose="020B0604020202020204"/>
            </a:endParaRPr>
          </a:p>
        </p:txBody>
      </p:sp>
      <p:sp>
        <p:nvSpPr>
          <p:cNvPr id="486" name="PlaceHolder 3"/>
          <p:cNvSpPr>
            <a:spLocks noGrp="1"/>
          </p:cNvSpPr>
          <p:nvPr>
            <p:ph type="sldNum" idx="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0239012-F76A-45F8-BDB3-52372303DC3F}" type="slidenum">
              <a:rPr lang="en-US" sz="1200" b="0" u="none" strike="noStrike">
                <a:solidFill>
                  <a:schemeClr val="dk1"/>
                </a:solidFill>
                <a:effectLst/>
                <a:uFillTx/>
                <a:latin typeface="+mn-lt"/>
                <a:ea typeface="+mn-ea"/>
              </a:rPr>
            </a:fld>
            <a:endParaRPr lang="es-ES" sz="1200" b="0" u="none" strike="noStrike">
              <a:solidFill>
                <a:srgbClr val="000000"/>
              </a:solidFill>
              <a:effectLst/>
              <a:uFillTx/>
              <a:latin typeface="Times New Roman" panose="02020603050405020304"/>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7" name="PlaceHolder 1"/>
          <p:cNvSpPr>
            <a:spLocks noGrp="1"/>
          </p:cNvSpPr>
          <p:nvPr>
            <p:ph type="sldImg"/>
          </p:nvPr>
        </p:nvSpPr>
        <p:spPr>
          <a:xfrm>
            <a:off x="685800" y="1143000"/>
            <a:ext cx="5486040" cy="3085920"/>
          </a:xfrm>
          <a:prstGeom prst="rect">
            <a:avLst/>
          </a:prstGeom>
          <a:ln w="0">
            <a:noFill/>
          </a:ln>
        </p:spPr>
      </p:sp>
      <p:sp>
        <p:nvSpPr>
          <p:cNvPr id="48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s-ES" sz="1800" b="0" u="none" strike="noStrike">
              <a:solidFill>
                <a:srgbClr val="000000"/>
              </a:solidFill>
              <a:effectLst/>
              <a:uFillTx/>
              <a:latin typeface="Arial" panose="020B0604020202020204"/>
            </a:endParaRPr>
          </a:p>
        </p:txBody>
      </p:sp>
      <p:sp>
        <p:nvSpPr>
          <p:cNvPr id="489" name="PlaceHolder 3"/>
          <p:cNvSpPr>
            <a:spLocks noGrp="1"/>
          </p:cNvSpPr>
          <p:nvPr>
            <p:ph type="sldNum" idx="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9F9CCD8-1A8B-4CFA-8636-A36A7DCB3CF2}" type="slidenum">
              <a:rPr lang="en-US" sz="1200" b="0" u="none" strike="noStrike">
                <a:solidFill>
                  <a:schemeClr val="dk1"/>
                </a:solidFill>
                <a:effectLst/>
                <a:uFillTx/>
                <a:latin typeface="+mn-lt"/>
                <a:ea typeface="+mn-ea"/>
              </a:rPr>
            </a:fld>
            <a:endParaRPr lang="es-ES" sz="1200" b="0" u="none" strike="noStrike">
              <a:solidFill>
                <a:srgbClr val="000000"/>
              </a:solidFill>
              <a:effectLst/>
              <a:uFillTx/>
              <a:latin typeface="Times New Roman" panose="02020603050405020304"/>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0" name="PlaceHolder 1"/>
          <p:cNvSpPr>
            <a:spLocks noGrp="1"/>
          </p:cNvSpPr>
          <p:nvPr>
            <p:ph type="sldImg"/>
          </p:nvPr>
        </p:nvSpPr>
        <p:spPr>
          <a:xfrm>
            <a:off x="685800" y="1143000"/>
            <a:ext cx="5486040" cy="3085920"/>
          </a:xfrm>
          <a:prstGeom prst="rect">
            <a:avLst/>
          </a:prstGeom>
          <a:ln w="0">
            <a:noFill/>
          </a:ln>
        </p:spPr>
      </p:sp>
      <p:sp>
        <p:nvSpPr>
          <p:cNvPr id="49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s-ES" sz="1800" b="0" u="none" strike="noStrike">
              <a:solidFill>
                <a:srgbClr val="000000"/>
              </a:solidFill>
              <a:effectLst/>
              <a:uFillTx/>
              <a:latin typeface="Arial" panose="020B0604020202020204"/>
            </a:endParaRPr>
          </a:p>
        </p:txBody>
      </p:sp>
      <p:sp>
        <p:nvSpPr>
          <p:cNvPr id="492" name="PlaceHolder 3"/>
          <p:cNvSpPr>
            <a:spLocks noGrp="1"/>
          </p:cNvSpPr>
          <p:nvPr>
            <p:ph type="sldNum" idx="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B901F7AA-1CC8-45D5-AFC4-50BB2DDC06D5}" type="slidenum">
              <a:rPr lang="en-US" sz="1200" b="0" u="none" strike="noStrike">
                <a:solidFill>
                  <a:schemeClr val="dk1"/>
                </a:solidFill>
                <a:effectLst/>
                <a:uFillTx/>
                <a:latin typeface="+mn-lt"/>
                <a:ea typeface="+mn-ea"/>
              </a:rPr>
            </a:fld>
            <a:endParaRPr lang="es-ES" sz="1200" b="0" u="none" strike="noStrike">
              <a:solidFill>
                <a:srgbClr val="000000"/>
              </a:solidFill>
              <a:effectLst/>
              <a:uFillTx/>
              <a:latin typeface="Times New Roman" panose="02020603050405020304"/>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3" name="PlaceHolder 1"/>
          <p:cNvSpPr>
            <a:spLocks noGrp="1"/>
          </p:cNvSpPr>
          <p:nvPr>
            <p:ph type="sldImg"/>
          </p:nvPr>
        </p:nvSpPr>
        <p:spPr>
          <a:xfrm>
            <a:off x="685800" y="1143000"/>
            <a:ext cx="5486040" cy="3085920"/>
          </a:xfrm>
          <a:prstGeom prst="rect">
            <a:avLst/>
          </a:prstGeom>
          <a:ln w="0">
            <a:noFill/>
          </a:ln>
        </p:spPr>
      </p:sp>
      <p:sp>
        <p:nvSpPr>
          <p:cNvPr id="49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s-ES" sz="1800" b="0" u="none" strike="noStrike">
              <a:solidFill>
                <a:srgbClr val="000000"/>
              </a:solidFill>
              <a:effectLst/>
              <a:uFillTx/>
              <a:latin typeface="Arial" panose="020B0604020202020204"/>
            </a:endParaRPr>
          </a:p>
        </p:txBody>
      </p:sp>
      <p:sp>
        <p:nvSpPr>
          <p:cNvPr id="495" name="PlaceHolder 3"/>
          <p:cNvSpPr>
            <a:spLocks noGrp="1"/>
          </p:cNvSpPr>
          <p:nvPr>
            <p:ph type="sldNum" idx="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8A8E013-9041-4B06-9D2D-412DADEF1720}" type="slidenum">
              <a:rPr lang="en-US" sz="1200" b="0" u="none" strike="noStrike">
                <a:solidFill>
                  <a:schemeClr val="dk1"/>
                </a:solidFill>
                <a:effectLst/>
                <a:uFillTx/>
                <a:latin typeface="+mn-lt"/>
                <a:ea typeface="+mn-ea"/>
              </a:rPr>
            </a:fld>
            <a:endParaRPr lang="es-ES" sz="1200" b="0" u="none" strike="noStrike">
              <a:solidFill>
                <a:srgbClr val="000000"/>
              </a:solidFill>
              <a:effectLst/>
              <a:uFillTx/>
              <a:latin typeface="Times New Roman" panose="02020603050405020304"/>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6" name="PlaceHolder 1"/>
          <p:cNvSpPr>
            <a:spLocks noGrp="1"/>
          </p:cNvSpPr>
          <p:nvPr>
            <p:ph type="sldImg"/>
          </p:nvPr>
        </p:nvSpPr>
        <p:spPr>
          <a:xfrm>
            <a:off x="685800" y="1143000"/>
            <a:ext cx="5486040" cy="3085920"/>
          </a:xfrm>
          <a:prstGeom prst="rect">
            <a:avLst/>
          </a:prstGeom>
          <a:ln w="0">
            <a:noFill/>
          </a:ln>
        </p:spPr>
      </p:sp>
      <p:sp>
        <p:nvSpPr>
          <p:cNvPr id="49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s-ES" sz="1800" b="0" u="none" strike="noStrike">
              <a:solidFill>
                <a:srgbClr val="000000"/>
              </a:solidFill>
              <a:effectLst/>
              <a:uFillTx/>
              <a:latin typeface="Arial" panose="020B0604020202020204"/>
            </a:endParaRPr>
          </a:p>
        </p:txBody>
      </p:sp>
      <p:sp>
        <p:nvSpPr>
          <p:cNvPr id="498" name="PlaceHolder 3"/>
          <p:cNvSpPr>
            <a:spLocks noGrp="1"/>
          </p:cNvSpPr>
          <p:nvPr>
            <p:ph type="sldNum" idx="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83527B4-1955-41FD-AC57-F03DE1E7C271}" type="slidenum">
              <a:rPr lang="en-US" sz="1200" b="0" u="none" strike="noStrike">
                <a:solidFill>
                  <a:schemeClr val="dk1"/>
                </a:solidFill>
                <a:effectLst/>
                <a:uFillTx/>
                <a:latin typeface="+mn-lt"/>
                <a:ea typeface="+mn-ea"/>
              </a:rPr>
            </a:fld>
            <a:endParaRPr lang="es-ES" sz="1200" b="0" u="none" strike="noStrike">
              <a:solidFill>
                <a:srgbClr val="000000"/>
              </a:solidFill>
              <a:effectLst/>
              <a:uFillTx/>
              <a:latin typeface="Times New Roman" panose="02020603050405020304"/>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9" name="PlaceHolder 1"/>
          <p:cNvSpPr>
            <a:spLocks noGrp="1"/>
          </p:cNvSpPr>
          <p:nvPr>
            <p:ph type="sldImg"/>
          </p:nvPr>
        </p:nvSpPr>
        <p:spPr>
          <a:xfrm>
            <a:off x="685800" y="1143000"/>
            <a:ext cx="5486040" cy="3085920"/>
          </a:xfrm>
          <a:prstGeom prst="rect">
            <a:avLst/>
          </a:prstGeom>
          <a:ln w="0">
            <a:noFill/>
          </a:ln>
        </p:spPr>
      </p:sp>
      <p:sp>
        <p:nvSpPr>
          <p:cNvPr id="50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s-ES" sz="1800" b="0" u="none" strike="noStrike">
              <a:solidFill>
                <a:srgbClr val="000000"/>
              </a:solidFill>
              <a:effectLst/>
              <a:uFillTx/>
              <a:latin typeface="Arial" panose="020B0604020202020204"/>
            </a:endParaRPr>
          </a:p>
        </p:txBody>
      </p:sp>
      <p:sp>
        <p:nvSpPr>
          <p:cNvPr id="501" name="PlaceHolder 3"/>
          <p:cNvSpPr>
            <a:spLocks noGrp="1"/>
          </p:cNvSpPr>
          <p:nvPr>
            <p:ph type="sldNum" idx="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F3A5A3E-014F-4FF3-A97A-07CCC4C0FBF2}" type="slidenum">
              <a:rPr lang="en-US" sz="1200" b="0" u="none" strike="noStrike">
                <a:solidFill>
                  <a:schemeClr val="dk1"/>
                </a:solidFill>
                <a:effectLst/>
                <a:uFillTx/>
                <a:latin typeface="+mn-lt"/>
                <a:ea typeface="+mn-ea"/>
              </a:rPr>
            </a:fld>
            <a:endParaRPr lang="es-ES" sz="1200" b="0" u="none" strike="noStrike">
              <a:solidFill>
                <a:srgbClr val="000000"/>
              </a:solidFill>
              <a:effectLst/>
              <a:uFillTx/>
              <a:latin typeface="Times New Roman" panose="02020603050405020304"/>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2" name="PlaceHolder 1"/>
          <p:cNvSpPr>
            <a:spLocks noGrp="1"/>
          </p:cNvSpPr>
          <p:nvPr>
            <p:ph type="sldImg"/>
          </p:nvPr>
        </p:nvSpPr>
        <p:spPr>
          <a:xfrm>
            <a:off x="685800" y="1143000"/>
            <a:ext cx="5486040" cy="3085920"/>
          </a:xfrm>
          <a:prstGeom prst="rect">
            <a:avLst/>
          </a:prstGeom>
          <a:ln w="0">
            <a:noFill/>
          </a:ln>
        </p:spPr>
      </p:sp>
      <p:sp>
        <p:nvSpPr>
          <p:cNvPr id="50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s-ES" sz="1800" b="0" u="none" strike="noStrike">
              <a:solidFill>
                <a:srgbClr val="000000"/>
              </a:solidFill>
              <a:effectLst/>
              <a:uFillTx/>
              <a:latin typeface="Arial" panose="020B0604020202020204"/>
            </a:endParaRPr>
          </a:p>
        </p:txBody>
      </p:sp>
      <p:sp>
        <p:nvSpPr>
          <p:cNvPr id="504" name="PlaceHolder 3"/>
          <p:cNvSpPr>
            <a:spLocks noGrp="1"/>
          </p:cNvSpPr>
          <p:nvPr>
            <p:ph type="sldNum" idx="1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5BBD91C-6285-494C-A953-61531D2C6B22}" type="slidenum">
              <a:rPr lang="en-US" sz="1200" b="0" u="none" strike="noStrike">
                <a:solidFill>
                  <a:schemeClr val="dk1"/>
                </a:solidFill>
                <a:effectLst/>
                <a:uFillTx/>
                <a:latin typeface="+mn-lt"/>
                <a:ea typeface="+mn-ea"/>
              </a:rPr>
            </a:fld>
            <a:endParaRPr lang="es-ES" sz="1200" b="0" u="none" strike="noStrike">
              <a:solidFill>
                <a:srgbClr val="000000"/>
              </a:solidFill>
              <a:effectLst/>
              <a:uFillTx/>
              <a:latin typeface="Times New Roman" panose="02020603050405020304"/>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5" name="PlaceHolder 1"/>
          <p:cNvSpPr>
            <a:spLocks noGrp="1"/>
          </p:cNvSpPr>
          <p:nvPr>
            <p:ph type="sldImg"/>
          </p:nvPr>
        </p:nvSpPr>
        <p:spPr>
          <a:xfrm>
            <a:off x="685800" y="1143000"/>
            <a:ext cx="5486040" cy="3085920"/>
          </a:xfrm>
          <a:prstGeom prst="rect">
            <a:avLst/>
          </a:prstGeom>
          <a:ln w="0">
            <a:noFill/>
          </a:ln>
        </p:spPr>
      </p:sp>
      <p:sp>
        <p:nvSpPr>
          <p:cNvPr id="50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s-ES" sz="1800" b="0" u="none" strike="noStrike">
              <a:solidFill>
                <a:srgbClr val="000000"/>
              </a:solidFill>
              <a:effectLst/>
              <a:uFillTx/>
              <a:latin typeface="Arial" panose="020B0604020202020204"/>
            </a:endParaRPr>
          </a:p>
        </p:txBody>
      </p:sp>
      <p:sp>
        <p:nvSpPr>
          <p:cNvPr id="507" name="PlaceHolder 3"/>
          <p:cNvSpPr>
            <a:spLocks noGrp="1"/>
          </p:cNvSpPr>
          <p:nvPr>
            <p:ph type="sldNum" idx="1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B45777D-AFE3-49C6-AC02-CC06FD65731E}" type="slidenum">
              <a:rPr lang="en-US" sz="1200" b="0" u="none" strike="noStrike">
                <a:solidFill>
                  <a:schemeClr val="dk1"/>
                </a:solidFill>
                <a:effectLst/>
                <a:uFillTx/>
                <a:latin typeface="+mn-lt"/>
                <a:ea typeface="+mn-ea"/>
              </a:rPr>
            </a:fld>
            <a:endParaRPr lang="es-ES" sz="1200" b="0" u="none" strike="noStrike">
              <a:solidFill>
                <a:srgbClr val="000000"/>
              </a:solidFill>
              <a:effectLst/>
              <a:uFillTx/>
              <a:latin typeface="Times New Roman" panose="02020603050405020304"/>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8" name="PlaceHolder 1"/>
          <p:cNvSpPr>
            <a:spLocks noGrp="1"/>
          </p:cNvSpPr>
          <p:nvPr>
            <p:ph type="sldImg"/>
          </p:nvPr>
        </p:nvSpPr>
        <p:spPr>
          <a:xfrm>
            <a:off x="685800" y="1143000"/>
            <a:ext cx="5486040" cy="3085920"/>
          </a:xfrm>
          <a:prstGeom prst="rect">
            <a:avLst/>
          </a:prstGeom>
          <a:ln w="0">
            <a:noFill/>
          </a:ln>
        </p:spPr>
      </p:sp>
      <p:sp>
        <p:nvSpPr>
          <p:cNvPr id="50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s-ES" sz="1800" b="0" u="none" strike="noStrike">
              <a:solidFill>
                <a:srgbClr val="000000"/>
              </a:solidFill>
              <a:effectLst/>
              <a:uFillTx/>
              <a:latin typeface="Arial" panose="020B0604020202020204"/>
            </a:endParaRPr>
          </a:p>
        </p:txBody>
      </p:sp>
      <p:sp>
        <p:nvSpPr>
          <p:cNvPr id="510" name="PlaceHolder 3"/>
          <p:cNvSpPr>
            <a:spLocks noGrp="1"/>
          </p:cNvSpPr>
          <p:nvPr>
            <p:ph type="sldNum" idx="1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DC0C084-2637-4DDB-980D-F4ADD3CF05A5}" type="slidenum">
              <a:rPr lang="en-US" sz="1200" b="0" u="none" strike="noStrike">
                <a:solidFill>
                  <a:schemeClr val="dk1"/>
                </a:solidFill>
                <a:effectLst/>
                <a:uFillTx/>
                <a:latin typeface="+mn-lt"/>
                <a:ea typeface="+mn-ea"/>
              </a:rPr>
            </a:fld>
            <a:endParaRPr lang="es-ES" sz="1200" b="0" u="none" strike="noStrike">
              <a:solidFill>
                <a:srgbClr val="000000"/>
              </a:solidFill>
              <a:effectLst/>
              <a:uFillTx/>
              <a:latin typeface="Times New Roman" panose="02020603050405020304"/>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1" name="PlaceHolder 1"/>
          <p:cNvSpPr>
            <a:spLocks noGrp="1"/>
          </p:cNvSpPr>
          <p:nvPr>
            <p:ph type="sldImg"/>
          </p:nvPr>
        </p:nvSpPr>
        <p:spPr>
          <a:xfrm>
            <a:off x="685800" y="1143000"/>
            <a:ext cx="5486040" cy="3085920"/>
          </a:xfrm>
          <a:prstGeom prst="rect">
            <a:avLst/>
          </a:prstGeom>
          <a:ln w="0">
            <a:noFill/>
          </a:ln>
        </p:spPr>
      </p:sp>
      <p:sp>
        <p:nvSpPr>
          <p:cNvPr id="51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s-ES" sz="1800" b="0" u="none" strike="noStrike">
              <a:solidFill>
                <a:srgbClr val="000000"/>
              </a:solidFill>
              <a:effectLst/>
              <a:uFillTx/>
              <a:latin typeface="Arial" panose="020B0604020202020204"/>
            </a:endParaRPr>
          </a:p>
        </p:txBody>
      </p:sp>
      <p:sp>
        <p:nvSpPr>
          <p:cNvPr id="513" name="PlaceHolder 3"/>
          <p:cNvSpPr>
            <a:spLocks noGrp="1"/>
          </p:cNvSpPr>
          <p:nvPr>
            <p:ph type="sldNum" idx="1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F260C25-7872-4928-AB84-5BD78A23132F}" type="slidenum">
              <a:rPr lang="en-US" sz="1200" b="0" u="none" strike="noStrike">
                <a:solidFill>
                  <a:schemeClr val="dk1"/>
                </a:solidFill>
                <a:effectLst/>
                <a:uFillTx/>
                <a:latin typeface="+mn-lt"/>
                <a:ea typeface="+mn-ea"/>
              </a:rPr>
            </a:fld>
            <a:endParaRPr lang="es-ES" sz="1200" b="0" u="none" strike="noStrike">
              <a:solidFill>
                <a:srgbClr val="000000"/>
              </a:solidFill>
              <a:effectLst/>
              <a:uFillTx/>
              <a:latin typeface="Times New Roman" panose="02020603050405020304"/>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4" name="PlaceHolder 1"/>
          <p:cNvSpPr>
            <a:spLocks noGrp="1"/>
          </p:cNvSpPr>
          <p:nvPr>
            <p:ph type="sldImg"/>
          </p:nvPr>
        </p:nvSpPr>
        <p:spPr>
          <a:xfrm>
            <a:off x="685800" y="1143000"/>
            <a:ext cx="5486040" cy="3085920"/>
          </a:xfrm>
          <a:prstGeom prst="rect">
            <a:avLst/>
          </a:prstGeom>
          <a:ln w="0">
            <a:noFill/>
          </a:ln>
        </p:spPr>
      </p:sp>
      <p:sp>
        <p:nvSpPr>
          <p:cNvPr id="51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s-ES" sz="1800" b="0" u="none" strike="noStrike">
              <a:solidFill>
                <a:srgbClr val="000000"/>
              </a:solidFill>
              <a:effectLst/>
              <a:uFillTx/>
              <a:latin typeface="Arial" panose="020B0604020202020204"/>
            </a:endParaRPr>
          </a:p>
        </p:txBody>
      </p:sp>
      <p:sp>
        <p:nvSpPr>
          <p:cNvPr id="516" name="PlaceHolder 3"/>
          <p:cNvSpPr>
            <a:spLocks noGrp="1"/>
          </p:cNvSpPr>
          <p:nvPr>
            <p:ph type="sldNum" idx="1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2FF7E9D-3A0B-471B-BED5-45733C962976}" type="slidenum">
              <a:rPr lang="en-US" sz="1200" b="0" u="none" strike="noStrike">
                <a:solidFill>
                  <a:schemeClr val="dk1"/>
                </a:solidFill>
                <a:effectLst/>
                <a:uFillTx/>
                <a:latin typeface="+mn-lt"/>
                <a:ea typeface="+mn-ea"/>
              </a:rPr>
            </a:fld>
            <a:endParaRPr lang="es-ES" sz="1200" b="0" u="none" strike="noStrike">
              <a:solidFill>
                <a:srgbClr val="000000"/>
              </a:solidFill>
              <a:effectLst/>
              <a:uFillTx/>
              <a:latin typeface="Times New Roman" panose="02020603050405020304"/>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7" name="PlaceHolder 1"/>
          <p:cNvSpPr>
            <a:spLocks noGrp="1"/>
          </p:cNvSpPr>
          <p:nvPr>
            <p:ph type="sldImg"/>
          </p:nvPr>
        </p:nvSpPr>
        <p:spPr>
          <a:xfrm>
            <a:off x="685800" y="1143000"/>
            <a:ext cx="5486040" cy="3085920"/>
          </a:xfrm>
          <a:prstGeom prst="rect">
            <a:avLst/>
          </a:prstGeom>
          <a:ln w="0">
            <a:noFill/>
          </a:ln>
        </p:spPr>
      </p:sp>
      <p:sp>
        <p:nvSpPr>
          <p:cNvPr id="51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s-ES" sz="1800" b="0" u="none" strike="noStrike">
              <a:solidFill>
                <a:srgbClr val="000000"/>
              </a:solidFill>
              <a:effectLst/>
              <a:uFillTx/>
              <a:latin typeface="Arial" panose="020B0604020202020204"/>
            </a:endParaRPr>
          </a:p>
        </p:txBody>
      </p:sp>
      <p:sp>
        <p:nvSpPr>
          <p:cNvPr id="519" name="PlaceHolder 3"/>
          <p:cNvSpPr>
            <a:spLocks noGrp="1"/>
          </p:cNvSpPr>
          <p:nvPr>
            <p:ph type="sldNum" idx="1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8CACD60-CAE2-4F69-B03E-AE680D33DCBE}" type="slidenum">
              <a:rPr lang="en-US" sz="1200" b="0" u="none" strike="noStrike">
                <a:solidFill>
                  <a:schemeClr val="dk1"/>
                </a:solidFill>
                <a:effectLst/>
                <a:uFillTx/>
                <a:latin typeface="+mn-lt"/>
                <a:ea typeface="+mn-ea"/>
              </a:rPr>
            </a:fld>
            <a:endParaRPr lang="es-ES" sz="1200" b="0" u="none" strike="noStrike">
              <a:solidFill>
                <a:srgbClr val="000000"/>
              </a:solidFill>
              <a:effectLst/>
              <a:uFillTx/>
              <a:latin typeface="Times New Roman" panose="02020603050405020304"/>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0" name="PlaceHolder 1"/>
          <p:cNvSpPr>
            <a:spLocks noGrp="1"/>
          </p:cNvSpPr>
          <p:nvPr>
            <p:ph type="sldImg"/>
          </p:nvPr>
        </p:nvSpPr>
        <p:spPr>
          <a:xfrm>
            <a:off x="685800" y="1143000"/>
            <a:ext cx="5486040" cy="3085920"/>
          </a:xfrm>
          <a:prstGeom prst="rect">
            <a:avLst/>
          </a:prstGeom>
          <a:ln w="0">
            <a:noFill/>
          </a:ln>
        </p:spPr>
      </p:sp>
      <p:sp>
        <p:nvSpPr>
          <p:cNvPr id="52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s-ES" sz="1800" b="0" u="none" strike="noStrike">
              <a:solidFill>
                <a:srgbClr val="000000"/>
              </a:solidFill>
              <a:effectLst/>
              <a:uFillTx/>
              <a:latin typeface="Arial" panose="020B0604020202020204"/>
            </a:endParaRPr>
          </a:p>
        </p:txBody>
      </p:sp>
      <p:sp>
        <p:nvSpPr>
          <p:cNvPr id="522" name="PlaceHolder 3"/>
          <p:cNvSpPr>
            <a:spLocks noGrp="1"/>
          </p:cNvSpPr>
          <p:nvPr>
            <p:ph type="sldNum" idx="1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B7CC05A-E3C5-4CEC-9444-D569DEF38EFB}" type="slidenum">
              <a:rPr lang="en-US" sz="1200" b="0" u="none" strike="noStrike">
                <a:solidFill>
                  <a:schemeClr val="dk1"/>
                </a:solidFill>
                <a:effectLst/>
                <a:uFillTx/>
                <a:latin typeface="+mn-lt"/>
                <a:ea typeface="+mn-ea"/>
              </a:rPr>
            </a:fld>
            <a:endParaRPr lang="es-ES" sz="1200" b="0" u="none" strike="noStrike">
              <a:solidFill>
                <a:srgbClr val="000000"/>
              </a:solidFill>
              <a:effectLst/>
              <a:uFillTx/>
              <a:latin typeface="Times New Roman" panose="02020603050405020304"/>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3" name="PlaceHolder 1"/>
          <p:cNvSpPr>
            <a:spLocks noGrp="1"/>
          </p:cNvSpPr>
          <p:nvPr>
            <p:ph type="sldImg"/>
          </p:nvPr>
        </p:nvSpPr>
        <p:spPr>
          <a:xfrm>
            <a:off x="685800" y="1143000"/>
            <a:ext cx="5486040" cy="3085920"/>
          </a:xfrm>
          <a:prstGeom prst="rect">
            <a:avLst/>
          </a:prstGeom>
          <a:ln w="0">
            <a:noFill/>
          </a:ln>
        </p:spPr>
      </p:sp>
      <p:sp>
        <p:nvSpPr>
          <p:cNvPr id="52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s-ES" sz="1800" b="0" u="none" strike="noStrike">
              <a:solidFill>
                <a:srgbClr val="000000"/>
              </a:solidFill>
              <a:effectLst/>
              <a:uFillTx/>
              <a:latin typeface="Arial" panose="020B0604020202020204"/>
            </a:endParaRPr>
          </a:p>
        </p:txBody>
      </p:sp>
      <p:sp>
        <p:nvSpPr>
          <p:cNvPr id="525" name="PlaceHolder 3"/>
          <p:cNvSpPr>
            <a:spLocks noGrp="1"/>
          </p:cNvSpPr>
          <p:nvPr>
            <p:ph type="sldNum" idx="1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D7FD3CEF-7DE3-4847-B7CD-1C53D512008D}" type="slidenum">
              <a:rPr lang="en-US" sz="1200" b="0" u="none" strike="noStrike">
                <a:solidFill>
                  <a:schemeClr val="dk1"/>
                </a:solidFill>
                <a:effectLst/>
                <a:uFillTx/>
                <a:latin typeface="+mn-lt"/>
                <a:ea typeface="+mn-ea"/>
              </a:rPr>
            </a:fld>
            <a:endParaRPr lang="es-ES" sz="1200" b="0" u="none" strike="noStrike">
              <a:solidFill>
                <a:srgbClr val="000000"/>
              </a:solidFill>
              <a:effectLst/>
              <a:uFillTx/>
              <a:latin typeface="Times New Roman" panose="02020603050405020304"/>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6" name="PlaceHolder 1"/>
          <p:cNvSpPr>
            <a:spLocks noGrp="1"/>
          </p:cNvSpPr>
          <p:nvPr>
            <p:ph type="sldImg"/>
          </p:nvPr>
        </p:nvSpPr>
        <p:spPr>
          <a:xfrm>
            <a:off x="685800" y="1143000"/>
            <a:ext cx="5486040" cy="3085920"/>
          </a:xfrm>
          <a:prstGeom prst="rect">
            <a:avLst/>
          </a:prstGeom>
          <a:ln w="0">
            <a:noFill/>
          </a:ln>
        </p:spPr>
      </p:sp>
      <p:sp>
        <p:nvSpPr>
          <p:cNvPr id="52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s-ES" sz="1800" b="0" u="none" strike="noStrike">
              <a:solidFill>
                <a:srgbClr val="000000"/>
              </a:solidFill>
              <a:effectLst/>
              <a:uFillTx/>
              <a:latin typeface="Arial" panose="020B0604020202020204"/>
            </a:endParaRPr>
          </a:p>
        </p:txBody>
      </p:sp>
      <p:sp>
        <p:nvSpPr>
          <p:cNvPr id="528" name="PlaceHolder 3"/>
          <p:cNvSpPr>
            <a:spLocks noGrp="1"/>
          </p:cNvSpPr>
          <p:nvPr>
            <p:ph type="sldNum" idx="1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BDED29DF-10D5-4475-AB77-790FACF7EAE7}" type="slidenum">
              <a:rPr lang="en-US" sz="1200" b="0" u="none" strike="noStrike">
                <a:solidFill>
                  <a:schemeClr val="dk1"/>
                </a:solidFill>
                <a:effectLst/>
                <a:uFillTx/>
                <a:latin typeface="+mn-lt"/>
                <a:ea typeface="+mn-ea"/>
              </a:rPr>
            </a:fld>
            <a:endParaRPr lang="es-ES" sz="1200" b="0" u="none" strike="noStrike">
              <a:solidFill>
                <a:srgbClr val="000000"/>
              </a:solidFill>
              <a:effectLst/>
              <a:uFillTx/>
              <a:latin typeface="Times New Roman" panose="02020603050405020304"/>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9" name="PlaceHolder 1"/>
          <p:cNvSpPr>
            <a:spLocks noGrp="1"/>
          </p:cNvSpPr>
          <p:nvPr>
            <p:ph type="sldImg"/>
          </p:nvPr>
        </p:nvSpPr>
        <p:spPr>
          <a:xfrm>
            <a:off x="685800" y="1143000"/>
            <a:ext cx="5486040" cy="3085920"/>
          </a:xfrm>
          <a:prstGeom prst="rect">
            <a:avLst/>
          </a:prstGeom>
          <a:ln w="0">
            <a:noFill/>
          </a:ln>
        </p:spPr>
      </p:sp>
      <p:sp>
        <p:nvSpPr>
          <p:cNvPr id="53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s-ES" sz="1800" b="0" u="none" strike="noStrike">
              <a:solidFill>
                <a:srgbClr val="000000"/>
              </a:solidFill>
              <a:effectLst/>
              <a:uFillTx/>
              <a:latin typeface="Arial" panose="020B0604020202020204"/>
            </a:endParaRPr>
          </a:p>
        </p:txBody>
      </p:sp>
      <p:sp>
        <p:nvSpPr>
          <p:cNvPr id="531" name="PlaceHolder 3"/>
          <p:cNvSpPr>
            <a:spLocks noGrp="1"/>
          </p:cNvSpPr>
          <p:nvPr>
            <p:ph type="sldNum" idx="1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7D7AF27-410E-4CEE-BB12-86AD63805441}" type="slidenum">
              <a:rPr lang="en-US" sz="1200" b="0" u="none" strike="noStrike">
                <a:solidFill>
                  <a:schemeClr val="dk1"/>
                </a:solidFill>
                <a:effectLst/>
                <a:uFillTx/>
                <a:latin typeface="+mn-lt"/>
                <a:ea typeface="+mn-ea"/>
              </a:rPr>
            </a:fld>
            <a:endParaRPr lang="es-ES" sz="1200" b="0" u="none" strike="noStrike">
              <a:solidFill>
                <a:srgbClr val="000000"/>
              </a:solidFill>
              <a:effectLst/>
              <a:uFillTx/>
              <a:latin typeface="Times New Roman" panose="02020603050405020304"/>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9" name="PlaceHolder 1"/>
          <p:cNvSpPr>
            <a:spLocks noGrp="1"/>
          </p:cNvSpPr>
          <p:nvPr>
            <p:ph type="sldImg"/>
          </p:nvPr>
        </p:nvSpPr>
        <p:spPr>
          <a:xfrm>
            <a:off x="685800" y="1143000"/>
            <a:ext cx="5486040" cy="3085920"/>
          </a:xfrm>
          <a:prstGeom prst="rect">
            <a:avLst/>
          </a:prstGeom>
          <a:ln w="0">
            <a:noFill/>
          </a:ln>
        </p:spPr>
      </p:sp>
      <p:sp>
        <p:nvSpPr>
          <p:cNvPr id="53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s-ES" sz="1800" b="0" u="none" strike="noStrike">
              <a:solidFill>
                <a:srgbClr val="000000"/>
              </a:solidFill>
              <a:effectLst/>
              <a:uFillTx/>
              <a:latin typeface="Arial" panose="020B0604020202020204"/>
            </a:endParaRPr>
          </a:p>
        </p:txBody>
      </p:sp>
      <p:sp>
        <p:nvSpPr>
          <p:cNvPr id="531" name="PlaceHolder 3"/>
          <p:cNvSpPr>
            <a:spLocks noGrp="1"/>
          </p:cNvSpPr>
          <p:nvPr>
            <p:ph type="sldNum" idx="1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7D7AF27-410E-4CEE-BB12-86AD63805441}" type="slidenum">
              <a:rPr lang="en-US" sz="1200" b="0" u="none" strike="noStrike">
                <a:solidFill>
                  <a:schemeClr val="dk1"/>
                </a:solidFill>
                <a:effectLst/>
                <a:uFillTx/>
                <a:latin typeface="+mn-lt"/>
                <a:ea typeface="+mn-ea"/>
              </a:rPr>
            </a:fld>
            <a:endParaRPr lang="es-ES" sz="1200" b="0" u="none" strike="noStrike">
              <a:solidFill>
                <a:srgbClr val="000000"/>
              </a:solidFill>
              <a:effectLst/>
              <a:uFillTx/>
              <a:latin typeface="Times New Roman" panose="02020603050405020304"/>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 name="PlaceHolder 1"/>
          <p:cNvSpPr>
            <a:spLocks noGrp="1"/>
          </p:cNvSpPr>
          <p:nvPr>
            <p:ph type="sldImg"/>
          </p:nvPr>
        </p:nvSpPr>
        <p:spPr>
          <a:xfrm>
            <a:off x="685800" y="1143000"/>
            <a:ext cx="5486040" cy="3085920"/>
          </a:xfrm>
          <a:prstGeom prst="rect">
            <a:avLst/>
          </a:prstGeom>
          <a:ln w="0">
            <a:noFill/>
          </a:ln>
        </p:spPr>
      </p:sp>
      <p:sp>
        <p:nvSpPr>
          <p:cNvPr id="53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s-ES" sz="1800" b="0" u="none" strike="noStrike">
              <a:solidFill>
                <a:srgbClr val="000000"/>
              </a:solidFill>
              <a:effectLst/>
              <a:uFillTx/>
              <a:latin typeface="Arial" panose="020B0604020202020204"/>
            </a:endParaRPr>
          </a:p>
        </p:txBody>
      </p:sp>
      <p:sp>
        <p:nvSpPr>
          <p:cNvPr id="534" name="PlaceHolder 3"/>
          <p:cNvSpPr>
            <a:spLocks noGrp="1"/>
          </p:cNvSpPr>
          <p:nvPr>
            <p:ph type="sldNum" idx="2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C7FCB03-ABE9-4265-B751-9A3886714437}" type="slidenum">
              <a:rPr lang="en-US" sz="1200" b="0" u="none" strike="noStrike">
                <a:solidFill>
                  <a:schemeClr val="dk1"/>
                </a:solidFill>
                <a:effectLst/>
                <a:uFillTx/>
                <a:latin typeface="+mn-lt"/>
                <a:ea typeface="+mn-ea"/>
              </a:rPr>
            </a:fld>
            <a:endParaRPr lang="es-ES" sz="1200" b="0" u="none" strike="noStrike">
              <a:solidFill>
                <a:srgbClr val="000000"/>
              </a:solidFill>
              <a:effectLst/>
              <a:uFillTx/>
              <a:latin typeface="Times New Roman" panose="02020603050405020304"/>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5" name="PlaceHolder 1"/>
          <p:cNvSpPr>
            <a:spLocks noGrp="1"/>
          </p:cNvSpPr>
          <p:nvPr>
            <p:ph type="sldImg"/>
          </p:nvPr>
        </p:nvSpPr>
        <p:spPr>
          <a:xfrm>
            <a:off x="685800" y="1143000"/>
            <a:ext cx="5486040" cy="3085920"/>
          </a:xfrm>
          <a:prstGeom prst="rect">
            <a:avLst/>
          </a:prstGeom>
          <a:ln w="0">
            <a:noFill/>
          </a:ln>
        </p:spPr>
      </p:sp>
      <p:sp>
        <p:nvSpPr>
          <p:cNvPr id="53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s-ES" sz="1800" b="0" u="none" strike="noStrike">
              <a:solidFill>
                <a:srgbClr val="000000"/>
              </a:solidFill>
              <a:effectLst/>
              <a:uFillTx/>
              <a:latin typeface="Arial" panose="020B0604020202020204"/>
            </a:endParaRPr>
          </a:p>
        </p:txBody>
      </p:sp>
      <p:sp>
        <p:nvSpPr>
          <p:cNvPr id="537" name="PlaceHolder 3"/>
          <p:cNvSpPr>
            <a:spLocks noGrp="1"/>
          </p:cNvSpPr>
          <p:nvPr>
            <p:ph type="sldNum" idx="2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525A260-7895-40FD-BA62-AC008420200C}" type="slidenum">
              <a:rPr lang="en-US" sz="1200" b="0" u="none" strike="noStrike">
                <a:solidFill>
                  <a:schemeClr val="dk1"/>
                </a:solidFill>
                <a:effectLst/>
                <a:uFillTx/>
                <a:latin typeface="+mn-lt"/>
                <a:ea typeface="+mn-ea"/>
              </a:rPr>
            </a:fld>
            <a:endParaRPr lang="es-ES" sz="1200" b="0" u="none" strike="noStrike">
              <a:solidFill>
                <a:srgbClr val="000000"/>
              </a:solidFill>
              <a:effectLst/>
              <a:uFillTx/>
              <a:latin typeface="Times New Roman" panose="02020603050405020304"/>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8" name="PlaceHolder 1"/>
          <p:cNvSpPr>
            <a:spLocks noGrp="1"/>
          </p:cNvSpPr>
          <p:nvPr>
            <p:ph type="sldImg"/>
          </p:nvPr>
        </p:nvSpPr>
        <p:spPr>
          <a:xfrm>
            <a:off x="685800" y="1143000"/>
            <a:ext cx="5486040" cy="3085920"/>
          </a:xfrm>
          <a:prstGeom prst="rect">
            <a:avLst/>
          </a:prstGeom>
          <a:ln w="0">
            <a:noFill/>
          </a:ln>
        </p:spPr>
      </p:sp>
      <p:sp>
        <p:nvSpPr>
          <p:cNvPr id="53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s-ES" sz="1800" b="0" u="none" strike="noStrike">
              <a:solidFill>
                <a:srgbClr val="000000"/>
              </a:solidFill>
              <a:effectLst/>
              <a:uFillTx/>
              <a:latin typeface="Arial" panose="020B0604020202020204"/>
            </a:endParaRPr>
          </a:p>
        </p:txBody>
      </p:sp>
      <p:sp>
        <p:nvSpPr>
          <p:cNvPr id="540" name="PlaceHolder 3"/>
          <p:cNvSpPr>
            <a:spLocks noGrp="1"/>
          </p:cNvSpPr>
          <p:nvPr>
            <p:ph type="sldNum" idx="2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D91A1DDC-E628-486D-BC13-86C44454F23D}" type="slidenum">
              <a:rPr lang="en-US" sz="1200" b="0" u="none" strike="noStrike">
                <a:solidFill>
                  <a:schemeClr val="dk1"/>
                </a:solidFill>
                <a:effectLst/>
                <a:uFillTx/>
                <a:latin typeface="+mn-lt"/>
                <a:ea typeface="+mn-ea"/>
              </a:rPr>
            </a:fld>
            <a:endParaRPr lang="es-ES" sz="1200" b="0" u="none" strike="noStrike">
              <a:solidFill>
                <a:srgbClr val="000000"/>
              </a:solidFill>
              <a:effectLst/>
              <a:uFillTx/>
              <a:latin typeface="Times New Roman" panose="02020603050405020304"/>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1" name="PlaceHolder 1"/>
          <p:cNvSpPr>
            <a:spLocks noGrp="1"/>
          </p:cNvSpPr>
          <p:nvPr>
            <p:ph type="sldImg"/>
          </p:nvPr>
        </p:nvSpPr>
        <p:spPr>
          <a:xfrm>
            <a:off x="685800" y="1143000"/>
            <a:ext cx="5486040" cy="3085920"/>
          </a:xfrm>
          <a:prstGeom prst="rect">
            <a:avLst/>
          </a:prstGeom>
          <a:ln w="0">
            <a:noFill/>
          </a:ln>
        </p:spPr>
      </p:sp>
      <p:sp>
        <p:nvSpPr>
          <p:cNvPr id="54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s-ES" sz="1800" b="0" u="none" strike="noStrike">
              <a:solidFill>
                <a:srgbClr val="000000"/>
              </a:solidFill>
              <a:effectLst/>
              <a:uFillTx/>
              <a:latin typeface="Arial" panose="020B0604020202020204"/>
            </a:endParaRPr>
          </a:p>
        </p:txBody>
      </p:sp>
      <p:sp>
        <p:nvSpPr>
          <p:cNvPr id="543" name="PlaceHolder 3"/>
          <p:cNvSpPr>
            <a:spLocks noGrp="1"/>
          </p:cNvSpPr>
          <p:nvPr>
            <p:ph type="sldNum" idx="2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97C1A86-5821-41B8-AA43-4DD458282D06}" type="slidenum">
              <a:rPr lang="en-US" sz="1200" b="0" u="none" strike="noStrike">
                <a:solidFill>
                  <a:schemeClr val="dk1"/>
                </a:solidFill>
                <a:effectLst/>
                <a:uFillTx/>
                <a:latin typeface="+mn-lt"/>
                <a:ea typeface="+mn-ea"/>
              </a:rPr>
            </a:fld>
            <a:endParaRPr lang="es-ES" sz="1200" b="0" u="none" strike="noStrike">
              <a:solidFill>
                <a:srgbClr val="000000"/>
              </a:solidFill>
              <a:effectLst/>
              <a:uFillTx/>
              <a:latin typeface="Times New Roman" panose="02020603050405020304"/>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4" name="PlaceHolder 1"/>
          <p:cNvSpPr>
            <a:spLocks noGrp="1"/>
          </p:cNvSpPr>
          <p:nvPr>
            <p:ph type="sldImg"/>
          </p:nvPr>
        </p:nvSpPr>
        <p:spPr>
          <a:xfrm>
            <a:off x="685800" y="1143000"/>
            <a:ext cx="5486040" cy="3085920"/>
          </a:xfrm>
          <a:prstGeom prst="rect">
            <a:avLst/>
          </a:prstGeom>
          <a:ln w="0">
            <a:noFill/>
          </a:ln>
        </p:spPr>
      </p:sp>
      <p:sp>
        <p:nvSpPr>
          <p:cNvPr id="54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s-ES" sz="1800" b="0" u="none" strike="noStrike">
              <a:solidFill>
                <a:srgbClr val="000000"/>
              </a:solidFill>
              <a:effectLst/>
              <a:uFillTx/>
              <a:latin typeface="Arial" panose="020B0604020202020204"/>
            </a:endParaRPr>
          </a:p>
        </p:txBody>
      </p:sp>
      <p:sp>
        <p:nvSpPr>
          <p:cNvPr id="546" name="PlaceHolder 3"/>
          <p:cNvSpPr>
            <a:spLocks noGrp="1"/>
          </p:cNvSpPr>
          <p:nvPr>
            <p:ph type="sldNum" idx="2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24C15B5-BBE9-4039-998B-7C0995E666FD}" type="slidenum">
              <a:rPr lang="en-US" sz="1200" b="0" u="none" strike="noStrike">
                <a:solidFill>
                  <a:schemeClr val="dk1"/>
                </a:solidFill>
                <a:effectLst/>
                <a:uFillTx/>
                <a:latin typeface="+mn-lt"/>
                <a:ea typeface="+mn-ea"/>
              </a:rPr>
            </a:fld>
            <a:endParaRPr lang="es-ES" sz="1200" b="0" u="none" strike="noStrike">
              <a:solidFill>
                <a:srgbClr val="000000"/>
              </a:solidFill>
              <a:effectLst/>
              <a:uFillTx/>
              <a:latin typeface="Times New Roman" panose="02020603050405020304"/>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7" name="PlaceHolder 1"/>
          <p:cNvSpPr>
            <a:spLocks noGrp="1"/>
          </p:cNvSpPr>
          <p:nvPr>
            <p:ph type="sldImg"/>
          </p:nvPr>
        </p:nvSpPr>
        <p:spPr>
          <a:xfrm>
            <a:off x="685800" y="1143000"/>
            <a:ext cx="5486040" cy="3085920"/>
          </a:xfrm>
          <a:prstGeom prst="rect">
            <a:avLst/>
          </a:prstGeom>
          <a:ln w="0">
            <a:noFill/>
          </a:ln>
        </p:spPr>
      </p:sp>
      <p:sp>
        <p:nvSpPr>
          <p:cNvPr id="54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s-ES" sz="1800" b="0" u="none" strike="noStrike">
              <a:solidFill>
                <a:srgbClr val="000000"/>
              </a:solidFill>
              <a:effectLst/>
              <a:uFillTx/>
              <a:latin typeface="Arial" panose="020B0604020202020204"/>
            </a:endParaRPr>
          </a:p>
        </p:txBody>
      </p:sp>
      <p:sp>
        <p:nvSpPr>
          <p:cNvPr id="549" name="PlaceHolder 3"/>
          <p:cNvSpPr>
            <a:spLocks noGrp="1"/>
          </p:cNvSpPr>
          <p:nvPr>
            <p:ph type="sldNum" idx="2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7260310-0364-430E-A528-163830A64AD8}" type="slidenum">
              <a:rPr lang="en-US" sz="1200" b="0" u="none" strike="noStrike">
                <a:solidFill>
                  <a:schemeClr val="dk1"/>
                </a:solidFill>
                <a:effectLst/>
                <a:uFillTx/>
                <a:latin typeface="+mn-lt"/>
                <a:ea typeface="+mn-ea"/>
              </a:rPr>
            </a:fld>
            <a:endParaRPr lang="es-ES" sz="1200" b="0" u="none" strike="noStrike">
              <a:solidFill>
                <a:srgbClr val="000000"/>
              </a:solidFill>
              <a:effectLst/>
              <a:uFillTx/>
              <a:latin typeface="Times New Roman" panose="02020603050405020304"/>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0" name="PlaceHolder 1"/>
          <p:cNvSpPr>
            <a:spLocks noGrp="1"/>
          </p:cNvSpPr>
          <p:nvPr>
            <p:ph type="sldImg"/>
          </p:nvPr>
        </p:nvSpPr>
        <p:spPr>
          <a:xfrm>
            <a:off x="685800" y="1143000"/>
            <a:ext cx="5486040" cy="3085920"/>
          </a:xfrm>
          <a:prstGeom prst="rect">
            <a:avLst/>
          </a:prstGeom>
          <a:ln w="0">
            <a:noFill/>
          </a:ln>
        </p:spPr>
      </p:sp>
      <p:sp>
        <p:nvSpPr>
          <p:cNvPr id="55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s-ES" sz="1800" b="0" u="none" strike="noStrike">
              <a:solidFill>
                <a:srgbClr val="000000"/>
              </a:solidFill>
              <a:effectLst/>
              <a:uFillTx/>
              <a:latin typeface="Arial" panose="020B0604020202020204"/>
            </a:endParaRPr>
          </a:p>
        </p:txBody>
      </p:sp>
      <p:sp>
        <p:nvSpPr>
          <p:cNvPr id="552" name="PlaceHolder 3"/>
          <p:cNvSpPr>
            <a:spLocks noGrp="1"/>
          </p:cNvSpPr>
          <p:nvPr>
            <p:ph type="sldNum" idx="2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3CA1F83-F2D4-4D26-AAD8-08DBDB07E2CC}" type="slidenum">
              <a:rPr lang="en-US" sz="1200" b="0" u="none" strike="noStrike">
                <a:solidFill>
                  <a:schemeClr val="dk1"/>
                </a:solidFill>
                <a:effectLst/>
                <a:uFillTx/>
                <a:latin typeface="+mn-lt"/>
                <a:ea typeface="+mn-ea"/>
              </a:rPr>
            </a:fld>
            <a:endParaRPr lang="es-ES" sz="1200" b="0" u="none" strike="noStrike">
              <a:solidFill>
                <a:srgbClr val="000000"/>
              </a:solidFill>
              <a:effectLst/>
              <a:uFillTx/>
              <a:latin typeface="Times New Roman" panose="02020603050405020304"/>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DEFAULT">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080" cy="1144800"/>
          </a:xfrm>
          <a:prstGeom prst="rect">
            <a:avLst/>
          </a:prstGeom>
          <a:noFill/>
          <a:ln w="0">
            <a:noFill/>
          </a:ln>
        </p:spPr>
        <p:txBody>
          <a:bodyPr lIns="0" tIns="0" rIns="0" bIns="0" anchor="ctr">
            <a:noAutofit/>
          </a:bodyPr>
          <a:lstStyle>
            <a:lvl1pPr indent="0" algn="l">
              <a:buNone/>
              <a:defRPr lang="es-ES" sz="1800" b="0" u="none" strike="noStrike">
                <a:solidFill>
                  <a:schemeClr val="dk1"/>
                </a:solidFill>
                <a:effectLst/>
                <a:uFillTx/>
                <a:latin typeface="Calibri" panose="020F0502020204030204"/>
              </a:defRPr>
            </a:lvl1pPr>
          </a:lstStyle>
          <a:p>
            <a:pPr indent="0" algn="l">
              <a:buNone/>
            </a:pPr>
            <a:r>
              <a:rPr lang="es-ES" sz="1800" b="0" u="none" strike="noStrike">
                <a:solidFill>
                  <a:schemeClr val="dk1"/>
                </a:solidFill>
                <a:effectLst/>
                <a:uFillTx/>
                <a:latin typeface="Calibri" panose="020F0502020204030204"/>
              </a:rPr>
              <a:t>Pulse para </a:t>
            </a:r>
            <a:r>
              <a:rPr lang="es-ES" sz="1800" b="0" u="none" strike="noStrike">
                <a:solidFill>
                  <a:schemeClr val="dk1"/>
                </a:solidFill>
                <a:effectLst/>
                <a:uFillTx/>
                <a:latin typeface="Calibri" panose="020F0502020204030204"/>
              </a:rPr>
              <a:t>editar el </a:t>
            </a:r>
            <a:r>
              <a:rPr lang="es-ES" sz="1800" b="0" u="none" strike="noStrike">
                <a:solidFill>
                  <a:schemeClr val="dk1"/>
                </a:solidFill>
                <a:effectLst/>
                <a:uFillTx/>
                <a:latin typeface="Calibri" panose="020F0502020204030204"/>
              </a:rPr>
              <a:t>formato </a:t>
            </a:r>
            <a:r>
              <a:rPr lang="es-ES" sz="1800" b="0" u="none" strike="noStrike">
                <a:solidFill>
                  <a:schemeClr val="dk1"/>
                </a:solidFill>
                <a:effectLst/>
                <a:uFillTx/>
                <a:latin typeface="Calibri" panose="020F0502020204030204"/>
              </a:rPr>
              <a:t>del texto </a:t>
            </a:r>
            <a:r>
              <a:rPr lang="es-ES" sz="1800" b="0" u="none" strike="noStrike">
                <a:solidFill>
                  <a:schemeClr val="dk1"/>
                </a:solidFill>
                <a:effectLst/>
                <a:uFillTx/>
                <a:latin typeface="Calibri" panose="020F0502020204030204"/>
              </a:rPr>
              <a:t>de título</a:t>
            </a:r>
            <a:endParaRPr lang="es-ES" sz="1800" b="0" u="none" strike="noStrike">
              <a:solidFill>
                <a:schemeClr val="dk1"/>
              </a:solidFill>
              <a:effectLst/>
              <a:uFillTx/>
              <a:latin typeface="Calibri" panose="020F0502020204030204"/>
            </a:endParaRPr>
          </a:p>
        </p:txBody>
      </p:sp>
      <p:sp>
        <p:nvSpPr>
          <p:cNvPr id="3" name="PlaceHolder 2"/>
          <p:cNvSpPr>
            <a:spLocks noGrp="1"/>
          </p:cNvSpPr>
          <p:nvPr>
            <p:ph type="body"/>
          </p:nvPr>
        </p:nvSpPr>
        <p:spPr>
          <a:xfrm>
            <a:off x="609480" y="1604520"/>
            <a:ext cx="10972080" cy="3977280"/>
          </a:xfrm>
          <a:prstGeom prst="rect">
            <a:avLst/>
          </a:prstGeom>
          <a:noFill/>
          <a:ln w="0">
            <a:noFill/>
          </a:ln>
        </p:spPr>
        <p:txBody>
          <a:bodyPr lIns="0" tIns="0" rIns="0" bIns="0" anchor="t">
            <a:normAutofit/>
          </a:bodyPr>
          <a:lstStyle>
            <a:lvl1pPr algn="l">
              <a:spcBef>
                <a:spcPts val="1415"/>
              </a:spcBef>
              <a:buClr>
                <a:srgbClr val="000000"/>
              </a:buClr>
              <a:buSzPct val="45000"/>
              <a:buFont typeface="Wingdings" panose="05000000000000000000" pitchFamily="2" charset="2"/>
              <a:buChar char=""/>
              <a:defRPr lang="es-ES" sz="3200" b="0" u="none" strike="noStrike">
                <a:solidFill>
                  <a:schemeClr val="dk1"/>
                </a:solidFill>
                <a:effectLst/>
                <a:uFillTx/>
                <a:latin typeface="Calibri" panose="020F0502020204030204"/>
              </a:defRPr>
            </a:lvl1pPr>
            <a:lvl2pPr lvl="1" algn="l">
              <a:spcBef>
                <a:spcPts val="1135"/>
              </a:spcBef>
              <a:buClr>
                <a:srgbClr val="000000"/>
              </a:buClr>
              <a:buSzPct val="75000"/>
              <a:buFont typeface="Symbol" panose="05050102010706020507" charset="2"/>
              <a:buChar char=""/>
              <a:defRPr lang="es-ES" sz="2400" b="0" u="none" strike="noStrike">
                <a:solidFill>
                  <a:schemeClr val="dk1"/>
                </a:solidFill>
                <a:effectLst/>
                <a:uFillTx/>
                <a:latin typeface="Calibri" panose="020F0502020204030204"/>
              </a:defRPr>
            </a:lvl2pPr>
            <a:lvl3pPr lvl="2" algn="l">
              <a:spcBef>
                <a:spcPts val="850"/>
              </a:spcBef>
              <a:buClr>
                <a:srgbClr val="000000"/>
              </a:buClr>
              <a:buSzPct val="45000"/>
              <a:buFont typeface="Wingdings" panose="05000000000000000000" pitchFamily="2" charset="2"/>
              <a:buChar char=""/>
              <a:defRPr lang="es-ES" sz="2000" b="0" u="none" strike="noStrike">
                <a:solidFill>
                  <a:schemeClr val="dk1"/>
                </a:solidFill>
                <a:effectLst/>
                <a:uFillTx/>
                <a:latin typeface="Calibri" panose="020F0502020204030204"/>
              </a:defRPr>
            </a:lvl3pPr>
            <a:lvl4pPr lvl="3" algn="l">
              <a:spcBef>
                <a:spcPts val="565"/>
              </a:spcBef>
              <a:buClr>
                <a:srgbClr val="000000"/>
              </a:buClr>
              <a:buSzPct val="75000"/>
              <a:buFont typeface="Symbol" panose="05050102010706020507" charset="2"/>
              <a:buChar char=""/>
              <a:defRPr lang="es-ES" sz="2000" b="0" u="none" strike="noStrike">
                <a:solidFill>
                  <a:schemeClr val="dk1"/>
                </a:solidFill>
                <a:effectLst/>
                <a:uFillTx/>
                <a:latin typeface="Calibri" panose="020F0502020204030204"/>
              </a:defRPr>
            </a:lvl4pPr>
            <a:lvl5pPr lvl="4" algn="l">
              <a:spcBef>
                <a:spcPts val="285"/>
              </a:spcBef>
              <a:buClr>
                <a:srgbClr val="000000"/>
              </a:buClr>
              <a:buSzPct val="45000"/>
              <a:buFont typeface="Wingdings" panose="05000000000000000000" pitchFamily="2" charset="2"/>
              <a:buChar char=""/>
              <a:defRPr lang="es-ES" sz="2000" b="0" u="none" strike="noStrike">
                <a:solidFill>
                  <a:schemeClr val="dk1"/>
                </a:solidFill>
                <a:effectLst/>
                <a:uFillTx/>
                <a:latin typeface="Calibri" panose="020F0502020204030204"/>
              </a:defRPr>
            </a:lvl5pPr>
            <a:lvl6pPr lvl="5" algn="l">
              <a:spcBef>
                <a:spcPts val="285"/>
              </a:spcBef>
              <a:buClr>
                <a:srgbClr val="000000"/>
              </a:buClr>
              <a:buSzPct val="45000"/>
              <a:buFont typeface="Wingdings" panose="05000000000000000000" pitchFamily="2" charset="2"/>
              <a:buChar char=""/>
              <a:defRPr lang="es-ES" sz="2000" b="0" u="none" strike="noStrike">
                <a:solidFill>
                  <a:schemeClr val="dk1"/>
                </a:solidFill>
                <a:effectLst/>
                <a:uFillTx/>
                <a:latin typeface="Calibri" panose="020F0502020204030204"/>
              </a:defRPr>
            </a:lvl6pPr>
            <a:lvl7pPr lvl="6" algn="l">
              <a:spcBef>
                <a:spcPts val="285"/>
              </a:spcBef>
              <a:buClr>
                <a:srgbClr val="000000"/>
              </a:buClr>
              <a:buSzPct val="45000"/>
              <a:buFont typeface="Wingdings" panose="05000000000000000000" pitchFamily="2" charset="2"/>
              <a:buChar char=""/>
              <a:defRPr lang="es-ES" sz="2000" b="0" u="none" strike="noStrike">
                <a:solidFill>
                  <a:schemeClr val="dk1"/>
                </a:solidFill>
                <a:effectLst/>
                <a:uFillTx/>
                <a:latin typeface="Calibri" panose="020F0502020204030204"/>
              </a:defRPr>
            </a:lvl7pPr>
          </a:lstStyle>
          <a:p>
            <a:pPr marL="431800" indent="-323850" algn="l">
              <a:spcBef>
                <a:spcPts val="1415"/>
              </a:spcBef>
              <a:buClr>
                <a:srgbClr val="000000"/>
              </a:buClr>
              <a:buSzPct val="45000"/>
              <a:buFont typeface="Wingdings" panose="05000000000000000000" pitchFamily="2" charset="2"/>
              <a:buChar char=""/>
            </a:pPr>
            <a:r>
              <a:rPr lang="es-ES" sz="3200" b="0" u="none" strike="noStrike">
                <a:solidFill>
                  <a:schemeClr val="dk1"/>
                </a:solidFill>
                <a:effectLst/>
                <a:uFillTx/>
                <a:latin typeface="Calibri" panose="020F0502020204030204"/>
              </a:rPr>
              <a:t>Pulse para editar el formato de texto del esquema</a:t>
            </a:r>
            <a:endParaRPr lang="es-ES" sz="3200" b="0" u="none" strike="noStrike">
              <a:solidFill>
                <a:schemeClr val="dk1"/>
              </a:solidFill>
              <a:effectLst/>
              <a:uFillTx/>
              <a:latin typeface="Calibri" panose="020F0502020204030204"/>
            </a:endParaRPr>
          </a:p>
          <a:p>
            <a:pPr marL="864235" lvl="1" indent="-323850" algn="l">
              <a:spcBef>
                <a:spcPts val="1135"/>
              </a:spcBef>
              <a:buClr>
                <a:srgbClr val="000000"/>
              </a:buClr>
              <a:buSzPct val="75000"/>
              <a:buFont typeface="Symbol" panose="05050102010706020507" charset="2"/>
              <a:buChar char=""/>
            </a:pPr>
            <a:r>
              <a:rPr lang="es-ES" sz="2400" b="0" u="none" strike="noStrike">
                <a:solidFill>
                  <a:schemeClr val="dk1"/>
                </a:solidFill>
                <a:effectLst/>
                <a:uFillTx/>
                <a:latin typeface="Calibri" panose="020F0502020204030204"/>
              </a:rPr>
              <a:t>Segundo nivel del esquema</a:t>
            </a:r>
            <a:endParaRPr lang="es-ES" sz="2400" b="0" u="none" strike="noStrike">
              <a:solidFill>
                <a:schemeClr val="dk1"/>
              </a:solidFill>
              <a:effectLst/>
              <a:uFillTx/>
              <a:latin typeface="Calibri" panose="020F0502020204030204"/>
            </a:endParaRPr>
          </a:p>
          <a:p>
            <a:pPr marL="1296035" lvl="2" indent="-288290" algn="l">
              <a:spcBef>
                <a:spcPts val="850"/>
              </a:spcBef>
              <a:buClr>
                <a:srgbClr val="000000"/>
              </a:buClr>
              <a:buSzPct val="45000"/>
              <a:buFont typeface="Wingdings" panose="05000000000000000000" pitchFamily="2" charset="2"/>
              <a:buChar char=""/>
            </a:pPr>
            <a:r>
              <a:rPr lang="es-ES" sz="2000" b="0" u="none" strike="noStrike">
                <a:solidFill>
                  <a:schemeClr val="dk1"/>
                </a:solidFill>
                <a:effectLst/>
                <a:uFillTx/>
                <a:latin typeface="Calibri" panose="020F0502020204030204"/>
              </a:rPr>
              <a:t>Tercer nivel del esquema</a:t>
            </a:r>
            <a:endParaRPr lang="es-ES" sz="2000" b="0" u="none" strike="noStrike">
              <a:solidFill>
                <a:schemeClr val="dk1"/>
              </a:solidFill>
              <a:effectLst/>
              <a:uFillTx/>
              <a:latin typeface="Calibri" panose="020F0502020204030204"/>
            </a:endParaRPr>
          </a:p>
          <a:p>
            <a:pPr marL="1727835" lvl="3" indent="-215900" algn="l">
              <a:spcBef>
                <a:spcPts val="565"/>
              </a:spcBef>
              <a:buClr>
                <a:srgbClr val="000000"/>
              </a:buClr>
              <a:buSzPct val="75000"/>
              <a:buFont typeface="Symbol" panose="05050102010706020507" charset="2"/>
              <a:buChar char=""/>
            </a:pPr>
            <a:r>
              <a:rPr lang="es-ES" sz="2000" b="0" u="none" strike="noStrike">
                <a:solidFill>
                  <a:schemeClr val="dk1"/>
                </a:solidFill>
                <a:effectLst/>
                <a:uFillTx/>
                <a:latin typeface="Calibri" panose="020F0502020204030204"/>
              </a:rPr>
              <a:t>Cuarto nivel del esquema</a:t>
            </a:r>
            <a:endParaRPr lang="es-ES" sz="2000" b="0" u="none" strike="noStrike">
              <a:solidFill>
                <a:schemeClr val="dk1"/>
              </a:solidFill>
              <a:effectLst/>
              <a:uFillTx/>
              <a:latin typeface="Calibri" panose="020F0502020204030204"/>
            </a:endParaRPr>
          </a:p>
          <a:p>
            <a:pPr marL="2160270" lvl="4" indent="-215900" algn="l">
              <a:spcBef>
                <a:spcPts val="285"/>
              </a:spcBef>
              <a:buClr>
                <a:srgbClr val="000000"/>
              </a:buClr>
              <a:buSzPct val="45000"/>
              <a:buFont typeface="Wingdings" panose="05000000000000000000" pitchFamily="2" charset="2"/>
              <a:buChar char=""/>
            </a:pPr>
            <a:r>
              <a:rPr lang="es-ES" sz="2000" b="0" u="none" strike="noStrike">
                <a:solidFill>
                  <a:schemeClr val="dk1"/>
                </a:solidFill>
                <a:effectLst/>
                <a:uFillTx/>
                <a:latin typeface="Calibri" panose="020F0502020204030204"/>
              </a:rPr>
              <a:t>Quinto nivel del esquema</a:t>
            </a:r>
            <a:endParaRPr lang="es-ES" sz="2000" b="0" u="none" strike="noStrike">
              <a:solidFill>
                <a:schemeClr val="dk1"/>
              </a:solidFill>
              <a:effectLst/>
              <a:uFillTx/>
              <a:latin typeface="Calibri" panose="020F0502020204030204"/>
            </a:endParaRPr>
          </a:p>
          <a:p>
            <a:pPr marL="2592070" lvl="5" indent="-215900" algn="l">
              <a:spcBef>
                <a:spcPts val="285"/>
              </a:spcBef>
              <a:buClr>
                <a:srgbClr val="000000"/>
              </a:buClr>
              <a:buSzPct val="45000"/>
              <a:buFont typeface="Wingdings" panose="05000000000000000000" pitchFamily="2" charset="2"/>
              <a:buChar char=""/>
            </a:pPr>
            <a:r>
              <a:rPr lang="es-ES" sz="2000" b="0" u="none" strike="noStrike">
                <a:solidFill>
                  <a:schemeClr val="dk1"/>
                </a:solidFill>
                <a:effectLst/>
                <a:uFillTx/>
                <a:latin typeface="Calibri" panose="020F0502020204030204"/>
              </a:rPr>
              <a:t>Sexto nivel del esquema</a:t>
            </a:r>
            <a:endParaRPr lang="es-ES" sz="2000" b="0" u="none" strike="noStrike">
              <a:solidFill>
                <a:schemeClr val="dk1"/>
              </a:solidFill>
              <a:effectLst/>
              <a:uFillTx/>
              <a:latin typeface="Calibri" panose="020F0502020204030204"/>
            </a:endParaRPr>
          </a:p>
          <a:p>
            <a:pPr marL="3023870" lvl="6" indent="-215900" algn="l">
              <a:spcBef>
                <a:spcPts val="285"/>
              </a:spcBef>
              <a:buClr>
                <a:srgbClr val="000000"/>
              </a:buClr>
              <a:buSzPct val="45000"/>
              <a:buFont typeface="Wingdings" panose="05000000000000000000" pitchFamily="2" charset="2"/>
              <a:buChar char=""/>
            </a:pPr>
            <a:r>
              <a:rPr lang="es-ES" sz="2000" b="0" u="none" strike="noStrike">
                <a:solidFill>
                  <a:schemeClr val="dk1"/>
                </a:solidFill>
                <a:effectLst/>
                <a:uFillTx/>
                <a:latin typeface="Calibri" panose="020F0502020204030204"/>
              </a:rPr>
              <a:t>Séptimo nivel del esquema</a:t>
            </a:r>
            <a:endParaRPr lang="es-ES" sz="2000" b="0" u="none" strike="noStrike">
              <a:solidFill>
                <a:schemeClr val="dk1"/>
              </a:solidFill>
              <a:effectLst/>
              <a:uFillTx/>
              <a:latin typeface="Calibri" panose="020F0502020204030204"/>
            </a:endParaRPr>
          </a:p>
        </p:txBody>
      </p:sp>
    </p:spTree>
  </p:cSld>
  <p:clrMap bg1="lt1" tx1="dk1" bg2="lt2" tx2="dk2" accent1="accent1" accent2="accent2" accent3="accent3" accent4="accent4" accent5="accent5" accent6="accent6" hlink="hlink" folHlink="folHlink"/>
  <p:sldLayoutIdLst>
    <p:sldLayoutId id="2147483649" r:id="rId1"/>
  </p:sldLayoutIdLst>
  <p:txStyles>
    <p:titleStyle/>
    <p:bodyStyle/>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7" Type="http://schemas.openxmlformats.org/officeDocument/2006/relationships/notesSlide" Target="../notesSlides/notesSlide2.xml"/><Relationship Id="rId6"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5.png"/><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xml"/><Relationship Id="rId1"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xml"/><Relationship Id="rId1"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xml"/><Relationship Id="rId1" Type="http://schemas.openxmlformats.org/officeDocument/2006/relationships/image" Target="../media/image6.png"/></Relationships>
</file>

<file path=ppt/slides/_rels/slide6.xml.rels><?xml version="1.0" encoding="UTF-8" standalone="yes"?>
<Relationships xmlns="http://schemas.openxmlformats.org/package/2006/relationships"><Relationship Id="rId7" Type="http://schemas.openxmlformats.org/officeDocument/2006/relationships/notesSlide" Target="../notesSlides/notesSlide6.xml"/><Relationship Id="rId6"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 Id="rId3" Type="http://schemas.openxmlformats.org/officeDocument/2006/relationships/image" Target="../media/image6.png"/><Relationship Id="rId2" Type="http://schemas.openxmlformats.org/officeDocument/2006/relationships/image" Target="../media/image8.png"/><Relationship Id="rId1" Type="http://schemas.openxmlformats.org/officeDocument/2006/relationships/image" Target="../media/image7.png"/></Relationships>
</file>

<file path=ppt/slides/_rels/slide7.xml.rels><?xml version="1.0" encoding="UTF-8" standalone="yes"?>
<Relationships xmlns="http://schemas.openxmlformats.org/package/2006/relationships"><Relationship Id="rId7" Type="http://schemas.openxmlformats.org/officeDocument/2006/relationships/notesSlide" Target="../notesSlides/notesSlide7.xml"/><Relationship Id="rId6"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13.png"/><Relationship Id="rId3" Type="http://schemas.openxmlformats.org/officeDocument/2006/relationships/image" Target="../media/image6.png"/><Relationship Id="rId2" Type="http://schemas.openxmlformats.org/officeDocument/2006/relationships/image" Target="../media/image12.png"/><Relationship Id="rId1" Type="http://schemas.openxmlformats.org/officeDocument/2006/relationships/image" Target="../media/image11.png"/></Relationships>
</file>

<file path=ppt/slides/_rels/slide8.xml.rels><?xml version="1.0" encoding="UTF-8" standalone="yes"?>
<Relationships xmlns="http://schemas.openxmlformats.org/package/2006/relationships"><Relationship Id="rId7" Type="http://schemas.openxmlformats.org/officeDocument/2006/relationships/notesSlide" Target="../notesSlides/notesSlide8.xml"/><Relationship Id="rId6"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image" Target="../media/image17.png"/><Relationship Id="rId3" Type="http://schemas.openxmlformats.org/officeDocument/2006/relationships/image" Target="../media/image6.png"/><Relationship Id="rId2" Type="http://schemas.openxmlformats.org/officeDocument/2006/relationships/image" Target="../media/image16.png"/><Relationship Id="rId1" Type="http://schemas.openxmlformats.org/officeDocument/2006/relationships/image" Target="../media/image15.png"/></Relationships>
</file>

<file path=ppt/slides/_rels/slide9.xml.rels><?xml version="1.0" encoding="UTF-8" standalone="yes"?>
<Relationships xmlns="http://schemas.openxmlformats.org/package/2006/relationships"><Relationship Id="rId7" Type="http://schemas.openxmlformats.org/officeDocument/2006/relationships/notesSlide" Target="../notesSlides/notesSlide9.xml"/><Relationship Id="rId6" Type="http://schemas.openxmlformats.org/officeDocument/2006/relationships/slideLayout" Target="../slideLayouts/slideLayout1.xml"/><Relationship Id="rId5" Type="http://schemas.openxmlformats.org/officeDocument/2006/relationships/image" Target="../media/image22.png"/><Relationship Id="rId4" Type="http://schemas.openxmlformats.org/officeDocument/2006/relationships/image" Target="../media/image21.png"/><Relationship Id="rId3" Type="http://schemas.openxmlformats.org/officeDocument/2006/relationships/image" Target="../media/image6.png"/><Relationship Id="rId2" Type="http://schemas.openxmlformats.org/officeDocument/2006/relationships/image" Target="../media/image20.png"/><Relationship Id="rId1" Type="http://schemas.openxmlformats.org/officeDocument/2006/relationships/image" Target="../media/image19.png"/></Relationships>
</file>

<file path=ppt/slides/_rels/slide10.xml.rels><?xml version="1.0" encoding="UTF-8" standalone="yes"?>
<Relationships xmlns="http://schemas.openxmlformats.org/package/2006/relationships"><Relationship Id="rId7" Type="http://schemas.openxmlformats.org/officeDocument/2006/relationships/notesSlide" Target="../notesSlides/notesSlide10.xml"/><Relationship Id="rId6" Type="http://schemas.openxmlformats.org/officeDocument/2006/relationships/slideLayout" Target="../slideLayouts/slideLayout1.xml"/><Relationship Id="rId5" Type="http://schemas.openxmlformats.org/officeDocument/2006/relationships/image" Target="../media/image26.png"/><Relationship Id="rId4" Type="http://schemas.openxmlformats.org/officeDocument/2006/relationships/image" Target="../media/image25.png"/><Relationship Id="rId3" Type="http://schemas.openxmlformats.org/officeDocument/2006/relationships/image" Target="../media/image6.png"/><Relationship Id="rId2" Type="http://schemas.openxmlformats.org/officeDocument/2006/relationships/image" Target="../media/image24.png"/><Relationship Id="rId1" Type="http://schemas.openxmlformats.org/officeDocument/2006/relationships/image" Target="../media/image23.png"/></Relationships>
</file>

<file path=ppt/slides/_rels/slide11.xml.rels><?xml version="1.0" encoding="UTF-8" standalone="yes"?>
<Relationships xmlns="http://schemas.openxmlformats.org/package/2006/relationships"><Relationship Id="rId4" Type="http://schemas.openxmlformats.org/officeDocument/2006/relationships/notesSlide" Target="../notesSlides/notesSlide11.xml"/><Relationship Id="rId3" Type="http://schemas.openxmlformats.org/officeDocument/2006/relationships/slideLayout" Target="../slideLayouts/slideLayout1.xml"/><Relationship Id="rId2" Type="http://schemas.openxmlformats.org/officeDocument/2006/relationships/image" Target="../media/image6.png"/><Relationship Id="rId1"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1.xml"/><Relationship Id="rId1" Type="http://schemas.openxmlformats.org/officeDocument/2006/relationships/image" Target="../media/image6.png"/></Relationships>
</file>

<file path=ppt/slides/_rels/slide13.xml.rels><?xml version="1.0" encoding="UTF-8" standalone="yes"?>
<Relationships xmlns="http://schemas.openxmlformats.org/package/2006/relationships"><Relationship Id="rId4" Type="http://schemas.openxmlformats.org/officeDocument/2006/relationships/notesSlide" Target="../notesSlides/notesSlide13.xml"/><Relationship Id="rId3" Type="http://schemas.openxmlformats.org/officeDocument/2006/relationships/slideLayout" Target="../slideLayouts/slideLayout1.xml"/><Relationship Id="rId2" Type="http://schemas.openxmlformats.org/officeDocument/2006/relationships/image" Target="../media/image6.png"/><Relationship Id="rId1" Type="http://schemas.openxmlformats.org/officeDocument/2006/relationships/image" Target="../media/image28.png"/></Relationships>
</file>

<file path=ppt/slides/_rels/slide14.xml.rels><?xml version="1.0" encoding="UTF-8" standalone="yes"?>
<Relationships xmlns="http://schemas.openxmlformats.org/package/2006/relationships"><Relationship Id="rId4" Type="http://schemas.openxmlformats.org/officeDocument/2006/relationships/notesSlide" Target="../notesSlides/notesSlide14.xml"/><Relationship Id="rId3" Type="http://schemas.openxmlformats.org/officeDocument/2006/relationships/slideLayout" Target="../slideLayouts/slideLayout1.xml"/><Relationship Id="rId2" Type="http://schemas.openxmlformats.org/officeDocument/2006/relationships/image" Target="../media/image6.png"/><Relationship Id="rId1" Type="http://schemas.openxmlformats.org/officeDocument/2006/relationships/image" Target="../media/image29.png"/></Relationships>
</file>

<file path=ppt/slides/_rels/slide15.xml.rels><?xml version="1.0" encoding="UTF-8" standalone="yes"?>
<Relationships xmlns="http://schemas.openxmlformats.org/package/2006/relationships"><Relationship Id="rId4" Type="http://schemas.openxmlformats.org/officeDocument/2006/relationships/notesSlide" Target="../notesSlides/notesSlide15.xml"/><Relationship Id="rId3" Type="http://schemas.openxmlformats.org/officeDocument/2006/relationships/slideLayout" Target="../slideLayouts/slideLayout1.xml"/><Relationship Id="rId2" Type="http://schemas.openxmlformats.org/officeDocument/2006/relationships/image" Target="../media/image6.png"/><Relationship Id="rId1" Type="http://schemas.openxmlformats.org/officeDocument/2006/relationships/image" Target="../media/image30.png"/></Relationships>
</file>

<file path=ppt/slides/_rels/slide16.xml.rels><?xml version="1.0" encoding="UTF-8" standalone="yes"?>
<Relationships xmlns="http://schemas.openxmlformats.org/package/2006/relationships"><Relationship Id="rId4" Type="http://schemas.openxmlformats.org/officeDocument/2006/relationships/notesSlide" Target="../notesSlides/notesSlide16.xml"/><Relationship Id="rId3" Type="http://schemas.openxmlformats.org/officeDocument/2006/relationships/slideLayout" Target="../slideLayouts/slideLayout1.xml"/><Relationship Id="rId2" Type="http://schemas.openxmlformats.org/officeDocument/2006/relationships/image" Target="../media/image6.png"/><Relationship Id="rId1" Type="http://schemas.openxmlformats.org/officeDocument/2006/relationships/image" Target="../media/image31.png"/></Relationships>
</file>

<file path=ppt/slides/_rels/slide17.xml.rels><?xml version="1.0" encoding="UTF-8" standalone="yes"?>
<Relationships xmlns="http://schemas.openxmlformats.org/package/2006/relationships"><Relationship Id="rId4" Type="http://schemas.openxmlformats.org/officeDocument/2006/relationships/notesSlide" Target="../notesSlides/notesSlide17.xml"/><Relationship Id="rId3" Type="http://schemas.openxmlformats.org/officeDocument/2006/relationships/slideLayout" Target="../slideLayouts/slideLayout1.xml"/><Relationship Id="rId2" Type="http://schemas.openxmlformats.org/officeDocument/2006/relationships/image" Target="../media/image32.png"/><Relationship Id="rId1" Type="http://schemas.openxmlformats.org/officeDocument/2006/relationships/image" Target="../media/image6.png"/></Relationships>
</file>

<file path=ppt/slides/_rels/slide18.xml.rels><?xml version="1.0" encoding="UTF-8" standalone="yes"?>
<Relationships xmlns="http://schemas.openxmlformats.org/package/2006/relationships"><Relationship Id="rId4" Type="http://schemas.openxmlformats.org/officeDocument/2006/relationships/notesSlide" Target="../notesSlides/notesSlide18.xml"/><Relationship Id="rId3" Type="http://schemas.openxmlformats.org/officeDocument/2006/relationships/slideLayout" Target="../slideLayouts/slideLayout1.xml"/><Relationship Id="rId2" Type="http://schemas.openxmlformats.org/officeDocument/2006/relationships/image" Target="../media/image6.png"/><Relationship Id="rId1" Type="http://schemas.openxmlformats.org/officeDocument/2006/relationships/image" Target="../media/image33.png"/></Relationships>
</file>

<file path=ppt/slides/_rels/slide19.xml.rels><?xml version="1.0" encoding="UTF-8" standalone="yes"?>
<Relationships xmlns="http://schemas.openxmlformats.org/package/2006/relationships"><Relationship Id="rId4" Type="http://schemas.openxmlformats.org/officeDocument/2006/relationships/notesSlide" Target="../notesSlides/notesSlide19.xml"/><Relationship Id="rId3" Type="http://schemas.openxmlformats.org/officeDocument/2006/relationships/slideLayout" Target="../slideLayouts/slideLayout1.xml"/><Relationship Id="rId2" Type="http://schemas.openxmlformats.org/officeDocument/2006/relationships/image" Target="../media/image6.png"/><Relationship Id="rId1" Type="http://schemas.openxmlformats.org/officeDocument/2006/relationships/image" Target="../media/image34.png"/></Relationships>
</file>

<file path=ppt/slides/_rels/slide20.xml.rels><?xml version="1.0" encoding="UTF-8" standalone="yes"?>
<Relationships xmlns="http://schemas.openxmlformats.org/package/2006/relationships"><Relationship Id="rId4" Type="http://schemas.openxmlformats.org/officeDocument/2006/relationships/notesSlide" Target="../notesSlides/notesSlide20.xml"/><Relationship Id="rId3" Type="http://schemas.openxmlformats.org/officeDocument/2006/relationships/slideLayout" Target="../slideLayouts/slideLayout1.xml"/><Relationship Id="rId2" Type="http://schemas.openxmlformats.org/officeDocument/2006/relationships/image" Target="../media/image6.png"/><Relationship Id="rId1" Type="http://schemas.openxmlformats.org/officeDocument/2006/relationships/image" Target="../media/image35.png"/></Relationships>
</file>

<file path=ppt/slides/_rels/slide21.xml.rels><?xml version="1.0" encoding="UTF-8" standalone="yes"?>
<Relationships xmlns="http://schemas.openxmlformats.org/package/2006/relationships"><Relationship Id="rId4" Type="http://schemas.openxmlformats.org/officeDocument/2006/relationships/notesSlide" Target="../notesSlides/notesSlide21.xml"/><Relationship Id="rId3" Type="http://schemas.openxmlformats.org/officeDocument/2006/relationships/slideLayout" Target="../slideLayouts/slideLayout1.xml"/><Relationship Id="rId2" Type="http://schemas.openxmlformats.org/officeDocument/2006/relationships/image" Target="../media/image6.png"/><Relationship Id="rId1" Type="http://schemas.openxmlformats.org/officeDocument/2006/relationships/image" Target="../media/image36.png"/></Relationships>
</file>

<file path=ppt/slides/_rels/slide22.xml.rels><?xml version="1.0" encoding="UTF-8" standalone="yes"?>
<Relationships xmlns="http://schemas.openxmlformats.org/package/2006/relationships"><Relationship Id="rId4" Type="http://schemas.openxmlformats.org/officeDocument/2006/relationships/notesSlide" Target="../notesSlides/notesSlide22.xml"/><Relationship Id="rId3" Type="http://schemas.openxmlformats.org/officeDocument/2006/relationships/slideLayout" Target="../slideLayouts/slideLayout1.xml"/><Relationship Id="rId2" Type="http://schemas.openxmlformats.org/officeDocument/2006/relationships/image" Target="../media/image6.png"/><Relationship Id="rId1" Type="http://schemas.openxmlformats.org/officeDocument/2006/relationships/image" Target="../media/image37.png"/></Relationships>
</file>

<file path=ppt/slides/_rels/slide23.xml.rels><?xml version="1.0" encoding="UTF-8" standalone="yes"?>
<Relationships xmlns="http://schemas.openxmlformats.org/package/2006/relationships"><Relationship Id="rId4" Type="http://schemas.openxmlformats.org/officeDocument/2006/relationships/notesSlide" Target="../notesSlides/notesSlide23.xml"/><Relationship Id="rId3" Type="http://schemas.openxmlformats.org/officeDocument/2006/relationships/slideLayout" Target="../slideLayouts/slideLayout1.xml"/><Relationship Id="rId2" Type="http://schemas.openxmlformats.org/officeDocument/2006/relationships/image" Target="../media/image6.png"/><Relationship Id="rId1" Type="http://schemas.openxmlformats.org/officeDocument/2006/relationships/image" Target="../media/image38.png"/></Relationships>
</file>

<file path=ppt/slides/_rels/slide24.xml.rels><?xml version="1.0" encoding="UTF-8" standalone="yes"?>
<Relationships xmlns="http://schemas.openxmlformats.org/package/2006/relationships"><Relationship Id="rId4" Type="http://schemas.openxmlformats.org/officeDocument/2006/relationships/notesSlide" Target="../notesSlides/notesSlide24.xml"/><Relationship Id="rId3" Type="http://schemas.openxmlformats.org/officeDocument/2006/relationships/slideLayout" Target="../slideLayouts/slideLayout1.xml"/><Relationship Id="rId2" Type="http://schemas.openxmlformats.org/officeDocument/2006/relationships/image" Target="../media/image39.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E3D"/>
        </a:solidFill>
        <a:effectLst/>
      </p:bgPr>
    </p:bg>
    <p:spTree>
      <p:nvGrpSpPr>
        <p:cNvPr id="1" name=""/>
        <p:cNvGrpSpPr/>
        <p:nvPr/>
      </p:nvGrpSpPr>
      <p:grpSpPr>
        <a:xfrm>
          <a:off x="0" y="0"/>
          <a:ext cx="0" cy="0"/>
          <a:chOff x="0" y="0"/>
          <a:chExt cx="0" cy="0"/>
        </a:xfrm>
      </p:grpSpPr>
      <p:pic>
        <p:nvPicPr>
          <p:cNvPr id="10" name="Image 0" descr="/tmp/claude-0/-home-claude/c0a8783c-8817-5425-bc4f-190e5f64548a/scratchpad/work/icons/basketball_1B3760.png"/>
          <p:cNvPicPr/>
          <p:nvPr/>
        </p:nvPicPr>
        <p:blipFill>
          <a:blip r:embed="rId1">
            <a:alphaModFix amt="75000"/>
          </a:blip>
          <a:stretch>
            <a:fillRect/>
          </a:stretch>
        </p:blipFill>
        <p:spPr>
          <a:xfrm>
            <a:off x="7589520" y="1463040"/>
            <a:ext cx="5668920" cy="5668920"/>
          </a:xfrm>
          <a:prstGeom prst="rect">
            <a:avLst/>
          </a:prstGeom>
          <a:noFill/>
          <a:ln w="0">
            <a:noFill/>
          </a:ln>
        </p:spPr>
      </p:pic>
      <p:sp>
        <p:nvSpPr>
          <p:cNvPr id="11" name="Shape 0"/>
          <p:cNvSpPr/>
          <p:nvPr/>
        </p:nvSpPr>
        <p:spPr>
          <a:xfrm>
            <a:off x="0" y="0"/>
            <a:ext cx="12191400" cy="6857640"/>
          </a:xfrm>
          <a:prstGeom prst="rect">
            <a:avLst/>
          </a:prstGeom>
          <a:noFill/>
          <a:ln w="0">
            <a:noFill/>
          </a:ln>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FFFFFF"/>
              </a:solidFill>
              <a:effectLst/>
              <a:uFillTx/>
              <a:latin typeface="Arial" panose="020B0604020202020204"/>
            </a:endParaRPr>
          </a:p>
        </p:txBody>
      </p:sp>
      <p:sp>
        <p:nvSpPr>
          <p:cNvPr id="12" name="Shape 1"/>
          <p:cNvSpPr/>
          <p:nvPr/>
        </p:nvSpPr>
        <p:spPr>
          <a:xfrm>
            <a:off x="548640" y="1051560"/>
            <a:ext cx="3245760" cy="347040"/>
          </a:xfrm>
          <a:prstGeom prst="roundRect">
            <a:avLst>
              <a:gd name="adj" fmla="val 50000"/>
            </a:avLst>
          </a:prstGeom>
          <a:solidFill>
            <a:srgbClr val="FF7A29"/>
          </a:solidFill>
          <a:ln w="0">
            <a:noFill/>
          </a:ln>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sp>
        <p:nvSpPr>
          <p:cNvPr id="13" name="Text 2"/>
          <p:cNvSpPr/>
          <p:nvPr/>
        </p:nvSpPr>
        <p:spPr>
          <a:xfrm>
            <a:off x="548640" y="1051560"/>
            <a:ext cx="3245760" cy="3470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algn="ctr" defTabSz="914400">
              <a:lnSpc>
                <a:spcPct val="100000"/>
              </a:lnSpc>
              <a:tabLst>
                <a:tab pos="0" algn="l"/>
              </a:tabLst>
            </a:pPr>
            <a:r>
              <a:rPr lang="en-US" sz="1200" b="1" u="none" strike="noStrike" spc="99">
                <a:solidFill>
                  <a:srgbClr val="0B1E3D"/>
                </a:solidFill>
                <a:effectLst/>
                <a:uFillTx/>
                <a:latin typeface="Calibri" panose="020F0502020204030204"/>
                <a:ea typeface="Calibri" panose="020F0502020204030204"/>
              </a:rPr>
              <a:t>ANÁLISIS EXPLORATORIO DE DATOS</a:t>
            </a:r>
            <a:endParaRPr lang="es-ES" sz="1200" b="0" u="none" strike="noStrike">
              <a:solidFill>
                <a:srgbClr val="FFFFFF"/>
              </a:solidFill>
              <a:effectLst/>
              <a:uFillTx/>
              <a:latin typeface="Arial" panose="020B0604020202020204"/>
            </a:endParaRPr>
          </a:p>
        </p:txBody>
      </p:sp>
      <p:sp>
        <p:nvSpPr>
          <p:cNvPr id="14" name="Text 3"/>
          <p:cNvSpPr/>
          <p:nvPr/>
        </p:nvSpPr>
        <p:spPr>
          <a:xfrm>
            <a:off x="548640" y="1600200"/>
            <a:ext cx="8777880" cy="191988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3000"/>
              </a:lnSpc>
              <a:tabLst>
                <a:tab pos="0" algn="l"/>
              </a:tabLst>
            </a:pPr>
            <a:r>
              <a:rPr lang="en-US" sz="4600" b="1" u="none" strike="noStrike">
                <a:solidFill>
                  <a:srgbClr val="FFFFFF"/>
                </a:solidFill>
                <a:effectLst/>
                <a:uFillTx/>
                <a:latin typeface="Calibri" panose="020F0502020204030204"/>
                <a:ea typeface="Calibri" panose="020F0502020204030204"/>
              </a:rPr>
              <a:t>Esta</a:t>
            </a:r>
            <a:r>
              <a:rPr lang="en-US" sz="4600" b="1" u="none" strike="noStrike">
                <a:solidFill>
                  <a:srgbClr val="FFFFFF"/>
                </a:solidFill>
                <a:effectLst/>
                <a:uFillTx/>
                <a:latin typeface="Calibri" panose="020F0502020204030204"/>
                <a:ea typeface="Calibri" panose="020F0502020204030204"/>
              </a:rPr>
              <a:t>dísti</a:t>
            </a:r>
            <a:r>
              <a:rPr lang="en-US" sz="4600" b="1" u="none" strike="noStrike">
                <a:solidFill>
                  <a:srgbClr val="FFFFFF"/>
                </a:solidFill>
                <a:effectLst/>
                <a:uFillTx/>
                <a:latin typeface="Calibri" panose="020F0502020204030204"/>
                <a:ea typeface="Calibri" panose="020F0502020204030204"/>
              </a:rPr>
              <a:t>cas </a:t>
            </a:r>
            <a:r>
              <a:rPr lang="en-US" sz="4600" b="1" u="none" strike="noStrike">
                <a:solidFill>
                  <a:srgbClr val="FFFFFF"/>
                </a:solidFill>
                <a:effectLst/>
                <a:uFillTx/>
                <a:latin typeface="Calibri" panose="020F0502020204030204"/>
                <a:ea typeface="Calibri" panose="020F0502020204030204"/>
              </a:rPr>
              <a:t>de</a:t>
            </a:r>
            <a:endParaRPr lang="es-ES" sz="4600" b="0" u="none" strike="noStrike">
              <a:solidFill>
                <a:srgbClr val="FFFFFF"/>
              </a:solidFill>
              <a:effectLst/>
              <a:uFillTx/>
              <a:latin typeface="Arial" panose="020B0604020202020204"/>
            </a:endParaRPr>
          </a:p>
          <a:p>
            <a:pPr defTabSz="914400">
              <a:lnSpc>
                <a:spcPct val="103000"/>
              </a:lnSpc>
              <a:tabLst>
                <a:tab pos="0" algn="l"/>
              </a:tabLst>
            </a:pPr>
            <a:r>
              <a:rPr lang="en-US" sz="4600" b="1" u="none" strike="noStrike">
                <a:solidFill>
                  <a:srgbClr val="FFFFFF"/>
                </a:solidFill>
                <a:effectLst/>
                <a:uFillTx/>
                <a:latin typeface="Calibri" panose="020F0502020204030204"/>
                <a:ea typeface="Calibri" panose="020F0502020204030204"/>
              </a:rPr>
              <a:t>Juga</a:t>
            </a:r>
            <a:r>
              <a:rPr lang="en-US" sz="4600" b="1" u="none" strike="noStrike">
                <a:solidFill>
                  <a:srgbClr val="FFFFFF"/>
                </a:solidFill>
                <a:effectLst/>
                <a:uFillTx/>
                <a:latin typeface="Calibri" panose="020F0502020204030204"/>
                <a:ea typeface="Calibri" panose="020F0502020204030204"/>
              </a:rPr>
              <a:t>dore</a:t>
            </a:r>
            <a:r>
              <a:rPr lang="en-US" sz="4600" b="1" u="none" strike="noStrike">
                <a:solidFill>
                  <a:srgbClr val="FFFFFF"/>
                </a:solidFill>
                <a:effectLst/>
                <a:uFillTx/>
                <a:latin typeface="Calibri" panose="020F0502020204030204"/>
                <a:ea typeface="Calibri" panose="020F0502020204030204"/>
              </a:rPr>
              <a:t>s de </a:t>
            </a:r>
            <a:r>
              <a:rPr lang="en-US" sz="4600" b="1" u="none" strike="noStrike">
                <a:solidFill>
                  <a:srgbClr val="FFFFFF"/>
                </a:solidFill>
                <a:effectLst/>
                <a:uFillTx/>
                <a:latin typeface="Calibri" panose="020F0502020204030204"/>
                <a:ea typeface="Calibri" panose="020F0502020204030204"/>
              </a:rPr>
              <a:t>la </a:t>
            </a:r>
            <a:r>
              <a:rPr lang="en-US" sz="4600" b="1" u="none" strike="noStrike">
                <a:solidFill>
                  <a:srgbClr val="FFFFFF"/>
                </a:solidFill>
                <a:effectLst/>
                <a:uFillTx/>
                <a:latin typeface="Calibri" panose="020F0502020204030204"/>
                <a:ea typeface="Calibri" panose="020F0502020204030204"/>
              </a:rPr>
              <a:t>NBA</a:t>
            </a:r>
            <a:endParaRPr lang="es-ES" sz="4600" b="0" u="none" strike="noStrike">
              <a:solidFill>
                <a:srgbClr val="FFFFFF"/>
              </a:solidFill>
              <a:effectLst/>
              <a:uFillTx/>
              <a:latin typeface="Arial" panose="020B0604020202020204"/>
            </a:endParaRPr>
          </a:p>
        </p:txBody>
      </p:sp>
      <p:sp>
        <p:nvSpPr>
          <p:cNvPr id="15" name="Text 4"/>
          <p:cNvSpPr/>
          <p:nvPr/>
        </p:nvSpPr>
        <p:spPr>
          <a:xfrm>
            <a:off x="548640" y="3520440"/>
            <a:ext cx="8229240" cy="4568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900" b="0" u="none" strike="noStrike">
                <a:solidFill>
                  <a:srgbClr val="AAB8D6"/>
                </a:solidFill>
                <a:effectLst/>
                <a:uFillTx/>
                <a:latin typeface="Calibri" panose="020F0502020204030204"/>
                <a:ea typeface="Calibri" panose="020F0502020204030204"/>
              </a:rPr>
              <a:t>Análisis univariado, multivariado y bivariado</a:t>
            </a:r>
            <a:endParaRPr lang="es-ES" sz="1900" b="0" u="none" strike="noStrike">
              <a:solidFill>
                <a:srgbClr val="FFFFFF"/>
              </a:solidFill>
              <a:effectLst/>
              <a:uFillTx/>
              <a:latin typeface="Arial" panose="020B0604020202020204"/>
            </a:endParaRPr>
          </a:p>
        </p:txBody>
      </p:sp>
      <p:sp>
        <p:nvSpPr>
          <p:cNvPr id="16" name="Text 5"/>
          <p:cNvSpPr/>
          <p:nvPr/>
        </p:nvSpPr>
        <p:spPr>
          <a:xfrm>
            <a:off x="548640" y="4709160"/>
            <a:ext cx="2331360" cy="4568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2200" b="1" u="none" strike="noStrike">
                <a:solidFill>
                  <a:srgbClr val="FF7A29"/>
                </a:solidFill>
                <a:effectLst/>
                <a:uFillTx/>
                <a:latin typeface="Calibri" panose="020F0502020204030204"/>
                <a:ea typeface="Calibri" panose="020F0502020204030204"/>
              </a:rPr>
              <a:t>1982 – 2022</a:t>
            </a:r>
            <a:endParaRPr lang="es-ES" sz="2200" b="0" u="none" strike="noStrike">
              <a:solidFill>
                <a:srgbClr val="FFFFFF"/>
              </a:solidFill>
              <a:effectLst/>
              <a:uFillTx/>
              <a:latin typeface="Arial" panose="020B0604020202020204"/>
            </a:endParaRPr>
          </a:p>
        </p:txBody>
      </p:sp>
      <p:sp>
        <p:nvSpPr>
          <p:cNvPr id="17" name="Text 6"/>
          <p:cNvSpPr/>
          <p:nvPr/>
        </p:nvSpPr>
        <p:spPr>
          <a:xfrm>
            <a:off x="548640" y="5166360"/>
            <a:ext cx="2331360" cy="36540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050" b="0" u="none" strike="noStrike">
                <a:solidFill>
                  <a:srgbClr val="AAB8D6"/>
                </a:solidFill>
                <a:effectLst/>
                <a:uFillTx/>
                <a:latin typeface="Calibri" panose="020F0502020204030204"/>
                <a:ea typeface="Calibri" panose="020F0502020204030204"/>
              </a:rPr>
              <a:t>Temporadas</a:t>
            </a:r>
            <a:endParaRPr lang="es-ES" sz="1050" b="0" u="none" strike="noStrike">
              <a:solidFill>
                <a:srgbClr val="FFFFFF"/>
              </a:solidFill>
              <a:effectLst/>
              <a:uFillTx/>
              <a:latin typeface="Arial" panose="020B0604020202020204"/>
            </a:endParaRPr>
          </a:p>
        </p:txBody>
      </p:sp>
      <p:sp>
        <p:nvSpPr>
          <p:cNvPr id="18" name="Text 7"/>
          <p:cNvSpPr/>
          <p:nvPr/>
        </p:nvSpPr>
        <p:spPr>
          <a:xfrm>
            <a:off x="3063240" y="4709160"/>
            <a:ext cx="2331360" cy="4568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2200" b="1" u="none" strike="noStrike">
                <a:solidFill>
                  <a:srgbClr val="FF7A29"/>
                </a:solidFill>
                <a:effectLst/>
                <a:uFillTx/>
                <a:latin typeface="Calibri" panose="020F0502020204030204"/>
                <a:ea typeface="Calibri" panose="020F0502020204030204"/>
              </a:rPr>
              <a:t>14.078</a:t>
            </a:r>
            <a:endParaRPr lang="es-ES" sz="2200" b="0" u="none" strike="noStrike">
              <a:solidFill>
                <a:srgbClr val="FFFFFF"/>
              </a:solidFill>
              <a:effectLst/>
              <a:uFillTx/>
              <a:latin typeface="Arial" panose="020B0604020202020204"/>
            </a:endParaRPr>
          </a:p>
        </p:txBody>
      </p:sp>
      <p:sp>
        <p:nvSpPr>
          <p:cNvPr id="19" name="Text 8"/>
          <p:cNvSpPr/>
          <p:nvPr/>
        </p:nvSpPr>
        <p:spPr>
          <a:xfrm>
            <a:off x="3063240" y="5166360"/>
            <a:ext cx="2331360" cy="36540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050" b="0" u="none" strike="noStrike">
                <a:solidFill>
                  <a:srgbClr val="AAB8D6"/>
                </a:solidFill>
                <a:effectLst/>
                <a:uFillTx/>
                <a:latin typeface="Calibri" panose="020F0502020204030204"/>
                <a:ea typeface="Calibri" panose="020F0502020204030204"/>
              </a:rPr>
              <a:t>Registros temporada-jugador</a:t>
            </a:r>
            <a:endParaRPr lang="es-ES" sz="1050" b="0" u="none" strike="noStrike">
              <a:solidFill>
                <a:srgbClr val="FFFFFF"/>
              </a:solidFill>
              <a:effectLst/>
              <a:uFillTx/>
              <a:latin typeface="Arial" panose="020B0604020202020204"/>
            </a:endParaRPr>
          </a:p>
        </p:txBody>
      </p:sp>
      <p:sp>
        <p:nvSpPr>
          <p:cNvPr id="20" name="Text 9"/>
          <p:cNvSpPr/>
          <p:nvPr/>
        </p:nvSpPr>
        <p:spPr>
          <a:xfrm>
            <a:off x="5577840" y="4709160"/>
            <a:ext cx="2331360" cy="4568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2200" b="1" u="none" strike="noStrike">
                <a:solidFill>
                  <a:srgbClr val="FF7A29"/>
                </a:solidFill>
                <a:effectLst/>
                <a:uFillTx/>
                <a:latin typeface="Calibri" panose="020F0502020204030204"/>
                <a:ea typeface="Calibri" panose="020F0502020204030204"/>
              </a:rPr>
              <a:t>2.695</a:t>
            </a:r>
            <a:endParaRPr lang="es-ES" sz="2200" b="0" u="none" strike="noStrike">
              <a:solidFill>
                <a:srgbClr val="FFFFFF"/>
              </a:solidFill>
              <a:effectLst/>
              <a:uFillTx/>
              <a:latin typeface="Arial" panose="020B0604020202020204"/>
            </a:endParaRPr>
          </a:p>
        </p:txBody>
      </p:sp>
      <p:sp>
        <p:nvSpPr>
          <p:cNvPr id="21" name="Text 10"/>
          <p:cNvSpPr/>
          <p:nvPr/>
        </p:nvSpPr>
        <p:spPr>
          <a:xfrm>
            <a:off x="5577840" y="5166360"/>
            <a:ext cx="2331360" cy="36540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050" b="0" u="none" strike="noStrike">
                <a:solidFill>
                  <a:srgbClr val="AAB8D6"/>
                </a:solidFill>
                <a:effectLst/>
                <a:uFillTx/>
                <a:latin typeface="Calibri" panose="020F0502020204030204"/>
                <a:ea typeface="Calibri" panose="020F0502020204030204"/>
              </a:rPr>
              <a:t>Jugadores distintos</a:t>
            </a:r>
            <a:endParaRPr lang="es-ES" sz="1050" b="0" u="none" strike="noStrike">
              <a:solidFill>
                <a:srgbClr val="FFFFFF"/>
              </a:solidFill>
              <a:effectLst/>
              <a:uFillTx/>
              <a:latin typeface="Arial" panose="020B0604020202020204"/>
            </a:endParaRPr>
          </a:p>
        </p:txBody>
      </p:sp>
      <p:sp>
        <p:nvSpPr>
          <p:cNvPr id="22" name="Text 11"/>
          <p:cNvSpPr/>
          <p:nvPr/>
        </p:nvSpPr>
        <p:spPr>
          <a:xfrm>
            <a:off x="8092440" y="4709160"/>
            <a:ext cx="2331360" cy="4568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2200" b="1" u="none" strike="noStrike">
                <a:solidFill>
                  <a:srgbClr val="FF7A29"/>
                </a:solidFill>
                <a:effectLst/>
                <a:uFillTx/>
                <a:latin typeface="Calibri" panose="020F0502020204030204"/>
                <a:ea typeface="Calibri" panose="020F0502020204030204"/>
              </a:rPr>
              <a:t>55</a:t>
            </a:r>
            <a:endParaRPr lang="es-ES" sz="2200" b="0" u="none" strike="noStrike">
              <a:solidFill>
                <a:srgbClr val="FFFFFF"/>
              </a:solidFill>
              <a:effectLst/>
              <a:uFillTx/>
              <a:latin typeface="Arial" panose="020B0604020202020204"/>
            </a:endParaRPr>
          </a:p>
        </p:txBody>
      </p:sp>
      <p:sp>
        <p:nvSpPr>
          <p:cNvPr id="23" name="Text 12"/>
          <p:cNvSpPr/>
          <p:nvPr/>
        </p:nvSpPr>
        <p:spPr>
          <a:xfrm>
            <a:off x="8092440" y="5166360"/>
            <a:ext cx="2331360" cy="36540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050" b="0" u="none" strike="noStrike">
                <a:solidFill>
                  <a:srgbClr val="AAB8D6"/>
                </a:solidFill>
                <a:effectLst/>
                <a:uFillTx/>
                <a:latin typeface="Calibri" panose="020F0502020204030204"/>
                <a:ea typeface="Calibri" panose="020F0502020204030204"/>
              </a:rPr>
              <a:t>Variables</a:t>
            </a:r>
            <a:endParaRPr lang="es-ES" sz="1050" b="0" u="none" strike="noStrike">
              <a:solidFill>
                <a:srgbClr val="FFFFFF"/>
              </a:solidFill>
              <a:effectLst/>
              <a:uFillTx/>
              <a:latin typeface="Arial" panose="020B0604020202020204"/>
            </a:endParaRPr>
          </a:p>
        </p:txBody>
      </p:sp>
      <p:sp>
        <p:nvSpPr>
          <p:cNvPr id="24" name="Text 13"/>
          <p:cNvSpPr/>
          <p:nvPr/>
        </p:nvSpPr>
        <p:spPr>
          <a:xfrm>
            <a:off x="548640" y="5650920"/>
            <a:ext cx="8777880" cy="27396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1050" b="1" u="none" strike="noStrike">
                <a:solidFill>
                  <a:srgbClr val="FF7A29"/>
                </a:solidFill>
                <a:effectLst/>
                <a:uFillTx/>
                <a:latin typeface="Calibri" panose="020F0502020204030204"/>
                <a:ea typeface="Calibri" panose="020F0502020204030204"/>
              </a:rPr>
              <a:t>Julian David Pulido </a:t>
            </a:r>
            <a:r>
              <a:rPr lang="es-CO" altLang="en-US" sz="1050" b="1" u="none" strike="noStrike">
                <a:solidFill>
                  <a:srgbClr val="FF7A29"/>
                </a:solidFill>
                <a:effectLst/>
                <a:uFillTx/>
                <a:latin typeface="Calibri" panose="020F0502020204030204"/>
                <a:ea typeface="Calibri" panose="020F0502020204030204"/>
              </a:rPr>
              <a:t>-</a:t>
            </a:r>
            <a:r>
              <a:rPr lang="en-US" sz="1050" b="1" u="none" strike="noStrike">
                <a:solidFill>
                  <a:srgbClr val="FF7A29"/>
                </a:solidFill>
                <a:effectLst/>
                <a:uFillTx/>
                <a:latin typeface="Calibri" panose="020F0502020204030204"/>
                <a:ea typeface="Calibri" panose="020F0502020204030204"/>
              </a:rPr>
              <a:t> 20231020064   ·   Andrey Camilo González Cáceres </a:t>
            </a:r>
            <a:r>
              <a:rPr lang="es-CO" altLang="en-US" sz="1050" b="1" u="none" strike="noStrike">
                <a:solidFill>
                  <a:srgbClr val="FF7A29"/>
                </a:solidFill>
                <a:effectLst/>
                <a:uFillTx/>
                <a:latin typeface="Calibri" panose="020F0502020204030204"/>
                <a:ea typeface="Calibri" panose="020F0502020204030204"/>
              </a:rPr>
              <a:t>-</a:t>
            </a:r>
            <a:r>
              <a:rPr lang="en-US" sz="1050" b="1" u="none" strike="noStrike">
                <a:solidFill>
                  <a:srgbClr val="FF7A29"/>
                </a:solidFill>
                <a:effectLst/>
                <a:uFillTx/>
                <a:latin typeface="Calibri" panose="020F0502020204030204"/>
                <a:ea typeface="Calibri" panose="020F0502020204030204"/>
              </a:rPr>
              <a:t> 20231020070</a:t>
            </a:r>
            <a:r>
              <a:rPr lang="es-CO" altLang="en-US" sz="1050" b="1" u="none" strike="noStrike">
                <a:solidFill>
                  <a:srgbClr val="FF7A29"/>
                </a:solidFill>
                <a:effectLst/>
                <a:uFillTx/>
                <a:latin typeface="Calibri" panose="020F0502020204030204"/>
                <a:ea typeface="Calibri" panose="020F0502020204030204"/>
              </a:rPr>
              <a:t> </a:t>
            </a:r>
            <a:r>
              <a:rPr lang="en-US" sz="1050" b="1">
                <a:solidFill>
                  <a:srgbClr val="FF7A29"/>
                </a:solidFill>
                <a:effectLst/>
                <a:uFillTx/>
                <a:latin typeface="Calibri" panose="020F0502020204030204"/>
                <a:ea typeface="Calibri" panose="020F0502020204030204"/>
                <a:sym typeface="+mn-ea"/>
              </a:rPr>
              <a:t>· </a:t>
            </a:r>
            <a:r>
              <a:rPr lang="en-US" sz="1050" b="1" u="none" strike="noStrike">
                <a:solidFill>
                  <a:srgbClr val="FF7A29"/>
                </a:solidFill>
                <a:effectLst/>
                <a:uFillTx/>
                <a:latin typeface="Calibri" panose="020F0502020204030204"/>
                <a:ea typeface="Calibri" panose="020F0502020204030204"/>
              </a:rPr>
              <a:t>David Martinez Rincon 20222020167</a:t>
            </a:r>
            <a:endParaRPr lang="es-ES" sz="1050" b="0" u="none" strike="noStrike">
              <a:solidFill>
                <a:srgbClr val="FFFFFF"/>
              </a:solidFill>
              <a:effectLst/>
              <a:uFillTx/>
              <a:latin typeface="Arial" panose="020B0604020202020204"/>
            </a:endParaRPr>
          </a:p>
          <a:p>
            <a:pPr defTabSz="914400">
              <a:lnSpc>
                <a:spcPct val="100000"/>
              </a:lnSpc>
              <a:tabLst>
                <a:tab pos="0" algn="l"/>
              </a:tabLst>
            </a:pPr>
            <a:endParaRPr lang="es-ES" sz="1050" b="0" u="none" strike="noStrike">
              <a:solidFill>
                <a:srgbClr val="FFFFFF"/>
              </a:solidFill>
              <a:effectLst/>
              <a:uFillTx/>
              <a:latin typeface="Arial" panose="020B0604020202020204"/>
            </a:endParaRPr>
          </a:p>
        </p:txBody>
      </p:sp>
      <p:sp>
        <p:nvSpPr>
          <p:cNvPr id="25" name="Shape 14"/>
          <p:cNvSpPr/>
          <p:nvPr/>
        </p:nvSpPr>
        <p:spPr>
          <a:xfrm>
            <a:off x="548640" y="5989320"/>
            <a:ext cx="8778240" cy="360"/>
          </a:xfrm>
          <a:prstGeom prst="line">
            <a:avLst/>
          </a:prstGeom>
          <a:ln w="12700">
            <a:solidFill>
              <a:srgbClr val="2A3F63"/>
            </a:solidFill>
            <a:round/>
          </a:ln>
        </p:spPr>
        <p:style>
          <a:lnRef idx="0">
            <a:srgbClr val="FFFFFF"/>
          </a:lnRef>
          <a:fillRef idx="0">
            <a:srgbClr val="FFFFFF"/>
          </a:fillRef>
          <a:effectRef idx="0">
            <a:srgbClr val="FFFFFF"/>
          </a:effectRef>
          <a:fontRef idx="minor"/>
        </p:style>
        <p:txBody>
          <a:bodyPr lIns="90000" tIns="-44640" rIns="90000" bIns="-44640" anchor="t" anchorCtr="1">
            <a:noAutofit/>
          </a:bodyPr>
          <a:p>
            <a:endParaRPr lang="es-ES" sz="1800" b="0" u="none" strike="noStrike">
              <a:solidFill>
                <a:srgbClr val="FFFFFF"/>
              </a:solidFill>
              <a:effectLst/>
              <a:uFillTx/>
              <a:latin typeface="Arial" panose="020B0604020202020204"/>
            </a:endParaRPr>
          </a:p>
        </p:txBody>
      </p:sp>
      <p:sp>
        <p:nvSpPr>
          <p:cNvPr id="26" name="Text 15"/>
          <p:cNvSpPr/>
          <p:nvPr/>
        </p:nvSpPr>
        <p:spPr>
          <a:xfrm>
            <a:off x="548640" y="6108120"/>
            <a:ext cx="6400440" cy="31968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1050" b="0" u="none" strike="noStrike">
                <a:solidFill>
                  <a:srgbClr val="AAB8D6"/>
                </a:solidFill>
                <a:effectLst/>
                <a:uFillTx/>
                <a:latin typeface="Calibri" panose="020F0502020204030204"/>
                <a:ea typeface="Calibri" panose="020F0502020204030204"/>
              </a:rPr>
              <a:t>Dataset depurado nbaFINAL.csv  ·  Fuente original: Basketball-Reference</a:t>
            </a:r>
            <a:endParaRPr lang="es-ES" sz="1050" b="0" u="none" strike="noStrike">
              <a:solidFill>
                <a:srgbClr val="FFFFFF"/>
              </a:solidFill>
              <a:effectLst/>
              <a:uFillTx/>
              <a:latin typeface="Arial" panose="020B0604020202020204"/>
            </a:endParaRPr>
          </a:p>
        </p:txBody>
      </p:sp>
      <p:sp>
        <p:nvSpPr>
          <p:cNvPr id="27" name="Text 16"/>
          <p:cNvSpPr/>
          <p:nvPr/>
        </p:nvSpPr>
        <p:spPr>
          <a:xfrm>
            <a:off x="8899920" y="6108120"/>
            <a:ext cx="2742840" cy="31968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algn="r" defTabSz="914400">
              <a:lnSpc>
                <a:spcPct val="100000"/>
              </a:lnSpc>
              <a:tabLst>
                <a:tab pos="0" algn="l"/>
              </a:tabLst>
            </a:pPr>
            <a:r>
              <a:rPr lang="en-US" sz="1050" b="0" u="none" strike="noStrike">
                <a:solidFill>
                  <a:srgbClr val="AAB8D6"/>
                </a:solidFill>
                <a:effectLst/>
                <a:uFillTx/>
                <a:latin typeface="Calibri" panose="020F0502020204030204"/>
                <a:ea typeface="Calibri" panose="020F0502020204030204"/>
              </a:rPr>
              <a:t>18 de septiembre de 2026</a:t>
            </a:r>
            <a:endParaRPr lang="es-ES" sz="1050" b="0" u="none" strike="noStrike">
              <a:solidFill>
                <a:srgbClr val="FFFFFF"/>
              </a:solidFill>
              <a:effectLst/>
              <a:uFillTx/>
              <a:latin typeface="Arial" panose="020B0604020202020204"/>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4F6F9"/>
        </a:solidFill>
        <a:effectLst/>
      </p:bgPr>
    </p:bg>
    <p:spTree>
      <p:nvGrpSpPr>
        <p:cNvPr id="1" name=""/>
        <p:cNvGrpSpPr/>
        <p:nvPr/>
      </p:nvGrpSpPr>
      <p:grpSpPr>
        <a:xfrm>
          <a:off x="0" y="0"/>
          <a:ext cx="0" cy="0"/>
          <a:chOff x="0" y="0"/>
          <a:chExt cx="0" cy="0"/>
        </a:xfrm>
      </p:grpSpPr>
      <p:sp>
        <p:nvSpPr>
          <p:cNvPr id="28" name="Text 0"/>
          <p:cNvSpPr/>
          <p:nvPr/>
        </p:nvSpPr>
        <p:spPr>
          <a:xfrm>
            <a:off x="548640" y="411480"/>
            <a:ext cx="7314840" cy="2923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1150" b="1" u="none" strike="noStrike" spc="201">
                <a:solidFill>
                  <a:srgbClr val="E1590F"/>
                </a:solidFill>
                <a:effectLst/>
                <a:uFillTx/>
                <a:latin typeface="Calibri" panose="020F0502020204030204"/>
                <a:ea typeface="Calibri" panose="020F0502020204030204"/>
              </a:rPr>
              <a:t>01 · EL DATASET</a:t>
            </a:r>
            <a:endParaRPr lang="es-ES" sz="1150" b="0" u="none" strike="noStrike">
              <a:solidFill>
                <a:srgbClr val="000000"/>
              </a:solidFill>
              <a:effectLst/>
              <a:uFillTx/>
              <a:latin typeface="Arial" panose="020B0604020202020204"/>
            </a:endParaRPr>
          </a:p>
        </p:txBody>
      </p:sp>
      <p:sp>
        <p:nvSpPr>
          <p:cNvPr id="29" name="Text 1"/>
          <p:cNvSpPr/>
          <p:nvPr/>
        </p:nvSpPr>
        <p:spPr>
          <a:xfrm>
            <a:off x="548640" y="749880"/>
            <a:ext cx="11094120" cy="59400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2000"/>
              </a:lnSpc>
              <a:tabLst>
                <a:tab pos="0" algn="l"/>
              </a:tabLst>
            </a:pPr>
            <a:r>
              <a:rPr lang="en-US" sz="2900" b="1" u="none" strike="noStrike">
                <a:solidFill>
                  <a:srgbClr val="0B1E3D"/>
                </a:solidFill>
                <a:effectLst/>
                <a:uFillTx/>
                <a:latin typeface="Calibri" panose="020F0502020204030204"/>
                <a:ea typeface="Calibri" panose="020F0502020204030204"/>
              </a:rPr>
              <a:t>Descripción del dataset</a:t>
            </a:r>
            <a:endParaRPr lang="es-ES" sz="2900" b="0" u="none" strike="noStrike">
              <a:solidFill>
                <a:srgbClr val="000000"/>
              </a:solidFill>
              <a:effectLst/>
              <a:uFillTx/>
              <a:latin typeface="Arial" panose="020B0604020202020204"/>
            </a:endParaRPr>
          </a:p>
        </p:txBody>
      </p:sp>
      <p:sp>
        <p:nvSpPr>
          <p:cNvPr id="30" name="Text 2"/>
          <p:cNvSpPr/>
          <p:nvPr/>
        </p:nvSpPr>
        <p:spPr>
          <a:xfrm>
            <a:off x="548640" y="1353240"/>
            <a:ext cx="11094120" cy="50256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15000"/>
              </a:lnSpc>
              <a:tabLst>
                <a:tab pos="0" algn="l"/>
              </a:tabLst>
            </a:pPr>
            <a:r>
              <a:rPr lang="en-US" sz="1350" b="0" u="none" strike="noStrike">
                <a:solidFill>
                  <a:srgbClr val="5B6B85"/>
                </a:solidFill>
                <a:effectLst/>
                <a:uFillTx/>
                <a:latin typeface="Calibri" panose="020F0502020204030204"/>
                <a:ea typeface="Calibri" panose="020F0502020204030204"/>
              </a:rPr>
              <a:t>Cada fila representa el desempeño de un jugador en una temporada. Si un jugador fue transferido a mitad de año, aparece con una fila por cada franquicia en la que jugó.</a:t>
            </a:r>
            <a:endParaRPr lang="es-ES" sz="1350" b="0" u="none" strike="noStrike">
              <a:solidFill>
                <a:srgbClr val="000000"/>
              </a:solidFill>
              <a:effectLst/>
              <a:uFillTx/>
              <a:latin typeface="Arial" panose="020B0604020202020204"/>
            </a:endParaRPr>
          </a:p>
        </p:txBody>
      </p:sp>
      <p:sp>
        <p:nvSpPr>
          <p:cNvPr id="31" name="Text 3"/>
          <p:cNvSpPr/>
          <p:nvPr/>
        </p:nvSpPr>
        <p:spPr>
          <a:xfrm>
            <a:off x="548640" y="2057400"/>
            <a:ext cx="2498760" cy="59400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3800" b="1" u="none" strike="noStrike">
                <a:solidFill>
                  <a:srgbClr val="0B1E3D"/>
                </a:solidFill>
                <a:effectLst/>
                <a:uFillTx/>
                <a:latin typeface="Calibri" panose="020F0502020204030204"/>
                <a:ea typeface="Calibri" panose="020F0502020204030204"/>
              </a:rPr>
              <a:t>14.078</a:t>
            </a:r>
            <a:endParaRPr lang="es-ES" sz="3800" b="0" u="none" strike="noStrike">
              <a:solidFill>
                <a:srgbClr val="000000"/>
              </a:solidFill>
              <a:effectLst/>
              <a:uFillTx/>
              <a:latin typeface="Arial" panose="020B0604020202020204"/>
            </a:endParaRPr>
          </a:p>
        </p:txBody>
      </p:sp>
      <p:sp>
        <p:nvSpPr>
          <p:cNvPr id="32" name="Text 4"/>
          <p:cNvSpPr/>
          <p:nvPr/>
        </p:nvSpPr>
        <p:spPr>
          <a:xfrm>
            <a:off x="548640" y="2651760"/>
            <a:ext cx="2498760" cy="27396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050" b="0" u="none" strike="noStrike">
                <a:solidFill>
                  <a:srgbClr val="5B6B85"/>
                </a:solidFill>
                <a:effectLst/>
                <a:uFillTx/>
                <a:latin typeface="Calibri" panose="020F0502020204030204"/>
                <a:ea typeface="Calibri" panose="020F0502020204030204"/>
              </a:rPr>
              <a:t>registros temporada-jugador</a:t>
            </a:r>
            <a:endParaRPr lang="es-ES" sz="1050" b="0" u="none" strike="noStrike">
              <a:solidFill>
                <a:srgbClr val="000000"/>
              </a:solidFill>
              <a:effectLst/>
              <a:uFillTx/>
              <a:latin typeface="Arial" panose="020B0604020202020204"/>
            </a:endParaRPr>
          </a:p>
        </p:txBody>
      </p:sp>
      <p:sp>
        <p:nvSpPr>
          <p:cNvPr id="33" name="Text 5"/>
          <p:cNvSpPr/>
          <p:nvPr/>
        </p:nvSpPr>
        <p:spPr>
          <a:xfrm>
            <a:off x="3322080" y="2057400"/>
            <a:ext cx="2498760" cy="59400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3800" b="1" u="none" strike="noStrike">
                <a:solidFill>
                  <a:srgbClr val="0B1E3D"/>
                </a:solidFill>
                <a:effectLst/>
                <a:uFillTx/>
                <a:latin typeface="Calibri" panose="020F0502020204030204"/>
                <a:ea typeface="Calibri" panose="020F0502020204030204"/>
              </a:rPr>
              <a:t>55</a:t>
            </a:r>
            <a:endParaRPr lang="es-ES" sz="3800" b="0" u="none" strike="noStrike">
              <a:solidFill>
                <a:srgbClr val="000000"/>
              </a:solidFill>
              <a:effectLst/>
              <a:uFillTx/>
              <a:latin typeface="Arial" panose="020B0604020202020204"/>
            </a:endParaRPr>
          </a:p>
        </p:txBody>
      </p:sp>
      <p:sp>
        <p:nvSpPr>
          <p:cNvPr id="34" name="Text 6"/>
          <p:cNvSpPr/>
          <p:nvPr/>
        </p:nvSpPr>
        <p:spPr>
          <a:xfrm>
            <a:off x="3322080" y="2651760"/>
            <a:ext cx="2498760" cy="27396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050" b="0" u="none" strike="noStrike">
                <a:solidFill>
                  <a:srgbClr val="5B6B85"/>
                </a:solidFill>
                <a:effectLst/>
                <a:uFillTx/>
                <a:latin typeface="Calibri" panose="020F0502020204030204"/>
                <a:ea typeface="Calibri" panose="020F0502020204030204"/>
              </a:rPr>
              <a:t>variables</a:t>
            </a:r>
            <a:endParaRPr lang="es-ES" sz="1050" b="0" u="none" strike="noStrike">
              <a:solidFill>
                <a:srgbClr val="000000"/>
              </a:solidFill>
              <a:effectLst/>
              <a:uFillTx/>
              <a:latin typeface="Arial" panose="020B0604020202020204"/>
            </a:endParaRPr>
          </a:p>
        </p:txBody>
      </p:sp>
      <p:sp>
        <p:nvSpPr>
          <p:cNvPr id="35" name="Text 7"/>
          <p:cNvSpPr/>
          <p:nvPr/>
        </p:nvSpPr>
        <p:spPr>
          <a:xfrm>
            <a:off x="6095880" y="2057400"/>
            <a:ext cx="2498760" cy="59400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3800" b="1" u="none" strike="noStrike">
                <a:solidFill>
                  <a:srgbClr val="0B1E3D"/>
                </a:solidFill>
                <a:effectLst/>
                <a:uFillTx/>
                <a:latin typeface="Calibri" panose="020F0502020204030204"/>
                <a:ea typeface="Calibri" panose="020F0502020204030204"/>
              </a:rPr>
              <a:t>2.695</a:t>
            </a:r>
            <a:endParaRPr lang="es-ES" sz="3800" b="0" u="none" strike="noStrike">
              <a:solidFill>
                <a:srgbClr val="000000"/>
              </a:solidFill>
              <a:effectLst/>
              <a:uFillTx/>
              <a:latin typeface="Arial" panose="020B0604020202020204"/>
            </a:endParaRPr>
          </a:p>
        </p:txBody>
      </p:sp>
      <p:sp>
        <p:nvSpPr>
          <p:cNvPr id="36" name="Text 8"/>
          <p:cNvSpPr/>
          <p:nvPr/>
        </p:nvSpPr>
        <p:spPr>
          <a:xfrm>
            <a:off x="6095880" y="2651760"/>
            <a:ext cx="2498760" cy="27396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050" b="0" u="none" strike="noStrike">
                <a:solidFill>
                  <a:srgbClr val="5B6B85"/>
                </a:solidFill>
                <a:effectLst/>
                <a:uFillTx/>
                <a:latin typeface="Calibri" panose="020F0502020204030204"/>
                <a:ea typeface="Calibri" panose="020F0502020204030204"/>
              </a:rPr>
              <a:t>jugadores distintos</a:t>
            </a:r>
            <a:endParaRPr lang="es-ES" sz="1050" b="0" u="none" strike="noStrike">
              <a:solidFill>
                <a:srgbClr val="000000"/>
              </a:solidFill>
              <a:effectLst/>
              <a:uFillTx/>
              <a:latin typeface="Arial" panose="020B0604020202020204"/>
            </a:endParaRPr>
          </a:p>
        </p:txBody>
      </p:sp>
      <p:sp>
        <p:nvSpPr>
          <p:cNvPr id="37" name="Text 9"/>
          <p:cNvSpPr/>
          <p:nvPr/>
        </p:nvSpPr>
        <p:spPr>
          <a:xfrm>
            <a:off x="8869320" y="2057400"/>
            <a:ext cx="2498760" cy="59400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3800" b="1" u="none" strike="noStrike">
                <a:solidFill>
                  <a:srgbClr val="0B1E3D"/>
                </a:solidFill>
                <a:effectLst/>
                <a:uFillTx/>
                <a:latin typeface="Calibri" panose="020F0502020204030204"/>
                <a:ea typeface="Calibri" panose="020F0502020204030204"/>
              </a:rPr>
              <a:t>41</a:t>
            </a:r>
            <a:endParaRPr lang="es-ES" sz="3800" b="0" u="none" strike="noStrike">
              <a:solidFill>
                <a:srgbClr val="000000"/>
              </a:solidFill>
              <a:effectLst/>
              <a:uFillTx/>
              <a:latin typeface="Arial" panose="020B0604020202020204"/>
            </a:endParaRPr>
          </a:p>
        </p:txBody>
      </p:sp>
      <p:sp>
        <p:nvSpPr>
          <p:cNvPr id="38" name="Text 10"/>
          <p:cNvSpPr/>
          <p:nvPr/>
        </p:nvSpPr>
        <p:spPr>
          <a:xfrm>
            <a:off x="8869320" y="2651760"/>
            <a:ext cx="2498760" cy="27396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050" b="0" u="none" strike="noStrike">
                <a:solidFill>
                  <a:srgbClr val="5B6B85"/>
                </a:solidFill>
                <a:effectLst/>
                <a:uFillTx/>
                <a:latin typeface="Calibri" panose="020F0502020204030204"/>
                <a:ea typeface="Calibri" panose="020F0502020204030204"/>
              </a:rPr>
              <a:t>temporadas (1982–2022)</a:t>
            </a:r>
            <a:endParaRPr lang="es-ES" sz="1050" b="0" u="none" strike="noStrike">
              <a:solidFill>
                <a:srgbClr val="000000"/>
              </a:solidFill>
              <a:effectLst/>
              <a:uFillTx/>
              <a:latin typeface="Arial" panose="020B0604020202020204"/>
            </a:endParaRPr>
          </a:p>
        </p:txBody>
      </p:sp>
      <p:sp>
        <p:nvSpPr>
          <p:cNvPr id="39" name="Shape 11"/>
          <p:cNvSpPr/>
          <p:nvPr/>
        </p:nvSpPr>
        <p:spPr>
          <a:xfrm>
            <a:off x="548640" y="3264480"/>
            <a:ext cx="456840" cy="456840"/>
          </a:xfrm>
          <a:prstGeom prst="ellipse">
            <a:avLst/>
          </a:prstGeom>
          <a:solidFill>
            <a:srgbClr val="FDEBDD"/>
          </a:solidFill>
          <a:ln w="0">
            <a:noFill/>
          </a:ln>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pic>
        <p:nvPicPr>
          <p:cNvPr id="40" name="Image 0" descr="/tmp/claude-0/-home-claude/c0a8783c-8817-5425-bc4f-190e5f64548a/scratchpad/work/icons/users_E1590F.png"/>
          <p:cNvPicPr/>
          <p:nvPr/>
        </p:nvPicPr>
        <p:blipFill>
          <a:blip r:embed="rId1"/>
          <a:stretch>
            <a:fillRect/>
          </a:stretch>
        </p:blipFill>
        <p:spPr>
          <a:xfrm>
            <a:off x="658440" y="3374280"/>
            <a:ext cx="237240" cy="237240"/>
          </a:xfrm>
          <a:prstGeom prst="rect">
            <a:avLst/>
          </a:prstGeom>
          <a:noFill/>
          <a:ln w="0">
            <a:noFill/>
          </a:ln>
        </p:spPr>
      </p:pic>
      <p:sp>
        <p:nvSpPr>
          <p:cNvPr id="41" name="Text 12"/>
          <p:cNvSpPr/>
          <p:nvPr/>
        </p:nvSpPr>
        <p:spPr>
          <a:xfrm>
            <a:off x="1188720" y="3246120"/>
            <a:ext cx="2377080" cy="77688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1350" b="1" u="none" strike="noStrike">
                <a:solidFill>
                  <a:srgbClr val="0B1E3D"/>
                </a:solidFill>
                <a:effectLst/>
                <a:uFillTx/>
                <a:latin typeface="Calibri" panose="020F0502020204030204"/>
                <a:ea typeface="Calibri" panose="020F0502020204030204"/>
              </a:rPr>
              <a:t>Identificación</a:t>
            </a:r>
            <a:endParaRPr lang="es-ES" sz="1350" b="0" u="none" strike="noStrike">
              <a:solidFill>
                <a:srgbClr val="000000"/>
              </a:solidFill>
              <a:effectLst/>
              <a:uFillTx/>
              <a:latin typeface="Arial" panose="020B0604020202020204"/>
            </a:endParaRPr>
          </a:p>
        </p:txBody>
      </p:sp>
      <p:sp>
        <p:nvSpPr>
          <p:cNvPr id="42" name="Text 13"/>
          <p:cNvSpPr/>
          <p:nvPr/>
        </p:nvSpPr>
        <p:spPr>
          <a:xfrm>
            <a:off x="3657600" y="3246120"/>
            <a:ext cx="7985160" cy="77688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10000"/>
              </a:lnSpc>
              <a:tabLst>
                <a:tab pos="0" algn="l"/>
              </a:tabLst>
            </a:pPr>
            <a:r>
              <a:rPr lang="en-US" sz="1200" b="0" u="none" strike="noStrike">
                <a:solidFill>
                  <a:srgbClr val="12203D"/>
                </a:solidFill>
                <a:effectLst/>
                <a:uFillTx/>
                <a:latin typeface="Calibri" panose="020F0502020204030204"/>
                <a:ea typeface="Calibri" panose="020F0502020204030204"/>
              </a:rPr>
              <a:t>Nombre del jugador; es texto libre, no una clave única garantizada.</a:t>
            </a:r>
            <a:endParaRPr lang="es-ES" sz="1200" b="0" u="none" strike="noStrike">
              <a:solidFill>
                <a:srgbClr val="000000"/>
              </a:solidFill>
              <a:effectLst/>
              <a:uFillTx/>
              <a:latin typeface="Arial" panose="020B0604020202020204"/>
            </a:endParaRPr>
          </a:p>
        </p:txBody>
      </p:sp>
      <p:sp>
        <p:nvSpPr>
          <p:cNvPr id="43" name="Shape 14"/>
          <p:cNvSpPr/>
          <p:nvPr/>
        </p:nvSpPr>
        <p:spPr>
          <a:xfrm>
            <a:off x="548640" y="4151520"/>
            <a:ext cx="456840" cy="456840"/>
          </a:xfrm>
          <a:prstGeom prst="ellipse">
            <a:avLst/>
          </a:prstGeom>
          <a:solidFill>
            <a:srgbClr val="FDEBDD"/>
          </a:solidFill>
          <a:ln w="0">
            <a:noFill/>
          </a:ln>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pic>
        <p:nvPicPr>
          <p:cNvPr id="44" name="Image 1" descr="/tmp/claude-0/-home-claude/c0a8783c-8817-5425-bc4f-190e5f64548a/scratchpad/work/icons/list_E1590F.png"/>
          <p:cNvPicPr/>
          <p:nvPr/>
        </p:nvPicPr>
        <p:blipFill>
          <a:blip r:embed="rId2"/>
          <a:stretch>
            <a:fillRect/>
          </a:stretch>
        </p:blipFill>
        <p:spPr>
          <a:xfrm>
            <a:off x="658440" y="4260960"/>
            <a:ext cx="237240" cy="237240"/>
          </a:xfrm>
          <a:prstGeom prst="rect">
            <a:avLst/>
          </a:prstGeom>
          <a:noFill/>
          <a:ln w="0">
            <a:noFill/>
          </a:ln>
        </p:spPr>
      </p:pic>
      <p:sp>
        <p:nvSpPr>
          <p:cNvPr id="45" name="Text 15"/>
          <p:cNvSpPr/>
          <p:nvPr/>
        </p:nvSpPr>
        <p:spPr>
          <a:xfrm>
            <a:off x="1188720" y="4133160"/>
            <a:ext cx="2377080" cy="77688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1350" b="1" u="none" strike="noStrike">
                <a:solidFill>
                  <a:srgbClr val="0B1E3D"/>
                </a:solidFill>
                <a:effectLst/>
                <a:uFillTx/>
                <a:latin typeface="Calibri" panose="020F0502020204030204"/>
                <a:ea typeface="Calibri" panose="020F0502020204030204"/>
              </a:rPr>
              <a:t>Categóricas</a:t>
            </a:r>
            <a:endParaRPr lang="es-ES" sz="1350" b="0" u="none" strike="noStrike">
              <a:solidFill>
                <a:srgbClr val="000000"/>
              </a:solidFill>
              <a:effectLst/>
              <a:uFillTx/>
              <a:latin typeface="Arial" panose="020B0604020202020204"/>
            </a:endParaRPr>
          </a:p>
        </p:txBody>
      </p:sp>
      <p:sp>
        <p:nvSpPr>
          <p:cNvPr id="46" name="Text 16"/>
          <p:cNvSpPr/>
          <p:nvPr/>
        </p:nvSpPr>
        <p:spPr>
          <a:xfrm>
            <a:off x="3657600" y="4133160"/>
            <a:ext cx="7985160" cy="77688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10000"/>
              </a:lnSpc>
              <a:tabLst>
                <a:tab pos="0" algn="l"/>
              </a:tabLst>
            </a:pPr>
            <a:r>
              <a:rPr lang="en-US" sz="1200" b="0" u="none" strike="noStrike">
                <a:solidFill>
                  <a:srgbClr val="12203D"/>
                </a:solidFill>
                <a:effectLst/>
                <a:uFillTx/>
                <a:latin typeface="Calibri" panose="020F0502020204030204"/>
                <a:ea typeface="Calibri" panose="020F0502020204030204"/>
              </a:rPr>
              <a:t>Posición de juego (5 categorías) y equipo / franquicia (40 códigos).</a:t>
            </a:r>
            <a:endParaRPr lang="es-ES" sz="1200" b="0" u="none" strike="noStrike">
              <a:solidFill>
                <a:srgbClr val="000000"/>
              </a:solidFill>
              <a:effectLst/>
              <a:uFillTx/>
              <a:latin typeface="Arial" panose="020B0604020202020204"/>
            </a:endParaRPr>
          </a:p>
        </p:txBody>
      </p:sp>
      <p:sp>
        <p:nvSpPr>
          <p:cNvPr id="47" name="Shape 17"/>
          <p:cNvSpPr/>
          <p:nvPr/>
        </p:nvSpPr>
        <p:spPr>
          <a:xfrm>
            <a:off x="548640" y="5038200"/>
            <a:ext cx="456840" cy="456840"/>
          </a:xfrm>
          <a:prstGeom prst="ellipse">
            <a:avLst/>
          </a:prstGeom>
          <a:solidFill>
            <a:srgbClr val="FDEBDD"/>
          </a:solidFill>
          <a:ln w="0">
            <a:noFill/>
          </a:ln>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pic>
        <p:nvPicPr>
          <p:cNvPr id="48" name="Image 2" descr="/tmp/claude-0/-home-claude/c0a8783c-8817-5425-bc4f-190e5f64548a/scratchpad/work/icons/chartbar_E1590F.png"/>
          <p:cNvPicPr/>
          <p:nvPr/>
        </p:nvPicPr>
        <p:blipFill>
          <a:blip r:embed="rId3"/>
          <a:stretch>
            <a:fillRect/>
          </a:stretch>
        </p:blipFill>
        <p:spPr>
          <a:xfrm>
            <a:off x="658440" y="5148000"/>
            <a:ext cx="237240" cy="237240"/>
          </a:xfrm>
          <a:prstGeom prst="rect">
            <a:avLst/>
          </a:prstGeom>
          <a:noFill/>
          <a:ln w="0">
            <a:noFill/>
          </a:ln>
        </p:spPr>
      </p:pic>
      <p:sp>
        <p:nvSpPr>
          <p:cNvPr id="49" name="Text 18"/>
          <p:cNvSpPr/>
          <p:nvPr/>
        </p:nvSpPr>
        <p:spPr>
          <a:xfrm>
            <a:off x="1188720" y="5020200"/>
            <a:ext cx="2377080" cy="77688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1350" b="1" u="none" strike="noStrike">
                <a:solidFill>
                  <a:srgbClr val="0B1E3D"/>
                </a:solidFill>
                <a:effectLst/>
                <a:uFillTx/>
                <a:latin typeface="Calibri" panose="020F0502020204030204"/>
                <a:ea typeface="Calibri" panose="020F0502020204030204"/>
              </a:rPr>
              <a:t>Numéricas discretas</a:t>
            </a:r>
            <a:endParaRPr lang="es-ES" sz="1350" b="0" u="none" strike="noStrike">
              <a:solidFill>
                <a:srgbClr val="000000"/>
              </a:solidFill>
              <a:effectLst/>
              <a:uFillTx/>
              <a:latin typeface="Arial" panose="020B0604020202020204"/>
            </a:endParaRPr>
          </a:p>
        </p:txBody>
      </p:sp>
      <p:sp>
        <p:nvSpPr>
          <p:cNvPr id="50" name="Text 19"/>
          <p:cNvSpPr/>
          <p:nvPr/>
        </p:nvSpPr>
        <p:spPr>
          <a:xfrm>
            <a:off x="3657600" y="5020200"/>
            <a:ext cx="7985160" cy="77688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10000"/>
              </a:lnSpc>
              <a:tabLst>
                <a:tab pos="0" algn="l"/>
              </a:tabLst>
            </a:pPr>
            <a:r>
              <a:rPr lang="en-US" sz="1200" b="0" u="none" strike="noStrike">
                <a:solidFill>
                  <a:srgbClr val="12203D"/>
                </a:solidFill>
                <a:effectLst/>
                <a:uFillTx/>
                <a:latin typeface="Calibri" panose="020F0502020204030204"/>
                <a:ea typeface="Calibri" panose="020F0502020204030204"/>
              </a:rPr>
              <a:t>Temporada, edad, partidos jugados, partidos como titular, minutos totales.</a:t>
            </a:r>
            <a:endParaRPr lang="es-ES" sz="1200" b="0" u="none" strike="noStrike">
              <a:solidFill>
                <a:srgbClr val="000000"/>
              </a:solidFill>
              <a:effectLst/>
              <a:uFillTx/>
              <a:latin typeface="Arial" panose="020B0604020202020204"/>
            </a:endParaRPr>
          </a:p>
        </p:txBody>
      </p:sp>
      <p:sp>
        <p:nvSpPr>
          <p:cNvPr id="51" name="Shape 20"/>
          <p:cNvSpPr/>
          <p:nvPr/>
        </p:nvSpPr>
        <p:spPr>
          <a:xfrm>
            <a:off x="548640" y="5925240"/>
            <a:ext cx="456840" cy="456840"/>
          </a:xfrm>
          <a:prstGeom prst="ellipse">
            <a:avLst/>
          </a:prstGeom>
          <a:solidFill>
            <a:srgbClr val="FDEBDD"/>
          </a:solidFill>
          <a:ln w="0">
            <a:noFill/>
          </a:ln>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pic>
        <p:nvPicPr>
          <p:cNvPr id="52" name="Image 3" descr="/tmp/claude-0/-home-claude/c0a8783c-8817-5425-bc4f-190e5f64548a/scratchpad/work/icons/chartline_E1590F.png"/>
          <p:cNvPicPr/>
          <p:nvPr/>
        </p:nvPicPr>
        <p:blipFill>
          <a:blip r:embed="rId4"/>
          <a:stretch>
            <a:fillRect/>
          </a:stretch>
        </p:blipFill>
        <p:spPr>
          <a:xfrm>
            <a:off x="658440" y="6035040"/>
            <a:ext cx="237240" cy="237240"/>
          </a:xfrm>
          <a:prstGeom prst="rect">
            <a:avLst/>
          </a:prstGeom>
          <a:noFill/>
          <a:ln w="0">
            <a:noFill/>
          </a:ln>
        </p:spPr>
      </p:pic>
      <p:sp>
        <p:nvSpPr>
          <p:cNvPr id="53" name="Text 21"/>
          <p:cNvSpPr/>
          <p:nvPr/>
        </p:nvSpPr>
        <p:spPr>
          <a:xfrm>
            <a:off x="1188720" y="5906880"/>
            <a:ext cx="2377080" cy="77688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1350" b="1" u="none" strike="noStrike">
                <a:solidFill>
                  <a:srgbClr val="0B1E3D"/>
                </a:solidFill>
                <a:effectLst/>
                <a:uFillTx/>
                <a:latin typeface="Calibri" panose="020F0502020204030204"/>
                <a:ea typeface="Calibri" panose="020F0502020204030204"/>
              </a:rPr>
              <a:t>Numéricas continuas</a:t>
            </a:r>
            <a:endParaRPr lang="es-ES" sz="1350" b="0" u="none" strike="noStrike">
              <a:solidFill>
                <a:srgbClr val="000000"/>
              </a:solidFill>
              <a:effectLst/>
              <a:uFillTx/>
              <a:latin typeface="Arial" panose="020B0604020202020204"/>
            </a:endParaRPr>
          </a:p>
        </p:txBody>
      </p:sp>
      <p:sp>
        <p:nvSpPr>
          <p:cNvPr id="54" name="Text 22"/>
          <p:cNvSpPr/>
          <p:nvPr/>
        </p:nvSpPr>
        <p:spPr>
          <a:xfrm>
            <a:off x="3657600" y="5906880"/>
            <a:ext cx="7985160" cy="77688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10000"/>
              </a:lnSpc>
              <a:tabLst>
                <a:tab pos="0" algn="l"/>
              </a:tabLst>
            </a:pPr>
            <a:r>
              <a:rPr lang="en-US" sz="1200" b="0" u="none" strike="noStrike">
                <a:solidFill>
                  <a:srgbClr val="12203D"/>
                </a:solidFill>
                <a:effectLst/>
                <a:uFillTx/>
                <a:latin typeface="Calibri" panose="020F0502020204030204"/>
                <a:ea typeface="Calibri" panose="020F0502020204030204"/>
              </a:rPr>
              <a:t>Estadísticas por partido, % de tiro, métricas por posesión (PER, WS, BPM, VORP), indicadores de equipo.</a:t>
            </a:r>
            <a:endParaRPr lang="es-ES" sz="1200" b="0" u="none" strike="noStrike">
              <a:solidFill>
                <a:srgbClr val="000000"/>
              </a:solidFill>
              <a:effectLst/>
              <a:uFillTx/>
              <a:latin typeface="Arial" panose="020B0604020202020204"/>
            </a:endParaRPr>
          </a:p>
        </p:txBody>
      </p:sp>
      <p:pic>
        <p:nvPicPr>
          <p:cNvPr id="55" name="Image 4" descr="/tmp/claude-0/-home-claude/c0a8783c-8817-5425-bc4f-190e5f64548a/scratchpad/work/icons/basketball_E1590F.png"/>
          <p:cNvPicPr/>
          <p:nvPr/>
        </p:nvPicPr>
        <p:blipFill>
          <a:blip r:embed="rId5"/>
          <a:stretch>
            <a:fillRect/>
          </a:stretch>
        </p:blipFill>
        <p:spPr>
          <a:xfrm>
            <a:off x="548640" y="6546960"/>
            <a:ext cx="145800" cy="145800"/>
          </a:xfrm>
          <a:prstGeom prst="rect">
            <a:avLst/>
          </a:prstGeom>
          <a:noFill/>
          <a:ln w="0">
            <a:noFill/>
          </a:ln>
        </p:spPr>
      </p:pic>
      <p:sp>
        <p:nvSpPr>
          <p:cNvPr id="56" name="Text 23"/>
          <p:cNvSpPr/>
          <p:nvPr/>
        </p:nvSpPr>
        <p:spPr>
          <a:xfrm>
            <a:off x="768240" y="6510600"/>
            <a:ext cx="45716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850" b="0" u="none" strike="noStrike">
                <a:solidFill>
                  <a:srgbClr val="5B6B85"/>
                </a:solidFill>
                <a:effectLst/>
                <a:uFillTx/>
                <a:latin typeface="Calibri" panose="020F0502020204030204"/>
                <a:ea typeface="Calibri" panose="020F0502020204030204"/>
              </a:rPr>
              <a:t>01 · El dataset</a:t>
            </a:r>
            <a:endParaRPr lang="es-ES" sz="850" b="0" u="none" strike="noStrike">
              <a:solidFill>
                <a:srgbClr val="000000"/>
              </a:solidFill>
              <a:effectLst/>
              <a:uFillTx/>
              <a:latin typeface="Arial" panose="020B0604020202020204"/>
            </a:endParaRPr>
          </a:p>
        </p:txBody>
      </p:sp>
      <p:sp>
        <p:nvSpPr>
          <p:cNvPr id="57" name="Text 24"/>
          <p:cNvSpPr/>
          <p:nvPr/>
        </p:nvSpPr>
        <p:spPr>
          <a:xfrm>
            <a:off x="10271520" y="6510600"/>
            <a:ext cx="1371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algn="r" defTabSz="914400">
              <a:lnSpc>
                <a:spcPct val="100000"/>
              </a:lnSpc>
              <a:tabLst>
                <a:tab pos="0" algn="l"/>
              </a:tabLst>
            </a:pPr>
            <a:r>
              <a:rPr lang="en-US" sz="850" b="0" u="none" strike="noStrike">
                <a:solidFill>
                  <a:srgbClr val="5B6B85"/>
                </a:solidFill>
                <a:effectLst/>
                <a:uFillTx/>
                <a:latin typeface="Calibri" panose="020F0502020204030204"/>
                <a:ea typeface="Calibri" panose="020F0502020204030204"/>
              </a:rPr>
              <a:t>02 / 23</a:t>
            </a:r>
            <a:endParaRPr lang="es-ES" sz="850" b="0" u="none" strike="noStrike">
              <a:solidFill>
                <a:srgbClr val="000000"/>
              </a:solidFill>
              <a:effectLst/>
              <a:uFillTx/>
              <a:latin typeface="Arial" panose="020B0604020202020204"/>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6F9"/>
        </a:solidFill>
        <a:effectLst/>
      </p:bgPr>
    </p:bg>
    <p:spTree>
      <p:nvGrpSpPr>
        <p:cNvPr id="1" name=""/>
        <p:cNvGrpSpPr/>
        <p:nvPr/>
      </p:nvGrpSpPr>
      <p:grpSpPr>
        <a:xfrm>
          <a:off x="0" y="0"/>
          <a:ext cx="0" cy="0"/>
          <a:chOff x="0" y="0"/>
          <a:chExt cx="0" cy="0"/>
        </a:xfrm>
      </p:grpSpPr>
      <p:sp>
        <p:nvSpPr>
          <p:cNvPr id="58" name="Text 0"/>
          <p:cNvSpPr/>
          <p:nvPr/>
        </p:nvSpPr>
        <p:spPr>
          <a:xfrm>
            <a:off x="548640" y="411480"/>
            <a:ext cx="7314840" cy="2923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1150" b="1" u="none" strike="noStrike" spc="201">
                <a:solidFill>
                  <a:srgbClr val="E1590F"/>
                </a:solidFill>
                <a:effectLst/>
                <a:uFillTx/>
                <a:latin typeface="Calibri" panose="020F0502020204030204"/>
                <a:ea typeface="Calibri" panose="020F0502020204030204"/>
              </a:rPr>
              <a:t>01 · EL DATASET</a:t>
            </a:r>
            <a:endParaRPr lang="es-ES" sz="1150" b="0" u="none" strike="noStrike">
              <a:solidFill>
                <a:srgbClr val="000000"/>
              </a:solidFill>
              <a:effectLst/>
              <a:uFillTx/>
              <a:latin typeface="Arial" panose="020B0604020202020204"/>
            </a:endParaRPr>
          </a:p>
        </p:txBody>
      </p:sp>
      <p:sp>
        <p:nvSpPr>
          <p:cNvPr id="59" name="Text 1"/>
          <p:cNvSpPr/>
          <p:nvPr/>
        </p:nvSpPr>
        <p:spPr>
          <a:xfrm>
            <a:off x="548640" y="749880"/>
            <a:ext cx="11094120" cy="59400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2000"/>
              </a:lnSpc>
              <a:tabLst>
                <a:tab pos="0" algn="l"/>
              </a:tabLst>
            </a:pPr>
            <a:r>
              <a:rPr lang="en-US" sz="2900" b="1" u="none" strike="noStrike">
                <a:solidFill>
                  <a:srgbClr val="0B1E3D"/>
                </a:solidFill>
                <a:effectLst/>
                <a:uFillTx/>
                <a:latin typeface="Calibri" panose="020F0502020204030204"/>
                <a:ea typeface="Calibri" panose="020F0502020204030204"/>
              </a:rPr>
              <a:t>Tres decisiones de limpieza</a:t>
            </a:r>
            <a:endParaRPr lang="es-ES" sz="2900" b="0" u="none" strike="noStrike">
              <a:solidFill>
                <a:srgbClr val="000000"/>
              </a:solidFill>
              <a:effectLst/>
              <a:uFillTx/>
              <a:latin typeface="Arial" panose="020B0604020202020204"/>
            </a:endParaRPr>
          </a:p>
        </p:txBody>
      </p:sp>
      <p:sp>
        <p:nvSpPr>
          <p:cNvPr id="60" name="Text 2"/>
          <p:cNvSpPr/>
          <p:nvPr/>
        </p:nvSpPr>
        <p:spPr>
          <a:xfrm>
            <a:off x="548640" y="1353240"/>
            <a:ext cx="11094120" cy="36540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15000"/>
              </a:lnSpc>
              <a:tabLst>
                <a:tab pos="0" algn="l"/>
              </a:tabLst>
            </a:pPr>
            <a:r>
              <a:rPr lang="en-US" sz="1350" b="0" u="none" strike="noStrike">
                <a:solidFill>
                  <a:srgbClr val="5B6B85"/>
                </a:solidFill>
                <a:effectLst/>
                <a:uFillTx/>
                <a:latin typeface="Calibri" panose="020F0502020204030204"/>
                <a:ea typeface="Calibri" panose="020F0502020204030204"/>
              </a:rPr>
              <a:t>El archivo depurado no es el original. Estas tres decisiones condicionan todo el análisis posterior.</a:t>
            </a:r>
            <a:endParaRPr lang="es-ES" sz="1350" b="0" u="none" strike="noStrike">
              <a:solidFill>
                <a:srgbClr val="000000"/>
              </a:solidFill>
              <a:effectLst/>
              <a:uFillTx/>
              <a:latin typeface="Arial" panose="020B0604020202020204"/>
            </a:endParaRPr>
          </a:p>
        </p:txBody>
      </p:sp>
      <p:sp>
        <p:nvSpPr>
          <p:cNvPr id="61" name="Shape 3"/>
          <p:cNvSpPr/>
          <p:nvPr/>
        </p:nvSpPr>
        <p:spPr>
          <a:xfrm>
            <a:off x="548640" y="1965960"/>
            <a:ext cx="3453840" cy="3245760"/>
          </a:xfrm>
          <a:prstGeom prst="roundRect">
            <a:avLst>
              <a:gd name="adj" fmla="val 2254"/>
            </a:avLst>
          </a:prstGeom>
          <a:solidFill>
            <a:srgbClr val="FFFFFF"/>
          </a:solidFill>
          <a:ln w="0">
            <a:noFill/>
          </a:ln>
          <a:effectLst>
            <a:outerShdw blurRad="114480" dist="38160" dir="5400000" algn="bl" rotWithShape="0">
              <a:srgbClr val="8798AD">
                <a:alpha val="30000"/>
              </a:srgbClr>
            </a:outerShdw>
          </a:effectLst>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sp>
        <p:nvSpPr>
          <p:cNvPr id="62" name="Text 4"/>
          <p:cNvSpPr/>
          <p:nvPr/>
        </p:nvSpPr>
        <p:spPr>
          <a:xfrm>
            <a:off x="777240" y="2148840"/>
            <a:ext cx="2996640" cy="6397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3400" b="1" u="none" strike="noStrike">
                <a:solidFill>
                  <a:srgbClr val="FF7A29"/>
                </a:solidFill>
                <a:effectLst/>
                <a:uFillTx/>
                <a:latin typeface="Calibri" panose="020F0502020204030204"/>
                <a:ea typeface="Calibri" panose="020F0502020204030204"/>
              </a:rPr>
              <a:t>01</a:t>
            </a:r>
            <a:endParaRPr lang="es-ES" sz="3400" b="0" u="none" strike="noStrike">
              <a:solidFill>
                <a:srgbClr val="000000"/>
              </a:solidFill>
              <a:effectLst/>
              <a:uFillTx/>
              <a:latin typeface="Arial" panose="020B0604020202020204"/>
            </a:endParaRPr>
          </a:p>
        </p:txBody>
      </p:sp>
      <p:sp>
        <p:nvSpPr>
          <p:cNvPr id="63" name="Text 5"/>
          <p:cNvSpPr/>
          <p:nvPr/>
        </p:nvSpPr>
        <p:spPr>
          <a:xfrm>
            <a:off x="777240" y="2834640"/>
            <a:ext cx="2996640" cy="6854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8000"/>
              </a:lnSpc>
              <a:tabLst>
                <a:tab pos="0" algn="l"/>
              </a:tabLst>
            </a:pPr>
            <a:r>
              <a:rPr lang="en-US" sz="1450" b="1" u="none" strike="noStrike">
                <a:solidFill>
                  <a:srgbClr val="0B1E3D"/>
                </a:solidFill>
                <a:effectLst/>
                <a:uFillTx/>
                <a:latin typeface="Calibri" panose="020F0502020204030204"/>
                <a:ea typeface="Calibri" panose="020F0502020204030204"/>
              </a:rPr>
              <a:t>Filtro de minutos_totales ≥ 100</a:t>
            </a:r>
            <a:endParaRPr lang="es-ES" sz="1450" b="0" u="none" strike="noStrike">
              <a:solidFill>
                <a:srgbClr val="000000"/>
              </a:solidFill>
              <a:effectLst/>
              <a:uFillTx/>
              <a:latin typeface="Arial" panose="020B0604020202020204"/>
            </a:endParaRPr>
          </a:p>
        </p:txBody>
      </p:sp>
      <p:sp>
        <p:nvSpPr>
          <p:cNvPr id="64" name="Text 6"/>
          <p:cNvSpPr/>
          <p:nvPr/>
        </p:nvSpPr>
        <p:spPr>
          <a:xfrm>
            <a:off x="777240" y="3566160"/>
            <a:ext cx="2996640" cy="15541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18000"/>
              </a:lnSpc>
              <a:tabLst>
                <a:tab pos="0" algn="l"/>
              </a:tabLst>
            </a:pPr>
            <a:r>
              <a:rPr lang="en-US" sz="1150" b="0" u="none" strike="noStrike">
                <a:solidFill>
                  <a:srgbClr val="12203D"/>
                </a:solidFill>
                <a:effectLst/>
                <a:uFillTx/>
                <a:latin typeface="Calibri" panose="020F0502020204030204"/>
                <a:ea typeface="Calibri" panose="020F0502020204030204"/>
              </a:rPr>
              <a:t>Elimina las participaciones marginales. Las métricas de tasa (PER, BPM, WS/48) son cocientes y tomaban valores absurdos con uno o dos minutos jugados. Con el filtro, el PER queda acotado a un rango plausible de −4,8 a 32,8.</a:t>
            </a:r>
            <a:endParaRPr lang="es-ES" sz="1150" b="0" u="none" strike="noStrike">
              <a:solidFill>
                <a:srgbClr val="000000"/>
              </a:solidFill>
              <a:effectLst/>
              <a:uFillTx/>
              <a:latin typeface="Arial" panose="020B0604020202020204"/>
            </a:endParaRPr>
          </a:p>
        </p:txBody>
      </p:sp>
      <p:sp>
        <p:nvSpPr>
          <p:cNvPr id="65" name="Shape 7"/>
          <p:cNvSpPr/>
          <p:nvPr/>
        </p:nvSpPr>
        <p:spPr>
          <a:xfrm>
            <a:off x="4368600" y="1965960"/>
            <a:ext cx="3453840" cy="3245760"/>
          </a:xfrm>
          <a:prstGeom prst="roundRect">
            <a:avLst>
              <a:gd name="adj" fmla="val 2254"/>
            </a:avLst>
          </a:prstGeom>
          <a:solidFill>
            <a:srgbClr val="FFFFFF"/>
          </a:solidFill>
          <a:ln w="0">
            <a:noFill/>
          </a:ln>
          <a:effectLst>
            <a:outerShdw blurRad="1451610000" dist="483869880" algn="bl" rotWithShape="0">
              <a:srgbClr val="8798AD">
                <a:alpha val="0"/>
              </a:srgbClr>
            </a:outerShdw>
          </a:effectLst>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sp>
        <p:nvSpPr>
          <p:cNvPr id="66" name="Text 8"/>
          <p:cNvSpPr/>
          <p:nvPr/>
        </p:nvSpPr>
        <p:spPr>
          <a:xfrm>
            <a:off x="4597200" y="2148840"/>
            <a:ext cx="2996640" cy="6397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3400" b="1" u="none" strike="noStrike">
                <a:solidFill>
                  <a:srgbClr val="FF7A29"/>
                </a:solidFill>
                <a:effectLst/>
                <a:uFillTx/>
                <a:latin typeface="Calibri" panose="020F0502020204030204"/>
                <a:ea typeface="Calibri" panose="020F0502020204030204"/>
              </a:rPr>
              <a:t>02</a:t>
            </a:r>
            <a:endParaRPr lang="es-ES" sz="3400" b="0" u="none" strike="noStrike">
              <a:solidFill>
                <a:srgbClr val="000000"/>
              </a:solidFill>
              <a:effectLst/>
              <a:uFillTx/>
              <a:latin typeface="Arial" panose="020B0604020202020204"/>
            </a:endParaRPr>
          </a:p>
        </p:txBody>
      </p:sp>
      <p:sp>
        <p:nvSpPr>
          <p:cNvPr id="67" name="Text 9"/>
          <p:cNvSpPr/>
          <p:nvPr/>
        </p:nvSpPr>
        <p:spPr>
          <a:xfrm>
            <a:off x="4597200" y="2834640"/>
            <a:ext cx="2996640" cy="6854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8000"/>
              </a:lnSpc>
              <a:tabLst>
                <a:tab pos="0" algn="l"/>
              </a:tabLst>
            </a:pPr>
            <a:r>
              <a:rPr lang="en-US" sz="1450" b="1" u="none" strike="noStrike">
                <a:solidFill>
                  <a:srgbClr val="0B1E3D"/>
                </a:solidFill>
                <a:effectLst/>
                <a:uFillTx/>
                <a:latin typeface="Calibri" panose="020F0502020204030204"/>
                <a:ea typeface="Calibri" panose="020F0502020204030204"/>
              </a:rPr>
              <a:t>Eliminación de las filas "TOT"</a:t>
            </a:r>
            <a:endParaRPr lang="es-ES" sz="1450" b="0" u="none" strike="noStrike">
              <a:solidFill>
                <a:srgbClr val="000000"/>
              </a:solidFill>
              <a:effectLst/>
              <a:uFillTx/>
              <a:latin typeface="Arial" panose="020B0604020202020204"/>
            </a:endParaRPr>
          </a:p>
        </p:txBody>
      </p:sp>
      <p:sp>
        <p:nvSpPr>
          <p:cNvPr id="68" name="Text 10"/>
          <p:cNvSpPr/>
          <p:nvPr/>
        </p:nvSpPr>
        <p:spPr>
          <a:xfrm>
            <a:off x="4597200" y="3566160"/>
            <a:ext cx="2996640" cy="15541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18000"/>
              </a:lnSpc>
              <a:tabLst>
                <a:tab pos="0" algn="l"/>
              </a:tabLst>
            </a:pPr>
            <a:r>
              <a:rPr lang="en-US" sz="1150" b="0" u="none" strike="noStrike">
                <a:solidFill>
                  <a:srgbClr val="12203D"/>
                </a:solidFill>
                <a:effectLst/>
                <a:uFillTx/>
                <a:latin typeface="Calibri" panose="020F0502020204030204"/>
                <a:ea typeface="Calibri" panose="020F0502020204030204"/>
              </a:rPr>
              <a:t>Las filas-resumen de jugadores transferidos a mitad de temporada no corresponden a ninguna franquicia real y duplicaban minutos ya contabilizados. El dataset queda con 0 filas "TOT".</a:t>
            </a:r>
            <a:endParaRPr lang="es-ES" sz="1150" b="0" u="none" strike="noStrike">
              <a:solidFill>
                <a:srgbClr val="000000"/>
              </a:solidFill>
              <a:effectLst/>
              <a:uFillTx/>
              <a:latin typeface="Arial" panose="020B0604020202020204"/>
            </a:endParaRPr>
          </a:p>
        </p:txBody>
      </p:sp>
      <p:sp>
        <p:nvSpPr>
          <p:cNvPr id="69" name="Shape 11"/>
          <p:cNvSpPr/>
          <p:nvPr/>
        </p:nvSpPr>
        <p:spPr>
          <a:xfrm>
            <a:off x="8188920" y="1965960"/>
            <a:ext cx="3453840" cy="3245760"/>
          </a:xfrm>
          <a:prstGeom prst="roundRect">
            <a:avLst>
              <a:gd name="adj" fmla="val 2254"/>
            </a:avLst>
          </a:prstGeom>
          <a:solidFill>
            <a:srgbClr val="FFFFFF"/>
          </a:solidFill>
          <a:ln w="0">
            <a:noFill/>
          </a:ln>
          <a:effectLst>
            <a:outerShdw algn="bl" rotWithShape="0">
              <a:srgbClr val="8798AD">
                <a:alpha val="0"/>
              </a:srgbClr>
            </a:outerShdw>
          </a:effectLst>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sp>
        <p:nvSpPr>
          <p:cNvPr id="70" name="Text 12"/>
          <p:cNvSpPr/>
          <p:nvPr/>
        </p:nvSpPr>
        <p:spPr>
          <a:xfrm>
            <a:off x="8417520" y="2148840"/>
            <a:ext cx="2996640" cy="6397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3400" b="1" u="none" strike="noStrike">
                <a:solidFill>
                  <a:srgbClr val="FF7A29"/>
                </a:solidFill>
                <a:effectLst/>
                <a:uFillTx/>
                <a:latin typeface="Calibri" panose="020F0502020204030204"/>
                <a:ea typeface="Calibri" panose="020F0502020204030204"/>
              </a:rPr>
              <a:t>03</a:t>
            </a:r>
            <a:endParaRPr lang="es-ES" sz="3400" b="0" u="none" strike="noStrike">
              <a:solidFill>
                <a:srgbClr val="000000"/>
              </a:solidFill>
              <a:effectLst/>
              <a:uFillTx/>
              <a:latin typeface="Arial" panose="020B0604020202020204"/>
            </a:endParaRPr>
          </a:p>
        </p:txBody>
      </p:sp>
      <p:sp>
        <p:nvSpPr>
          <p:cNvPr id="71" name="Text 13"/>
          <p:cNvSpPr/>
          <p:nvPr/>
        </p:nvSpPr>
        <p:spPr>
          <a:xfrm>
            <a:off x="8417520" y="2834640"/>
            <a:ext cx="2996640" cy="6854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8000"/>
              </a:lnSpc>
              <a:tabLst>
                <a:tab pos="0" algn="l"/>
              </a:tabLst>
            </a:pPr>
            <a:r>
              <a:rPr lang="en-US" sz="1450" b="1" u="none" strike="noStrike">
                <a:solidFill>
                  <a:srgbClr val="0B1E3D"/>
                </a:solidFill>
                <a:effectLst/>
                <a:uFillTx/>
                <a:latin typeface="Calibri" panose="020F0502020204030204"/>
                <a:ea typeface="Calibri" panose="020F0502020204030204"/>
              </a:rPr>
              <a:t>Posición consolidada en 5 categorías</a:t>
            </a:r>
            <a:endParaRPr lang="es-ES" sz="1450" b="0" u="none" strike="noStrike">
              <a:solidFill>
                <a:srgbClr val="000000"/>
              </a:solidFill>
              <a:effectLst/>
              <a:uFillTx/>
              <a:latin typeface="Arial" panose="020B0604020202020204"/>
            </a:endParaRPr>
          </a:p>
        </p:txBody>
      </p:sp>
      <p:sp>
        <p:nvSpPr>
          <p:cNvPr id="72" name="Text 14"/>
          <p:cNvSpPr/>
          <p:nvPr/>
        </p:nvSpPr>
        <p:spPr>
          <a:xfrm>
            <a:off x="8417520" y="3566160"/>
            <a:ext cx="2996640" cy="15541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18000"/>
              </a:lnSpc>
              <a:tabLst>
                <a:tab pos="0" algn="l"/>
              </a:tabLst>
            </a:pPr>
            <a:r>
              <a:rPr lang="en-US" sz="1150" b="0" u="none" strike="noStrike">
                <a:solidFill>
                  <a:srgbClr val="12203D"/>
                </a:solidFill>
                <a:effectLst/>
                <a:uFillTx/>
                <a:latin typeface="Calibri" panose="020F0502020204030204"/>
                <a:ea typeface="Calibri" panose="020F0502020204030204"/>
              </a:rPr>
              <a:t>Las combinaciones híbridas poco frecuentes ("SG-PF", "SG-PG-SF") se resolvieron a la posición principal, dejando C, PF, SF, SG y PG con tamaños de muestra comparables.</a:t>
            </a:r>
            <a:endParaRPr lang="es-ES" sz="1150" b="0" u="none" strike="noStrike">
              <a:solidFill>
                <a:srgbClr val="000000"/>
              </a:solidFill>
              <a:effectLst/>
              <a:uFillTx/>
              <a:latin typeface="Arial" panose="020B0604020202020204"/>
            </a:endParaRPr>
          </a:p>
        </p:txBody>
      </p:sp>
      <p:sp>
        <p:nvSpPr>
          <p:cNvPr id="73" name="Shape 15"/>
          <p:cNvSpPr/>
          <p:nvPr/>
        </p:nvSpPr>
        <p:spPr>
          <a:xfrm>
            <a:off x="548640" y="5440680"/>
            <a:ext cx="11094120" cy="776880"/>
          </a:xfrm>
          <a:prstGeom prst="roundRect">
            <a:avLst>
              <a:gd name="adj" fmla="val 9412"/>
            </a:avLst>
          </a:prstGeom>
          <a:solidFill>
            <a:srgbClr val="0B1E3D"/>
          </a:solidFill>
          <a:ln w="0">
            <a:noFill/>
          </a:ln>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FFFFFF"/>
              </a:solidFill>
              <a:effectLst/>
              <a:uFillTx/>
              <a:latin typeface="Arial" panose="020B0604020202020204"/>
            </a:endParaRPr>
          </a:p>
        </p:txBody>
      </p:sp>
      <p:sp>
        <p:nvSpPr>
          <p:cNvPr id="74" name="Text 16"/>
          <p:cNvSpPr/>
          <p:nvPr/>
        </p:nvSpPr>
        <p:spPr>
          <a:xfrm>
            <a:off x="822960" y="5440680"/>
            <a:ext cx="10545480" cy="77688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15000"/>
              </a:lnSpc>
              <a:tabLst>
                <a:tab pos="0" algn="l"/>
              </a:tabLst>
            </a:pPr>
            <a:r>
              <a:rPr lang="en-US" sz="1250" b="1" u="none" strike="noStrike">
                <a:solidFill>
                  <a:srgbClr val="FF7A29"/>
                </a:solidFill>
                <a:effectLst/>
                <a:uFillTx/>
                <a:latin typeface="Calibri" panose="020F0502020204030204"/>
                <a:ea typeface="Calibri" panose="020F0502020204030204"/>
              </a:rPr>
              <a:t>Resultado:  </a:t>
            </a:r>
            <a:r>
              <a:rPr lang="en-US" sz="1250" b="0" u="none" strike="noStrike">
                <a:solidFill>
                  <a:srgbClr val="FFFFFF"/>
                </a:solidFill>
                <a:effectLst/>
                <a:uFillTx/>
                <a:latin typeface="Calibri" panose="020F0502020204030204"/>
                <a:ea typeface="Calibri" panose="020F0502020204030204"/>
              </a:rPr>
              <a:t>99,80% de celdas completas. Los NA bajan a 1.578 celdas (0,20%) concentradas en 3 columnas de porcentaje de tiro, y todas las métricas avanzadas quedan sin ningún valor faltante.</a:t>
            </a:r>
            <a:endParaRPr lang="es-ES" sz="1250" b="0" u="none" strike="noStrike">
              <a:solidFill>
                <a:srgbClr val="000000"/>
              </a:solidFill>
              <a:effectLst/>
              <a:uFillTx/>
              <a:latin typeface="Arial" panose="020B0604020202020204"/>
            </a:endParaRPr>
          </a:p>
        </p:txBody>
      </p:sp>
      <p:pic>
        <p:nvPicPr>
          <p:cNvPr id="75" name="Image 0" descr="/tmp/claude-0/-home-claude/c0a8783c-8817-5425-bc4f-190e5f64548a/scratchpad/work/icons/basketball_E1590F.png"/>
          <p:cNvPicPr/>
          <p:nvPr/>
        </p:nvPicPr>
        <p:blipFill>
          <a:blip r:embed="rId1"/>
          <a:stretch>
            <a:fillRect/>
          </a:stretch>
        </p:blipFill>
        <p:spPr>
          <a:xfrm>
            <a:off x="548640" y="6546960"/>
            <a:ext cx="145800" cy="145800"/>
          </a:xfrm>
          <a:prstGeom prst="rect">
            <a:avLst/>
          </a:prstGeom>
          <a:noFill/>
          <a:ln w="0">
            <a:noFill/>
          </a:ln>
        </p:spPr>
      </p:pic>
      <p:sp>
        <p:nvSpPr>
          <p:cNvPr id="76" name="Text 17"/>
          <p:cNvSpPr/>
          <p:nvPr/>
        </p:nvSpPr>
        <p:spPr>
          <a:xfrm>
            <a:off x="768240" y="6510600"/>
            <a:ext cx="45716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850" b="0" u="none" strike="noStrike">
                <a:solidFill>
                  <a:srgbClr val="5B6B85"/>
                </a:solidFill>
                <a:effectLst/>
                <a:uFillTx/>
                <a:latin typeface="Calibri" panose="020F0502020204030204"/>
                <a:ea typeface="Calibri" panose="020F0502020204030204"/>
              </a:rPr>
              <a:t>01 · El dataset</a:t>
            </a:r>
            <a:endParaRPr lang="es-ES" sz="850" b="0" u="none" strike="noStrike">
              <a:solidFill>
                <a:srgbClr val="000000"/>
              </a:solidFill>
              <a:effectLst/>
              <a:uFillTx/>
              <a:latin typeface="Arial" panose="020B0604020202020204"/>
            </a:endParaRPr>
          </a:p>
        </p:txBody>
      </p:sp>
      <p:sp>
        <p:nvSpPr>
          <p:cNvPr id="77" name="Text 18"/>
          <p:cNvSpPr/>
          <p:nvPr/>
        </p:nvSpPr>
        <p:spPr>
          <a:xfrm>
            <a:off x="10271520" y="6510600"/>
            <a:ext cx="1371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algn="r" defTabSz="914400">
              <a:lnSpc>
                <a:spcPct val="100000"/>
              </a:lnSpc>
              <a:tabLst>
                <a:tab pos="0" algn="l"/>
              </a:tabLst>
            </a:pPr>
            <a:r>
              <a:rPr lang="en-US" sz="850" b="0" u="none" strike="noStrike">
                <a:solidFill>
                  <a:srgbClr val="5B6B85"/>
                </a:solidFill>
                <a:effectLst/>
                <a:uFillTx/>
                <a:latin typeface="Calibri" panose="020F0502020204030204"/>
                <a:ea typeface="Calibri" panose="020F0502020204030204"/>
              </a:rPr>
              <a:t>03 / 23</a:t>
            </a:r>
            <a:endParaRPr lang="es-ES" sz="850" b="0" u="none" strike="noStrike">
              <a:solidFill>
                <a:srgbClr val="000000"/>
              </a:solidFill>
              <a:effectLst/>
              <a:uFillTx/>
              <a:latin typeface="Arial" panose="020B0604020202020204"/>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6F9"/>
        </a:solidFill>
        <a:effectLst/>
      </p:bgPr>
    </p:bg>
    <p:spTree>
      <p:nvGrpSpPr>
        <p:cNvPr id="1" name=""/>
        <p:cNvGrpSpPr/>
        <p:nvPr/>
      </p:nvGrpSpPr>
      <p:grpSpPr>
        <a:xfrm>
          <a:off x="0" y="0"/>
          <a:ext cx="0" cy="0"/>
          <a:chOff x="0" y="0"/>
          <a:chExt cx="0" cy="0"/>
        </a:xfrm>
      </p:grpSpPr>
      <p:sp>
        <p:nvSpPr>
          <p:cNvPr id="78" name="Text 0"/>
          <p:cNvSpPr/>
          <p:nvPr/>
        </p:nvSpPr>
        <p:spPr>
          <a:xfrm>
            <a:off x="548640" y="411480"/>
            <a:ext cx="7314840" cy="2923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1150" b="1" u="none" strike="noStrike" spc="201">
                <a:solidFill>
                  <a:srgbClr val="E1590F"/>
                </a:solidFill>
                <a:effectLst/>
                <a:uFillTx/>
                <a:latin typeface="Calibri" panose="020F0502020204030204"/>
                <a:ea typeface="Calibri" panose="020F0502020204030204"/>
              </a:rPr>
              <a:t>01 · EL DATASET</a:t>
            </a:r>
            <a:endParaRPr lang="es-ES" sz="1150" b="0" u="none" strike="noStrike">
              <a:solidFill>
                <a:srgbClr val="000000"/>
              </a:solidFill>
              <a:effectLst/>
              <a:uFillTx/>
              <a:latin typeface="Arial" panose="020B0604020202020204"/>
            </a:endParaRPr>
          </a:p>
        </p:txBody>
      </p:sp>
      <p:sp>
        <p:nvSpPr>
          <p:cNvPr id="79" name="Text 1"/>
          <p:cNvSpPr/>
          <p:nvPr/>
        </p:nvSpPr>
        <p:spPr>
          <a:xfrm>
            <a:off x="548640" y="749880"/>
            <a:ext cx="11094120" cy="59400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2000"/>
              </a:lnSpc>
              <a:tabLst>
                <a:tab pos="0" algn="l"/>
              </a:tabLst>
            </a:pPr>
            <a:r>
              <a:rPr lang="en-US" sz="2900" b="1" u="none" strike="noStrike">
                <a:solidFill>
                  <a:srgbClr val="0B1E3D"/>
                </a:solidFill>
                <a:effectLst/>
                <a:uFillTx/>
                <a:latin typeface="Calibri" panose="020F0502020204030204"/>
                <a:ea typeface="Calibri" panose="020F0502020204030204"/>
              </a:rPr>
              <a:t>Diccionario de datos — 10 variables clave</a:t>
            </a:r>
            <a:endParaRPr lang="es-ES" sz="2900" b="0" u="none" strike="noStrike">
              <a:solidFill>
                <a:srgbClr val="000000"/>
              </a:solidFill>
              <a:effectLst/>
              <a:uFillTx/>
              <a:latin typeface="Arial" panose="020B0604020202020204"/>
            </a:endParaRPr>
          </a:p>
        </p:txBody>
      </p:sp>
      <p:sp>
        <p:nvSpPr>
          <p:cNvPr id="80" name="Text 2"/>
          <p:cNvSpPr/>
          <p:nvPr/>
        </p:nvSpPr>
        <p:spPr>
          <a:xfrm>
            <a:off x="548640" y="1353240"/>
            <a:ext cx="11094120" cy="54828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15000"/>
              </a:lnSpc>
              <a:tabLst>
                <a:tab pos="0" algn="l"/>
              </a:tabLst>
            </a:pPr>
            <a:r>
              <a:rPr lang="en-US" sz="1350" b="0" u="none" strike="noStrike">
                <a:solidFill>
                  <a:srgbClr val="5B6B85"/>
                </a:solidFill>
                <a:effectLst/>
                <a:uFillTx/>
                <a:latin typeface="Calibri" panose="020F0502020204030204"/>
                <a:ea typeface="Calibri" panose="020F0502020204030204"/>
              </a:rPr>
              <a:t>Varias columnas empiezan por "porc_" pero no todas comparten escala: unas son fracciones 0–1 y otras, puntos porcentuales 0–100. La tabla completa cubre las 55 variables del dataset; esta selección guía el análisis.</a:t>
            </a:r>
            <a:endParaRPr lang="es-ES" sz="1350" b="0" u="none" strike="noStrike">
              <a:solidFill>
                <a:srgbClr val="000000"/>
              </a:solidFill>
              <a:effectLst/>
              <a:uFillTx/>
              <a:latin typeface="Arial" panose="020B0604020202020204"/>
            </a:endParaRPr>
          </a:p>
        </p:txBody>
      </p:sp>
      <p:graphicFrame>
        <p:nvGraphicFramePr>
          <p:cNvPr id="81" name="Table 0"/>
          <p:cNvGraphicFramePr/>
          <p:nvPr/>
        </p:nvGraphicFramePr>
        <p:xfrm>
          <a:off x="548640" y="2103120"/>
          <a:ext cx="11094120" cy="4301640"/>
        </p:xfrm>
        <a:graphic>
          <a:graphicData uri="http://schemas.openxmlformats.org/drawingml/2006/table">
            <a:tbl>
              <a:tblPr/>
              <a:tblGrid>
                <a:gridCol w="2468880"/>
                <a:gridCol w="6400800"/>
                <a:gridCol w="2224440"/>
              </a:tblGrid>
              <a:tr h="255960">
                <a:tc>
                  <a:txBody>
                    <a:bodyPr>
                      <a:spAutoFit/>
                    </a:bodyPr>
                    <a:p>
                      <a:pPr defTabSz="914400">
                        <a:lnSpc>
                          <a:spcPct val="100000"/>
                        </a:lnSpc>
                        <a:tabLst>
                          <a:tab pos="0" algn="l"/>
                        </a:tabLst>
                      </a:pPr>
                      <a:r>
                        <a:rPr lang="en-US" sz="1150" b="1" u="none" strike="noStrike">
                          <a:solidFill>
                            <a:srgbClr val="FFFFFF"/>
                          </a:solidFill>
                          <a:effectLst/>
                          <a:uFillTx/>
                          <a:latin typeface="Calibri" panose="020F0502020204030204"/>
                          <a:ea typeface="Calibri" panose="020F0502020204030204"/>
                        </a:rPr>
                        <a:t>Variable</a:t>
                      </a:r>
                      <a:endParaRPr lang="es-ES" sz="11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c>
                  <a:txBody>
                    <a:bodyPr>
                      <a:spAutoFit/>
                    </a:bodyPr>
                    <a:p>
                      <a:pPr defTabSz="914400">
                        <a:lnSpc>
                          <a:spcPct val="100000"/>
                        </a:lnSpc>
                        <a:tabLst>
                          <a:tab pos="0" algn="l"/>
                        </a:tabLst>
                      </a:pPr>
                      <a:r>
                        <a:rPr lang="en-US" sz="1150" b="1" u="none" strike="noStrike">
                          <a:solidFill>
                            <a:srgbClr val="FFFFFF"/>
                          </a:solidFill>
                          <a:effectLst/>
                          <a:uFillTx/>
                          <a:latin typeface="Calibri" panose="020F0502020204030204"/>
                          <a:ea typeface="Calibri" panose="020F0502020204030204"/>
                        </a:rPr>
                        <a:t>Qué representa</a:t>
                      </a:r>
                      <a:endParaRPr lang="es-ES" sz="11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c>
                  <a:txBody>
                    <a:bodyPr>
                      <a:spAutoFit/>
                    </a:bodyPr>
                    <a:p>
                      <a:pPr defTabSz="914400">
                        <a:lnSpc>
                          <a:spcPct val="100000"/>
                        </a:lnSpc>
                        <a:tabLst>
                          <a:tab pos="0" algn="l"/>
                        </a:tabLst>
                      </a:pPr>
                      <a:r>
                        <a:rPr lang="en-US" sz="1150" b="1" u="none" strike="noStrike">
                          <a:solidFill>
                            <a:srgbClr val="FFFFFF"/>
                          </a:solidFill>
                          <a:effectLst/>
                          <a:uFillTx/>
                          <a:latin typeface="Calibri" panose="020F0502020204030204"/>
                          <a:ea typeface="Calibri" panose="020F0502020204030204"/>
                        </a:rPr>
                        <a:t>Escala</a:t>
                      </a:r>
                      <a:endParaRPr lang="es-ES" sz="11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r>
              <a:tr h="397440">
                <a:tc>
                  <a:txBody>
                    <a:bodyPr>
                      <a:spAutoFit/>
                    </a:bodyPr>
                    <a:p>
                      <a:pPr defTabSz="914400">
                        <a:lnSpc>
                          <a:spcPct val="100000"/>
                        </a:lnSpc>
                        <a:tabLst>
                          <a:tab pos="0" algn="l"/>
                        </a:tabLst>
                      </a:pPr>
                      <a:r>
                        <a:rPr lang="en-US" sz="1200" b="0" u="none" strike="noStrike">
                          <a:solidFill>
                            <a:srgbClr val="12203D"/>
                          </a:solidFill>
                          <a:effectLst/>
                          <a:uFillTx/>
                          <a:latin typeface="Calibri" panose="020F0502020204030204"/>
                          <a:ea typeface="Calibri" panose="020F0502020204030204"/>
                        </a:rPr>
                        <a:t>VORP</a:t>
                      </a:r>
                      <a:endParaRPr lang="es-ES" sz="12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1200" b="0" u="none" strike="noStrike">
                          <a:solidFill>
                            <a:srgbClr val="12203D"/>
                          </a:solidFill>
                          <a:effectLst/>
                          <a:uFillTx/>
                          <a:latin typeface="Calibri" panose="020F0502020204030204"/>
                          <a:ea typeface="Calibri" panose="020F0502020204030204"/>
                        </a:rPr>
                        <a:t>Valor acumulado del jugador respecto a un jugador de reemplazo de nivel mínimo.</a:t>
                      </a:r>
                      <a:endParaRPr lang="es-ES" sz="12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1200" b="0" u="none" strike="noStrike">
                          <a:solidFill>
                            <a:srgbClr val="12203D"/>
                          </a:solidFill>
                          <a:effectLst/>
                          <a:uFillTx/>
                          <a:latin typeface="Calibri" panose="020F0502020204030204"/>
                          <a:ea typeface="Calibri" panose="020F0502020204030204"/>
                        </a:rPr>
                        <a:t>Puede ser negativo</a:t>
                      </a:r>
                      <a:endParaRPr lang="es-ES" sz="12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r>
              <a:tr h="397440">
                <a:tc>
                  <a:txBody>
                    <a:bodyPr>
                      <a:spAutoFit/>
                    </a:bodyPr>
                    <a:p>
                      <a:pPr defTabSz="914400">
                        <a:lnSpc>
                          <a:spcPct val="100000"/>
                        </a:lnSpc>
                        <a:tabLst>
                          <a:tab pos="0" algn="l"/>
                        </a:tabLst>
                      </a:pPr>
                      <a:r>
                        <a:rPr lang="en-US" sz="1200" b="0" u="none" strike="noStrike">
                          <a:solidFill>
                            <a:srgbClr val="12203D"/>
                          </a:solidFill>
                          <a:effectLst/>
                          <a:uFillTx/>
                          <a:latin typeface="Calibri" panose="020F0502020204030204"/>
                          <a:ea typeface="Calibri" panose="020F0502020204030204"/>
                        </a:rPr>
                        <a:t>Puntos por partido</a:t>
                      </a:r>
                      <a:endParaRPr lang="es-ES" sz="12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1200" b="0" u="none" strike="noStrike">
                          <a:solidFill>
                            <a:srgbClr val="12203D"/>
                          </a:solidFill>
                          <a:effectLst/>
                          <a:uFillTx/>
                          <a:latin typeface="Calibri" panose="020F0502020204030204"/>
                          <a:ea typeface="Calibri" panose="020F0502020204030204"/>
                        </a:rPr>
                        <a:t>Puntos anotados por partido.</a:t>
                      </a:r>
                      <a:endParaRPr lang="es-ES" sz="12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1200" b="0" u="none" strike="noStrike">
                          <a:solidFill>
                            <a:srgbClr val="12203D"/>
                          </a:solidFill>
                          <a:effectLst/>
                          <a:uFillTx/>
                          <a:latin typeface="Calibri" panose="020F0502020204030204"/>
                          <a:ea typeface="Calibri" panose="020F0502020204030204"/>
                        </a:rPr>
                        <a:t>Conteo por partido</a:t>
                      </a:r>
                      <a:endParaRPr lang="es-ES" sz="12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r>
              <a:tr h="397440">
                <a:tc>
                  <a:txBody>
                    <a:bodyPr>
                      <a:spAutoFit/>
                    </a:bodyPr>
                    <a:p>
                      <a:pPr defTabSz="914400">
                        <a:lnSpc>
                          <a:spcPct val="100000"/>
                        </a:lnSpc>
                        <a:tabLst>
                          <a:tab pos="0" algn="l"/>
                        </a:tabLst>
                      </a:pPr>
                      <a:r>
                        <a:rPr lang="en-US" sz="1200" b="0" u="none" strike="noStrike">
                          <a:solidFill>
                            <a:srgbClr val="12203D"/>
                          </a:solidFill>
                          <a:effectLst/>
                          <a:uFillTx/>
                          <a:latin typeface="Calibri" panose="020F0502020204030204"/>
                          <a:ea typeface="Calibri" panose="020F0502020204030204"/>
                        </a:rPr>
                        <a:t>Minutos totales</a:t>
                      </a:r>
                      <a:endParaRPr lang="es-ES" sz="12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1200" b="0" u="none" strike="noStrike">
                          <a:solidFill>
                            <a:srgbClr val="12203D"/>
                          </a:solidFill>
                          <a:effectLst/>
                          <a:uFillTx/>
                          <a:latin typeface="Calibri" panose="020F0502020204030204"/>
                          <a:ea typeface="Calibri" panose="020F0502020204030204"/>
                        </a:rPr>
                        <a:t>Minutos totales jugados en la temporada.</a:t>
                      </a:r>
                      <a:endParaRPr lang="es-ES" sz="12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1200" b="0" u="none" strike="noStrike">
                          <a:solidFill>
                            <a:srgbClr val="12203D"/>
                          </a:solidFill>
                          <a:effectLst/>
                          <a:uFillTx/>
                          <a:latin typeface="Calibri" panose="020F0502020204030204"/>
                          <a:ea typeface="Calibri" panose="020F0502020204030204"/>
                        </a:rPr>
                        <a:t>100 – 3.533 (filtro de depuración)</a:t>
                      </a:r>
                      <a:endParaRPr lang="es-ES" sz="12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r>
              <a:tr h="397440">
                <a:tc>
                  <a:txBody>
                    <a:bodyPr>
                      <a:spAutoFit/>
                    </a:bodyPr>
                    <a:p>
                      <a:pPr defTabSz="914400">
                        <a:lnSpc>
                          <a:spcPct val="100000"/>
                        </a:lnSpc>
                        <a:tabLst>
                          <a:tab pos="0" algn="l"/>
                        </a:tabLst>
                      </a:pPr>
                      <a:r>
                        <a:rPr lang="en-US" sz="1200" b="0" u="none" strike="noStrike">
                          <a:solidFill>
                            <a:srgbClr val="12203D"/>
                          </a:solidFill>
                          <a:effectLst/>
                          <a:uFillTx/>
                          <a:latin typeface="Calibri" panose="020F0502020204030204"/>
                          <a:ea typeface="Calibri" panose="020F0502020204030204"/>
                        </a:rPr>
                        <a:t>TS%</a:t>
                      </a:r>
                      <a:endParaRPr lang="es-ES" sz="12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1200" b="0" u="none" strike="noStrike">
                          <a:solidFill>
                            <a:srgbClr val="12203D"/>
                          </a:solidFill>
                          <a:effectLst/>
                          <a:uFillTx/>
                          <a:latin typeface="Calibri" panose="020F0502020204030204"/>
                          <a:ea typeface="Calibri" panose="020F0502020204030204"/>
                        </a:rPr>
                        <a:t>Pondera tiros de 2, 3 y libres en una sola medida de eficiencia anotadora.</a:t>
                      </a:r>
                      <a:endParaRPr lang="es-ES" sz="12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1200" b="0" u="none" strike="noStrike">
                          <a:solidFill>
                            <a:srgbClr val="12203D"/>
                          </a:solidFill>
                          <a:effectLst/>
                          <a:uFillTx/>
                          <a:latin typeface="Calibri" panose="020F0502020204030204"/>
                          <a:ea typeface="Calibri" panose="020F0502020204030204"/>
                        </a:rPr>
                        <a:t>Fracción 0.0 – 1.0</a:t>
                      </a:r>
                      <a:endParaRPr lang="es-ES" sz="12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r>
              <a:tr h="397440">
                <a:tc>
                  <a:txBody>
                    <a:bodyPr>
                      <a:spAutoFit/>
                    </a:bodyPr>
                    <a:p>
                      <a:pPr defTabSz="914400">
                        <a:lnSpc>
                          <a:spcPct val="100000"/>
                        </a:lnSpc>
                        <a:tabLst>
                          <a:tab pos="0" algn="l"/>
                        </a:tabLst>
                      </a:pPr>
                      <a:r>
                        <a:rPr lang="en-US" sz="1200" b="0" u="none" strike="noStrike">
                          <a:solidFill>
                            <a:srgbClr val="12203D"/>
                          </a:solidFill>
                          <a:effectLst/>
                          <a:uFillTx/>
                          <a:latin typeface="Calibri" panose="020F0502020204030204"/>
                          <a:ea typeface="Calibri" panose="020F0502020204030204"/>
                        </a:rPr>
                        <a:t>USG%</a:t>
                      </a:r>
                      <a:endParaRPr lang="es-ES" sz="12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1200" b="0" u="none" strike="noStrike">
                          <a:solidFill>
                            <a:srgbClr val="12203D"/>
                          </a:solidFill>
                          <a:effectLst/>
                          <a:uFillTx/>
                          <a:latin typeface="Calibri" panose="020F0502020204030204"/>
                          <a:ea typeface="Calibri" panose="020F0502020204030204"/>
                        </a:rPr>
                        <a:t>% estimado de jugadas del equipo "usadas" por el jugador en cancha.</a:t>
                      </a:r>
                      <a:endParaRPr lang="es-ES" sz="12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1200" b="0" u="none" strike="noStrike">
                          <a:solidFill>
                            <a:srgbClr val="12203D"/>
                          </a:solidFill>
                          <a:effectLst/>
                          <a:uFillTx/>
                          <a:latin typeface="Calibri" panose="020F0502020204030204"/>
                          <a:ea typeface="Calibri" panose="020F0502020204030204"/>
                        </a:rPr>
                        <a:t>Puntos porcentuales 0-100</a:t>
                      </a:r>
                      <a:endParaRPr lang="es-ES" sz="12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r>
              <a:tr h="397440">
                <a:tc>
                  <a:txBody>
                    <a:bodyPr>
                      <a:spAutoFit/>
                    </a:bodyPr>
                    <a:p>
                      <a:pPr defTabSz="914400">
                        <a:lnSpc>
                          <a:spcPct val="100000"/>
                        </a:lnSpc>
                        <a:tabLst>
                          <a:tab pos="0" algn="l"/>
                        </a:tabLst>
                      </a:pPr>
                      <a:r>
                        <a:rPr lang="en-US" sz="1200" b="0" u="none" strike="noStrike">
                          <a:solidFill>
                            <a:srgbClr val="12203D"/>
                          </a:solidFill>
                          <a:effectLst/>
                          <a:uFillTx/>
                          <a:latin typeface="Calibri" panose="020F0502020204030204"/>
                          <a:ea typeface="Calibri" panose="020F0502020204030204"/>
                        </a:rPr>
                        <a:t>TRB%</a:t>
                      </a:r>
                      <a:endParaRPr lang="es-ES" sz="12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1200" b="0" u="none" strike="noStrike">
                          <a:solidFill>
                            <a:srgbClr val="12203D"/>
                          </a:solidFill>
                          <a:effectLst/>
                          <a:uFillTx/>
                          <a:latin typeface="Calibri" panose="020F0502020204030204"/>
                          <a:ea typeface="Calibri" panose="020F0502020204030204"/>
                        </a:rPr>
                        <a:t>% estimado de rebotes totales disponibles capturados.</a:t>
                      </a:r>
                      <a:endParaRPr lang="es-ES" sz="12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1200" b="0" u="none" strike="noStrike">
                          <a:solidFill>
                            <a:srgbClr val="12203D"/>
                          </a:solidFill>
                          <a:effectLst/>
                          <a:uFillTx/>
                          <a:latin typeface="Calibri" panose="020F0502020204030204"/>
                          <a:ea typeface="Calibri" panose="020F0502020204030204"/>
                        </a:rPr>
                        <a:t>Puntos porcentuales 0-100</a:t>
                      </a:r>
                      <a:endParaRPr lang="es-ES" sz="12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r>
              <a:tr h="397440">
                <a:tc>
                  <a:txBody>
                    <a:bodyPr>
                      <a:spAutoFit/>
                    </a:bodyPr>
                    <a:p>
                      <a:pPr defTabSz="914400">
                        <a:lnSpc>
                          <a:spcPct val="100000"/>
                        </a:lnSpc>
                        <a:tabLst>
                          <a:tab pos="0" algn="l"/>
                        </a:tabLst>
                      </a:pPr>
                      <a:r>
                        <a:rPr lang="en-US" sz="1200" b="0" u="none" strike="noStrike">
                          <a:solidFill>
                            <a:srgbClr val="12203D"/>
                          </a:solidFill>
                          <a:effectLst/>
                          <a:uFillTx/>
                          <a:latin typeface="Calibri" panose="020F0502020204030204"/>
                          <a:ea typeface="Calibri" panose="020F0502020204030204"/>
                        </a:rPr>
                        <a:t>AST%</a:t>
                      </a:r>
                      <a:endParaRPr lang="es-ES" sz="12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1200" b="0" u="none" strike="noStrike">
                          <a:solidFill>
                            <a:srgbClr val="12203D"/>
                          </a:solidFill>
                          <a:effectLst/>
                          <a:uFillTx/>
                          <a:latin typeface="Calibri" panose="020F0502020204030204"/>
                          <a:ea typeface="Calibri" panose="020F0502020204030204"/>
                        </a:rPr>
                        <a:t>% estimado de canastas de compañeros asistidas en cancha.</a:t>
                      </a:r>
                      <a:endParaRPr lang="es-ES" sz="12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1200" b="0" u="none" strike="noStrike">
                          <a:solidFill>
                            <a:srgbClr val="12203D"/>
                          </a:solidFill>
                          <a:effectLst/>
                          <a:uFillTx/>
                          <a:latin typeface="Calibri" panose="020F0502020204030204"/>
                          <a:ea typeface="Calibri" panose="020F0502020204030204"/>
                        </a:rPr>
                        <a:t>Puntos porcentuales 0-100</a:t>
                      </a:r>
                      <a:endParaRPr lang="es-ES" sz="12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r>
              <a:tr h="397440">
                <a:tc>
                  <a:txBody>
                    <a:bodyPr>
                      <a:spAutoFit/>
                    </a:bodyPr>
                    <a:p>
                      <a:pPr defTabSz="914400">
                        <a:lnSpc>
                          <a:spcPct val="100000"/>
                        </a:lnSpc>
                        <a:tabLst>
                          <a:tab pos="0" algn="l"/>
                        </a:tabLst>
                      </a:pPr>
                      <a:r>
                        <a:rPr lang="en-US" sz="1200" b="0" u="none" strike="noStrike">
                          <a:solidFill>
                            <a:srgbClr val="12203D"/>
                          </a:solidFill>
                          <a:effectLst/>
                          <a:uFillTx/>
                          <a:latin typeface="Calibri" panose="020F0502020204030204"/>
                          <a:ea typeface="Calibri" panose="020F0502020204030204"/>
                        </a:rPr>
                        <a:t>% intentos de triple</a:t>
                      </a:r>
                      <a:endParaRPr lang="es-ES" sz="12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1200" b="0" u="none" strike="noStrike">
                          <a:solidFill>
                            <a:srgbClr val="12203D"/>
                          </a:solidFill>
                          <a:effectLst/>
                          <a:uFillTx/>
                          <a:latin typeface="Calibri" panose="020F0502020204030204"/>
                          <a:ea typeface="Calibri" panose="020F0502020204030204"/>
                        </a:rPr>
                        <a:t>Proporción de los intentos de campo que fueron de triple.</a:t>
                      </a:r>
                      <a:endParaRPr lang="es-ES" sz="12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1200" b="0" u="none" strike="noStrike">
                          <a:solidFill>
                            <a:srgbClr val="12203D"/>
                          </a:solidFill>
                          <a:effectLst/>
                          <a:uFillTx/>
                          <a:latin typeface="Calibri" panose="020F0502020204030204"/>
                          <a:ea typeface="Calibri" panose="020F0502020204030204"/>
                        </a:rPr>
                        <a:t>Fracción 0.0 – 1.0</a:t>
                      </a:r>
                      <a:endParaRPr lang="es-ES" sz="12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r>
              <a:tr h="397440">
                <a:tc>
                  <a:txBody>
                    <a:bodyPr>
                      <a:spAutoFit/>
                    </a:bodyPr>
                    <a:p>
                      <a:pPr defTabSz="914400">
                        <a:lnSpc>
                          <a:spcPct val="100000"/>
                        </a:lnSpc>
                        <a:tabLst>
                          <a:tab pos="0" algn="l"/>
                        </a:tabLst>
                      </a:pPr>
                      <a:r>
                        <a:rPr lang="en-US" sz="1200" b="0" u="none" strike="noStrike">
                          <a:solidFill>
                            <a:srgbClr val="12203D"/>
                          </a:solidFill>
                          <a:effectLst/>
                          <a:uFillTx/>
                          <a:latin typeface="Calibri" panose="020F0502020204030204"/>
                          <a:ea typeface="Calibri" panose="020F0502020204030204"/>
                        </a:rPr>
                        <a:t>DBPM</a:t>
                      </a:r>
                      <a:endParaRPr lang="es-ES" sz="12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1200" b="0" u="none" strike="noStrike">
                          <a:solidFill>
                            <a:srgbClr val="12203D"/>
                          </a:solidFill>
                          <a:effectLst/>
                          <a:uFillTx/>
                          <a:latin typeface="Calibri" panose="020F0502020204030204"/>
                          <a:ea typeface="Calibri" panose="020F0502020204030204"/>
                        </a:rPr>
                        <a:t>Box Plus/Minus defensivo: impacto defensivo en puntos por 100 posesiones.</a:t>
                      </a:r>
                      <a:endParaRPr lang="es-ES" sz="12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1200" b="0" u="none" strike="noStrike">
                          <a:solidFill>
                            <a:srgbClr val="12203D"/>
                          </a:solidFill>
                          <a:effectLst/>
                          <a:uFillTx/>
                          <a:latin typeface="Calibri" panose="020F0502020204030204"/>
                          <a:ea typeface="Calibri" panose="020F0502020204030204"/>
                        </a:rPr>
                        <a:t>Puede ser negativo</a:t>
                      </a:r>
                      <a:endParaRPr lang="es-ES" sz="12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r>
              <a:tr h="397440">
                <a:tc>
                  <a:txBody>
                    <a:bodyPr>
                      <a:spAutoFit/>
                    </a:bodyPr>
                    <a:p>
                      <a:pPr defTabSz="914400">
                        <a:lnSpc>
                          <a:spcPct val="100000"/>
                        </a:lnSpc>
                        <a:tabLst>
                          <a:tab pos="0" algn="l"/>
                        </a:tabLst>
                      </a:pPr>
                      <a:r>
                        <a:rPr lang="en-US" sz="1200" b="0" u="none" strike="noStrike">
                          <a:solidFill>
                            <a:srgbClr val="12203D"/>
                          </a:solidFill>
                          <a:effectLst/>
                          <a:uFillTx/>
                          <a:latin typeface="Calibri" panose="020F0502020204030204"/>
                          <a:ea typeface="Calibri" panose="020F0502020204030204"/>
                        </a:rPr>
                        <a:t>% victorias del equipo</a:t>
                      </a:r>
                      <a:endParaRPr lang="es-ES" sz="12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1200" b="0" u="none" strike="noStrike">
                          <a:solidFill>
                            <a:srgbClr val="12203D"/>
                          </a:solidFill>
                          <a:effectLst/>
                          <a:uFillTx/>
                          <a:latin typeface="Calibri" panose="020F0502020204030204"/>
                          <a:ea typeface="Calibri" panose="020F0502020204030204"/>
                        </a:rPr>
                        <a:t>Porcentaje de victorias del equipo del jugador esa temporada.</a:t>
                      </a:r>
                      <a:endParaRPr lang="es-ES" sz="12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1200" b="0" u="none" strike="noStrike">
                          <a:solidFill>
                            <a:srgbClr val="12203D"/>
                          </a:solidFill>
                          <a:effectLst/>
                          <a:uFillTx/>
                          <a:latin typeface="Calibri" panose="020F0502020204030204"/>
                          <a:ea typeface="Calibri" panose="020F0502020204030204"/>
                        </a:rPr>
                        <a:t>Fracción 0.0 – 1.0</a:t>
                      </a:r>
                      <a:endParaRPr lang="es-ES" sz="12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r>
            </a:tbl>
          </a:graphicData>
        </a:graphic>
      </p:graphicFrame>
      <p:pic>
        <p:nvPicPr>
          <p:cNvPr id="82" name="Image 0" descr="/tmp/claude-0/-home-claude/c0a8783c-8817-5425-bc4f-190e5f64548a/scratchpad/work/icons/basketball_E1590F.png"/>
          <p:cNvPicPr/>
          <p:nvPr/>
        </p:nvPicPr>
        <p:blipFill>
          <a:blip r:embed="rId1"/>
          <a:stretch>
            <a:fillRect/>
          </a:stretch>
        </p:blipFill>
        <p:spPr>
          <a:xfrm>
            <a:off x="548640" y="6546960"/>
            <a:ext cx="145800" cy="145800"/>
          </a:xfrm>
          <a:prstGeom prst="rect">
            <a:avLst/>
          </a:prstGeom>
          <a:noFill/>
          <a:ln w="0">
            <a:noFill/>
          </a:ln>
        </p:spPr>
      </p:pic>
      <p:sp>
        <p:nvSpPr>
          <p:cNvPr id="83" name="Text 3"/>
          <p:cNvSpPr/>
          <p:nvPr/>
        </p:nvSpPr>
        <p:spPr>
          <a:xfrm>
            <a:off x="768240" y="6510600"/>
            <a:ext cx="45716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850" b="0" u="none" strike="noStrike">
                <a:solidFill>
                  <a:srgbClr val="5B6B85"/>
                </a:solidFill>
                <a:effectLst/>
                <a:uFillTx/>
                <a:latin typeface="Calibri" panose="020F0502020204030204"/>
                <a:ea typeface="Calibri" panose="020F0502020204030204"/>
              </a:rPr>
              <a:t>01 · El dataset</a:t>
            </a:r>
            <a:endParaRPr lang="es-ES" sz="850" b="0" u="none" strike="noStrike">
              <a:solidFill>
                <a:srgbClr val="000000"/>
              </a:solidFill>
              <a:effectLst/>
              <a:uFillTx/>
              <a:latin typeface="Arial" panose="020B0604020202020204"/>
            </a:endParaRPr>
          </a:p>
        </p:txBody>
      </p:sp>
      <p:sp>
        <p:nvSpPr>
          <p:cNvPr id="84" name="Text 4"/>
          <p:cNvSpPr/>
          <p:nvPr/>
        </p:nvSpPr>
        <p:spPr>
          <a:xfrm>
            <a:off x="10271520" y="6510600"/>
            <a:ext cx="1371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algn="r" defTabSz="914400">
              <a:lnSpc>
                <a:spcPct val="100000"/>
              </a:lnSpc>
              <a:tabLst>
                <a:tab pos="0" algn="l"/>
              </a:tabLst>
            </a:pPr>
            <a:r>
              <a:rPr lang="en-US" sz="850" b="0" u="none" strike="noStrike">
                <a:solidFill>
                  <a:srgbClr val="5B6B85"/>
                </a:solidFill>
                <a:effectLst/>
                <a:uFillTx/>
                <a:latin typeface="Calibri" panose="020F0502020204030204"/>
                <a:ea typeface="Calibri" panose="020F0502020204030204"/>
              </a:rPr>
              <a:t>04 / 23</a:t>
            </a:r>
            <a:endParaRPr lang="es-ES" sz="850" b="0" u="none" strike="noStrike">
              <a:solidFill>
                <a:srgbClr val="000000"/>
              </a:solidFill>
              <a:effectLst/>
              <a:uFillTx/>
              <a:latin typeface="Arial" panose="020B0604020202020204"/>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6F9"/>
        </a:solidFill>
        <a:effectLst/>
      </p:bgPr>
    </p:bg>
    <p:spTree>
      <p:nvGrpSpPr>
        <p:cNvPr id="1" name=""/>
        <p:cNvGrpSpPr/>
        <p:nvPr/>
      </p:nvGrpSpPr>
      <p:grpSpPr>
        <a:xfrm>
          <a:off x="0" y="0"/>
          <a:ext cx="0" cy="0"/>
          <a:chOff x="0" y="0"/>
          <a:chExt cx="0" cy="0"/>
        </a:xfrm>
      </p:grpSpPr>
      <p:sp>
        <p:nvSpPr>
          <p:cNvPr id="85" name="Text 0"/>
          <p:cNvSpPr/>
          <p:nvPr/>
        </p:nvSpPr>
        <p:spPr>
          <a:xfrm>
            <a:off x="548640" y="411480"/>
            <a:ext cx="7314840" cy="2923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1150" b="1" u="none" strike="noStrike" spc="201">
                <a:solidFill>
                  <a:srgbClr val="E1590F"/>
                </a:solidFill>
                <a:effectLst/>
                <a:uFillTx/>
                <a:latin typeface="Calibri" panose="020F0502020204030204"/>
                <a:ea typeface="Calibri" panose="020F0502020204030204"/>
              </a:rPr>
              <a:t>02 · ANÁLISIS UNIVARIADO</a:t>
            </a:r>
            <a:endParaRPr lang="es-ES" sz="1150" b="0" u="none" strike="noStrike">
              <a:solidFill>
                <a:srgbClr val="000000"/>
              </a:solidFill>
              <a:effectLst/>
              <a:uFillTx/>
              <a:latin typeface="Arial" panose="020B0604020202020204"/>
            </a:endParaRPr>
          </a:p>
        </p:txBody>
      </p:sp>
      <p:sp>
        <p:nvSpPr>
          <p:cNvPr id="86" name="Text 1"/>
          <p:cNvSpPr/>
          <p:nvPr/>
        </p:nvSpPr>
        <p:spPr>
          <a:xfrm>
            <a:off x="548640" y="749880"/>
            <a:ext cx="11094120" cy="59400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2000"/>
              </a:lnSpc>
              <a:tabLst>
                <a:tab pos="0" algn="l"/>
              </a:tabLst>
            </a:pPr>
            <a:r>
              <a:rPr lang="en-US" sz="2900" b="1" u="none" strike="noStrike">
                <a:solidFill>
                  <a:srgbClr val="0B1E3D"/>
                </a:solidFill>
                <a:effectLst/>
                <a:uFillTx/>
                <a:latin typeface="Calibri" panose="020F0502020204030204"/>
                <a:ea typeface="Calibri" panose="020F0502020204030204"/>
              </a:rPr>
              <a:t>¿Por qué estas 10 variables clave?</a:t>
            </a:r>
            <a:endParaRPr lang="es-ES" sz="2900" b="0" u="none" strike="noStrike">
              <a:solidFill>
                <a:srgbClr val="000000"/>
              </a:solidFill>
              <a:effectLst/>
              <a:uFillTx/>
              <a:latin typeface="Arial" panose="020B0604020202020204"/>
            </a:endParaRPr>
          </a:p>
        </p:txBody>
      </p:sp>
      <p:sp>
        <p:nvSpPr>
          <p:cNvPr id="87" name="Text 2"/>
          <p:cNvSpPr/>
          <p:nvPr/>
        </p:nvSpPr>
        <p:spPr>
          <a:xfrm>
            <a:off x="548640" y="1353240"/>
            <a:ext cx="11094120" cy="50256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15000"/>
              </a:lnSpc>
              <a:tabLst>
                <a:tab pos="0" algn="l"/>
              </a:tabLst>
            </a:pPr>
            <a:r>
              <a:rPr lang="en-US" sz="1350" b="0" u="none" strike="noStrike">
                <a:solidFill>
                  <a:srgbClr val="5B6B85"/>
                </a:solidFill>
                <a:effectLst/>
                <a:uFillTx/>
                <a:latin typeface="Calibri" panose="020F0502020204030204"/>
                <a:ea typeface="Calibri" panose="020F0502020204030204"/>
              </a:rPr>
              <a:t>De 51 variables numéricas se eligieron 10 —una por dimensión del juego— por su aporte de información independiente (importancia en modelos, cargas de componentes principales y comunalidad).</a:t>
            </a:r>
            <a:endParaRPr lang="es-ES" sz="1350" b="0" u="none" strike="noStrike">
              <a:solidFill>
                <a:srgbClr val="000000"/>
              </a:solidFill>
              <a:effectLst/>
              <a:uFillTx/>
              <a:latin typeface="Arial" panose="020B0604020202020204"/>
            </a:endParaRPr>
          </a:p>
        </p:txBody>
      </p:sp>
      <p:sp>
        <p:nvSpPr>
          <p:cNvPr id="88" name="Text 3"/>
          <p:cNvSpPr/>
          <p:nvPr/>
        </p:nvSpPr>
        <p:spPr>
          <a:xfrm>
            <a:off x="548640" y="2148840"/>
            <a:ext cx="5318280" cy="27396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350" b="1" u="none" strike="noStrike">
                <a:solidFill>
                  <a:srgbClr val="E1590F"/>
                </a:solidFill>
                <a:effectLst/>
                <a:uFillTx/>
                <a:latin typeface="Calibri" panose="020F0502020204030204"/>
                <a:ea typeface="Calibri" panose="020F0502020204030204"/>
              </a:rPr>
              <a:t>1. Valor global</a:t>
            </a:r>
            <a:endParaRPr lang="es-ES" sz="1350" b="0" u="none" strike="noStrike">
              <a:solidFill>
                <a:srgbClr val="000000"/>
              </a:solidFill>
              <a:effectLst/>
              <a:uFillTx/>
              <a:latin typeface="Arial" panose="020B0604020202020204"/>
            </a:endParaRPr>
          </a:p>
        </p:txBody>
      </p:sp>
      <p:sp>
        <p:nvSpPr>
          <p:cNvPr id="89" name="Text 4"/>
          <p:cNvSpPr/>
          <p:nvPr/>
        </p:nvSpPr>
        <p:spPr>
          <a:xfrm>
            <a:off x="548640" y="2414160"/>
            <a:ext cx="5318280" cy="50256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12000"/>
              </a:lnSpc>
              <a:tabLst>
                <a:tab pos="0" algn="l"/>
              </a:tabLst>
            </a:pPr>
            <a:r>
              <a:rPr lang="en-US" sz="1150" b="0" u="none" strike="noStrike">
                <a:solidFill>
                  <a:srgbClr val="12203D"/>
                </a:solidFill>
                <a:effectLst/>
                <a:uFillTx/>
                <a:latin typeface="Calibri" panose="020F0502020204030204"/>
                <a:ea typeface="Calibri" panose="020F0502020204030204"/>
              </a:rPr>
              <a:t>VORP: predictor #1 del MVP (importancia 0.127, el doble del #2)</a:t>
            </a:r>
            <a:endParaRPr lang="es-ES" sz="1150" b="0" u="none" strike="noStrike">
              <a:solidFill>
                <a:srgbClr val="000000"/>
              </a:solidFill>
              <a:effectLst/>
              <a:uFillTx/>
              <a:latin typeface="Arial" panose="020B0604020202020204"/>
            </a:endParaRPr>
          </a:p>
        </p:txBody>
      </p:sp>
      <p:sp>
        <p:nvSpPr>
          <p:cNvPr id="90" name="Text 5"/>
          <p:cNvSpPr/>
          <p:nvPr/>
        </p:nvSpPr>
        <p:spPr>
          <a:xfrm>
            <a:off x="548640" y="2990160"/>
            <a:ext cx="5318280" cy="27396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350" b="1" u="none" strike="noStrike">
                <a:solidFill>
                  <a:srgbClr val="E1590F"/>
                </a:solidFill>
                <a:effectLst/>
                <a:uFillTx/>
                <a:latin typeface="Calibri" panose="020F0502020204030204"/>
                <a:ea typeface="Calibri" panose="020F0502020204030204"/>
              </a:rPr>
              <a:t>2. Producción</a:t>
            </a:r>
            <a:endParaRPr lang="es-ES" sz="1350" b="0" u="none" strike="noStrike">
              <a:solidFill>
                <a:srgbClr val="000000"/>
              </a:solidFill>
              <a:effectLst/>
              <a:uFillTx/>
              <a:latin typeface="Arial" panose="020B0604020202020204"/>
            </a:endParaRPr>
          </a:p>
        </p:txBody>
      </p:sp>
      <p:sp>
        <p:nvSpPr>
          <p:cNvPr id="91" name="Text 6"/>
          <p:cNvSpPr/>
          <p:nvPr/>
        </p:nvSpPr>
        <p:spPr>
          <a:xfrm>
            <a:off x="548640" y="3255120"/>
            <a:ext cx="5318280" cy="50256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12000"/>
              </a:lnSpc>
              <a:tabLst>
                <a:tab pos="0" algn="l"/>
              </a:tabLst>
            </a:pPr>
            <a:r>
              <a:rPr lang="en-US" sz="1150" b="0" u="none" strike="noStrike">
                <a:solidFill>
                  <a:srgbClr val="12203D"/>
                </a:solidFill>
                <a:effectLst/>
                <a:uFillTx/>
                <a:latin typeface="Calibri" panose="020F0502020204030204"/>
                <a:ea typeface="Calibri" panose="020F0502020204030204"/>
              </a:rPr>
              <a:t>Puntos/partido: comunalidad más alta del dataset (0.95) y carga máxima en PC1</a:t>
            </a:r>
            <a:endParaRPr lang="es-ES" sz="1150" b="0" u="none" strike="noStrike">
              <a:solidFill>
                <a:srgbClr val="000000"/>
              </a:solidFill>
              <a:effectLst/>
              <a:uFillTx/>
              <a:latin typeface="Arial" panose="020B0604020202020204"/>
            </a:endParaRPr>
          </a:p>
        </p:txBody>
      </p:sp>
      <p:sp>
        <p:nvSpPr>
          <p:cNvPr id="92" name="Text 7"/>
          <p:cNvSpPr/>
          <p:nvPr/>
        </p:nvSpPr>
        <p:spPr>
          <a:xfrm>
            <a:off x="548640" y="3831480"/>
            <a:ext cx="5318280" cy="27396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350" b="1" u="none" strike="noStrike">
                <a:solidFill>
                  <a:srgbClr val="E1590F"/>
                </a:solidFill>
                <a:effectLst/>
                <a:uFillTx/>
                <a:latin typeface="Calibri" panose="020F0502020204030204"/>
                <a:ea typeface="Calibri" panose="020F0502020204030204"/>
              </a:rPr>
              <a:t>3. Oportunidad</a:t>
            </a:r>
            <a:endParaRPr lang="es-ES" sz="1350" b="0" u="none" strike="noStrike">
              <a:solidFill>
                <a:srgbClr val="000000"/>
              </a:solidFill>
              <a:effectLst/>
              <a:uFillTx/>
              <a:latin typeface="Arial" panose="020B0604020202020204"/>
            </a:endParaRPr>
          </a:p>
        </p:txBody>
      </p:sp>
      <p:sp>
        <p:nvSpPr>
          <p:cNvPr id="93" name="Text 8"/>
          <p:cNvSpPr/>
          <p:nvPr/>
        </p:nvSpPr>
        <p:spPr>
          <a:xfrm>
            <a:off x="548640" y="4096440"/>
            <a:ext cx="5318280" cy="50256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12000"/>
              </a:lnSpc>
              <a:tabLst>
                <a:tab pos="0" algn="l"/>
              </a:tabLst>
            </a:pPr>
            <a:r>
              <a:rPr lang="en-US" sz="1150" b="0" u="none" strike="noStrike">
                <a:solidFill>
                  <a:srgbClr val="12203D"/>
                </a:solidFill>
                <a:effectLst/>
                <a:uFillTx/>
                <a:latin typeface="Calibri" panose="020F0502020204030204"/>
                <a:ea typeface="Calibri" panose="020F0502020204030204"/>
              </a:rPr>
              <a:t>Minutos totales: predictor #1 de Win Shares (importancia 0.345)</a:t>
            </a:r>
            <a:endParaRPr lang="es-ES" sz="1150" b="0" u="none" strike="noStrike">
              <a:solidFill>
                <a:srgbClr val="000000"/>
              </a:solidFill>
              <a:effectLst/>
              <a:uFillTx/>
              <a:latin typeface="Arial" panose="020B0604020202020204"/>
            </a:endParaRPr>
          </a:p>
        </p:txBody>
      </p:sp>
      <p:sp>
        <p:nvSpPr>
          <p:cNvPr id="94" name="Text 9"/>
          <p:cNvSpPr/>
          <p:nvPr/>
        </p:nvSpPr>
        <p:spPr>
          <a:xfrm>
            <a:off x="548640" y="4672440"/>
            <a:ext cx="5318280" cy="27396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350" b="1" u="none" strike="noStrike">
                <a:solidFill>
                  <a:srgbClr val="E1590F"/>
                </a:solidFill>
                <a:effectLst/>
                <a:uFillTx/>
                <a:latin typeface="Calibri" panose="020F0502020204030204"/>
                <a:ea typeface="Calibri" panose="020F0502020204030204"/>
              </a:rPr>
              <a:t>4. Eficiencia</a:t>
            </a:r>
            <a:endParaRPr lang="es-ES" sz="1350" b="0" u="none" strike="noStrike">
              <a:solidFill>
                <a:srgbClr val="000000"/>
              </a:solidFill>
              <a:effectLst/>
              <a:uFillTx/>
              <a:latin typeface="Arial" panose="020B0604020202020204"/>
            </a:endParaRPr>
          </a:p>
        </p:txBody>
      </p:sp>
      <p:sp>
        <p:nvSpPr>
          <p:cNvPr id="95" name="Text 10"/>
          <p:cNvSpPr/>
          <p:nvPr/>
        </p:nvSpPr>
        <p:spPr>
          <a:xfrm>
            <a:off x="548640" y="4937760"/>
            <a:ext cx="5318280" cy="50256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12000"/>
              </a:lnSpc>
              <a:tabLst>
                <a:tab pos="0" algn="l"/>
              </a:tabLst>
            </a:pPr>
            <a:r>
              <a:rPr lang="en-US" sz="1150" b="0" u="none" strike="noStrike">
                <a:solidFill>
                  <a:srgbClr val="12203D"/>
                </a:solidFill>
                <a:effectLst/>
                <a:uFillTx/>
                <a:latin typeface="Calibri" panose="020F0502020204030204"/>
                <a:ea typeface="Calibri" panose="020F0502020204030204"/>
              </a:rPr>
              <a:t>TS%: #1 para VORP; solo r=0.11 con el uso (independiente del volumen de tiro)</a:t>
            </a:r>
            <a:endParaRPr lang="es-ES" sz="1150" b="0" u="none" strike="noStrike">
              <a:solidFill>
                <a:srgbClr val="000000"/>
              </a:solidFill>
              <a:effectLst/>
              <a:uFillTx/>
              <a:latin typeface="Arial" panose="020B0604020202020204"/>
            </a:endParaRPr>
          </a:p>
        </p:txBody>
      </p:sp>
      <p:sp>
        <p:nvSpPr>
          <p:cNvPr id="96" name="Text 11"/>
          <p:cNvSpPr/>
          <p:nvPr/>
        </p:nvSpPr>
        <p:spPr>
          <a:xfrm>
            <a:off x="548640" y="5513760"/>
            <a:ext cx="5318280" cy="27396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350" b="1" u="none" strike="noStrike">
                <a:solidFill>
                  <a:srgbClr val="E1590F"/>
                </a:solidFill>
                <a:effectLst/>
                <a:uFillTx/>
                <a:latin typeface="Calibri" panose="020F0502020204030204"/>
                <a:ea typeface="Calibri" panose="020F0502020204030204"/>
              </a:rPr>
              <a:t>5. Rol</a:t>
            </a:r>
            <a:endParaRPr lang="es-ES" sz="1350" b="0" u="none" strike="noStrike">
              <a:solidFill>
                <a:srgbClr val="000000"/>
              </a:solidFill>
              <a:effectLst/>
              <a:uFillTx/>
              <a:latin typeface="Arial" panose="020B0604020202020204"/>
            </a:endParaRPr>
          </a:p>
        </p:txBody>
      </p:sp>
      <p:sp>
        <p:nvSpPr>
          <p:cNvPr id="97" name="Text 12"/>
          <p:cNvSpPr/>
          <p:nvPr/>
        </p:nvSpPr>
        <p:spPr>
          <a:xfrm>
            <a:off x="548640" y="5779080"/>
            <a:ext cx="5318280" cy="50256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12000"/>
              </a:lnSpc>
              <a:tabLst>
                <a:tab pos="0" algn="l"/>
              </a:tabLst>
            </a:pPr>
            <a:r>
              <a:rPr lang="en-US" sz="1150" b="0" u="none" strike="noStrike">
                <a:solidFill>
                  <a:srgbClr val="12203D"/>
                </a:solidFill>
                <a:effectLst/>
                <a:uFillTx/>
                <a:latin typeface="Calibri" panose="020F0502020204030204"/>
                <a:ea typeface="Calibri" panose="020F0502020204030204"/>
              </a:rPr>
              <a:t>USG%: forma cluster propio; r=0.73 con puntos/partido</a:t>
            </a:r>
            <a:endParaRPr lang="es-ES" sz="1150" b="0" u="none" strike="noStrike">
              <a:solidFill>
                <a:srgbClr val="000000"/>
              </a:solidFill>
              <a:effectLst/>
              <a:uFillTx/>
              <a:latin typeface="Arial" panose="020B0604020202020204"/>
            </a:endParaRPr>
          </a:p>
        </p:txBody>
      </p:sp>
      <p:sp>
        <p:nvSpPr>
          <p:cNvPr id="98" name="Text 13"/>
          <p:cNvSpPr/>
          <p:nvPr/>
        </p:nvSpPr>
        <p:spPr>
          <a:xfrm>
            <a:off x="6324480" y="2148840"/>
            <a:ext cx="5318280" cy="27396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350" b="1" u="none" strike="noStrike">
                <a:solidFill>
                  <a:srgbClr val="E1590F"/>
                </a:solidFill>
                <a:effectLst/>
                <a:uFillTx/>
                <a:latin typeface="Calibri" panose="020F0502020204030204"/>
                <a:ea typeface="Calibri" panose="020F0502020204030204"/>
              </a:rPr>
              <a:t>6. Interior</a:t>
            </a:r>
            <a:endParaRPr lang="es-ES" sz="1350" b="0" u="none" strike="noStrike">
              <a:solidFill>
                <a:srgbClr val="000000"/>
              </a:solidFill>
              <a:effectLst/>
              <a:uFillTx/>
              <a:latin typeface="Arial" panose="020B0604020202020204"/>
            </a:endParaRPr>
          </a:p>
        </p:txBody>
      </p:sp>
      <p:sp>
        <p:nvSpPr>
          <p:cNvPr id="99" name="Text 14"/>
          <p:cNvSpPr/>
          <p:nvPr/>
        </p:nvSpPr>
        <p:spPr>
          <a:xfrm>
            <a:off x="6324480" y="2414160"/>
            <a:ext cx="5318280" cy="50256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12000"/>
              </a:lnSpc>
              <a:tabLst>
                <a:tab pos="0" algn="l"/>
              </a:tabLst>
            </a:pPr>
            <a:r>
              <a:rPr lang="en-US" sz="1150" b="0" u="none" strike="noStrike">
                <a:solidFill>
                  <a:srgbClr val="12203D"/>
                </a:solidFill>
                <a:effectLst/>
                <a:uFillTx/>
                <a:latin typeface="Calibri" panose="020F0502020204030204"/>
                <a:ea typeface="Calibri" panose="020F0502020204030204"/>
              </a:rPr>
              <a:t>TRB%: carga máxima en PC2 (0.89); no depende de minutos jugados</a:t>
            </a:r>
            <a:endParaRPr lang="es-ES" sz="1150" b="0" u="none" strike="noStrike">
              <a:solidFill>
                <a:srgbClr val="000000"/>
              </a:solidFill>
              <a:effectLst/>
              <a:uFillTx/>
              <a:latin typeface="Arial" panose="020B0604020202020204"/>
            </a:endParaRPr>
          </a:p>
        </p:txBody>
      </p:sp>
      <p:sp>
        <p:nvSpPr>
          <p:cNvPr id="100" name="Text 15"/>
          <p:cNvSpPr/>
          <p:nvPr/>
        </p:nvSpPr>
        <p:spPr>
          <a:xfrm>
            <a:off x="6324480" y="2990160"/>
            <a:ext cx="5318280" cy="27396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350" b="1" u="none" strike="noStrike">
                <a:solidFill>
                  <a:srgbClr val="E1590F"/>
                </a:solidFill>
                <a:effectLst/>
                <a:uFillTx/>
                <a:latin typeface="Calibri" panose="020F0502020204030204"/>
                <a:ea typeface="Calibri" panose="020F0502020204030204"/>
              </a:rPr>
              <a:t>7. Creación</a:t>
            </a:r>
            <a:endParaRPr lang="es-ES" sz="1350" b="0" u="none" strike="noStrike">
              <a:solidFill>
                <a:srgbClr val="000000"/>
              </a:solidFill>
              <a:effectLst/>
              <a:uFillTx/>
              <a:latin typeface="Arial" panose="020B0604020202020204"/>
            </a:endParaRPr>
          </a:p>
        </p:txBody>
      </p:sp>
      <p:sp>
        <p:nvSpPr>
          <p:cNvPr id="101" name="Text 16"/>
          <p:cNvSpPr/>
          <p:nvPr/>
        </p:nvSpPr>
        <p:spPr>
          <a:xfrm>
            <a:off x="6324480" y="3255120"/>
            <a:ext cx="5318280" cy="50256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12000"/>
              </a:lnSpc>
              <a:tabLst>
                <a:tab pos="0" algn="l"/>
              </a:tabLst>
            </a:pPr>
            <a:r>
              <a:rPr lang="en-US" sz="1150" b="0" u="none" strike="noStrike">
                <a:solidFill>
                  <a:srgbClr val="12203D"/>
                </a:solidFill>
                <a:effectLst/>
                <a:uFillTx/>
                <a:latin typeface="Calibri" panose="020F0502020204030204"/>
                <a:ea typeface="Calibri" panose="020F0502020204030204"/>
              </a:rPr>
              <a:t>AST%: cluster propio; carga -0.64 en PC2</a:t>
            </a:r>
            <a:endParaRPr lang="es-ES" sz="1150" b="0" u="none" strike="noStrike">
              <a:solidFill>
                <a:srgbClr val="000000"/>
              </a:solidFill>
              <a:effectLst/>
              <a:uFillTx/>
              <a:latin typeface="Arial" panose="020B0604020202020204"/>
            </a:endParaRPr>
          </a:p>
        </p:txBody>
      </p:sp>
      <p:sp>
        <p:nvSpPr>
          <p:cNvPr id="102" name="Text 17"/>
          <p:cNvSpPr/>
          <p:nvPr/>
        </p:nvSpPr>
        <p:spPr>
          <a:xfrm>
            <a:off x="6324480" y="3831480"/>
            <a:ext cx="5318280" cy="27396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350" b="1" u="none" strike="noStrike">
                <a:solidFill>
                  <a:srgbClr val="E1590F"/>
                </a:solidFill>
                <a:effectLst/>
                <a:uFillTx/>
                <a:latin typeface="Calibri" panose="020F0502020204030204"/>
                <a:ea typeface="Calibri" panose="020F0502020204030204"/>
              </a:rPr>
              <a:t>8. Estilo/época</a:t>
            </a:r>
            <a:endParaRPr lang="es-ES" sz="1350" b="0" u="none" strike="noStrike">
              <a:solidFill>
                <a:srgbClr val="000000"/>
              </a:solidFill>
              <a:effectLst/>
              <a:uFillTx/>
              <a:latin typeface="Arial" panose="020B0604020202020204"/>
            </a:endParaRPr>
          </a:p>
        </p:txBody>
      </p:sp>
      <p:sp>
        <p:nvSpPr>
          <p:cNvPr id="103" name="Text 18"/>
          <p:cNvSpPr/>
          <p:nvPr/>
        </p:nvSpPr>
        <p:spPr>
          <a:xfrm>
            <a:off x="6324480" y="4096440"/>
            <a:ext cx="5318280" cy="50256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12000"/>
              </a:lnSpc>
              <a:tabLst>
                <a:tab pos="0" algn="l"/>
              </a:tabLst>
            </a:pPr>
            <a:r>
              <a:rPr lang="en-US" sz="1150" b="0" u="none" strike="noStrike">
                <a:solidFill>
                  <a:srgbClr val="12203D"/>
                </a:solidFill>
                <a:effectLst/>
                <a:uFillTx/>
                <a:latin typeface="Calibri" panose="020F0502020204030204"/>
                <a:ea typeface="Calibri" panose="020F0502020204030204"/>
              </a:rPr>
              <a:t>% intentos de triple: r=0.50 con la temporada; sin problema de NA</a:t>
            </a:r>
            <a:endParaRPr lang="es-ES" sz="1150" b="0" u="none" strike="noStrike">
              <a:solidFill>
                <a:srgbClr val="000000"/>
              </a:solidFill>
              <a:effectLst/>
              <a:uFillTx/>
              <a:latin typeface="Arial" panose="020B0604020202020204"/>
            </a:endParaRPr>
          </a:p>
        </p:txBody>
      </p:sp>
      <p:sp>
        <p:nvSpPr>
          <p:cNvPr id="104" name="Text 19"/>
          <p:cNvSpPr/>
          <p:nvPr/>
        </p:nvSpPr>
        <p:spPr>
          <a:xfrm>
            <a:off x="6324480" y="4672440"/>
            <a:ext cx="5318280" cy="27396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350" b="1" u="none" strike="noStrike">
                <a:solidFill>
                  <a:srgbClr val="E1590F"/>
                </a:solidFill>
                <a:effectLst/>
                <a:uFillTx/>
                <a:latin typeface="Calibri" panose="020F0502020204030204"/>
                <a:ea typeface="Calibri" panose="020F0502020204030204"/>
              </a:rPr>
              <a:t>9. Defensa</a:t>
            </a:r>
            <a:endParaRPr lang="es-ES" sz="1350" b="0" u="none" strike="noStrike">
              <a:solidFill>
                <a:srgbClr val="000000"/>
              </a:solidFill>
              <a:effectLst/>
              <a:uFillTx/>
              <a:latin typeface="Arial" panose="020B0604020202020204"/>
            </a:endParaRPr>
          </a:p>
        </p:txBody>
      </p:sp>
      <p:sp>
        <p:nvSpPr>
          <p:cNvPr id="105" name="Text 20"/>
          <p:cNvSpPr/>
          <p:nvPr/>
        </p:nvSpPr>
        <p:spPr>
          <a:xfrm>
            <a:off x="6324480" y="4937760"/>
            <a:ext cx="5318280" cy="50256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12000"/>
              </a:lnSpc>
              <a:tabLst>
                <a:tab pos="0" algn="l"/>
              </a:tabLst>
            </a:pPr>
            <a:r>
              <a:rPr lang="en-US" sz="1150" b="0" u="none" strike="noStrike">
                <a:solidFill>
                  <a:srgbClr val="12203D"/>
                </a:solidFill>
                <a:effectLst/>
                <a:uFillTx/>
                <a:latin typeface="Calibri" panose="020F0502020204030204"/>
                <a:ea typeface="Calibri" panose="020F0502020204030204"/>
              </a:rPr>
              <a:t>DBPM: única dimensión defensiva (ρ=0.40 con VORP); sin ella el análisis sería solo ofensivo</a:t>
            </a:r>
            <a:endParaRPr lang="es-ES" sz="1150" b="0" u="none" strike="noStrike">
              <a:solidFill>
                <a:srgbClr val="000000"/>
              </a:solidFill>
              <a:effectLst/>
              <a:uFillTx/>
              <a:latin typeface="Arial" panose="020B0604020202020204"/>
            </a:endParaRPr>
          </a:p>
        </p:txBody>
      </p:sp>
      <p:sp>
        <p:nvSpPr>
          <p:cNvPr id="106" name="Text 21"/>
          <p:cNvSpPr/>
          <p:nvPr/>
        </p:nvSpPr>
        <p:spPr>
          <a:xfrm>
            <a:off x="6324480" y="5513760"/>
            <a:ext cx="5318280" cy="27396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350" b="1" u="none" strike="noStrike">
                <a:solidFill>
                  <a:srgbClr val="E1590F"/>
                </a:solidFill>
                <a:effectLst/>
                <a:uFillTx/>
                <a:latin typeface="Calibri" panose="020F0502020204030204"/>
                <a:ea typeface="Calibri" panose="020F0502020204030204"/>
              </a:rPr>
              <a:t>10. Contexto de equipo</a:t>
            </a:r>
            <a:endParaRPr lang="es-ES" sz="1350" b="0" u="none" strike="noStrike">
              <a:solidFill>
                <a:srgbClr val="000000"/>
              </a:solidFill>
              <a:effectLst/>
              <a:uFillTx/>
              <a:latin typeface="Arial" panose="020B0604020202020204"/>
            </a:endParaRPr>
          </a:p>
        </p:txBody>
      </p:sp>
      <p:sp>
        <p:nvSpPr>
          <p:cNvPr id="107" name="Text 22"/>
          <p:cNvSpPr/>
          <p:nvPr/>
        </p:nvSpPr>
        <p:spPr>
          <a:xfrm>
            <a:off x="6324480" y="5779080"/>
            <a:ext cx="5318280" cy="50256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12000"/>
              </a:lnSpc>
              <a:tabLst>
                <a:tab pos="0" algn="l"/>
              </a:tabLst>
            </a:pPr>
            <a:r>
              <a:rPr lang="en-US" sz="1150" b="0" u="none" strike="noStrike">
                <a:solidFill>
                  <a:srgbClr val="12203D"/>
                </a:solidFill>
                <a:effectLst/>
                <a:uFillTx/>
                <a:latin typeface="Calibri" panose="020F0502020204030204"/>
                <a:ea typeface="Calibri" panose="020F0502020204030204"/>
              </a:rPr>
              <a:t>% victorias: carga máxima en PC3 (0.73)</a:t>
            </a:r>
            <a:endParaRPr lang="es-ES" sz="1150" b="0" u="none" strike="noStrike">
              <a:solidFill>
                <a:srgbClr val="000000"/>
              </a:solidFill>
              <a:effectLst/>
              <a:uFillTx/>
              <a:latin typeface="Arial" panose="020B0604020202020204"/>
            </a:endParaRPr>
          </a:p>
        </p:txBody>
      </p:sp>
      <p:pic>
        <p:nvPicPr>
          <p:cNvPr id="108" name="Image 0" descr="/tmp/claude-0/-home-claude/c0a8783c-8817-5425-bc4f-190e5f64548a/scratchpad/work/icons/basketball_E1590F.png"/>
          <p:cNvPicPr/>
          <p:nvPr/>
        </p:nvPicPr>
        <p:blipFill>
          <a:blip r:embed="rId1"/>
          <a:stretch>
            <a:fillRect/>
          </a:stretch>
        </p:blipFill>
        <p:spPr>
          <a:xfrm>
            <a:off x="548640" y="6546960"/>
            <a:ext cx="145800" cy="145800"/>
          </a:xfrm>
          <a:prstGeom prst="rect">
            <a:avLst/>
          </a:prstGeom>
          <a:noFill/>
          <a:ln w="0">
            <a:noFill/>
          </a:ln>
        </p:spPr>
      </p:pic>
      <p:sp>
        <p:nvSpPr>
          <p:cNvPr id="109" name="Text 23"/>
          <p:cNvSpPr/>
          <p:nvPr/>
        </p:nvSpPr>
        <p:spPr>
          <a:xfrm>
            <a:off x="768240" y="6510600"/>
            <a:ext cx="45716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850" b="0" u="none" strike="noStrike">
                <a:solidFill>
                  <a:srgbClr val="5B6B85"/>
                </a:solidFill>
                <a:effectLst/>
                <a:uFillTx/>
                <a:latin typeface="Calibri" panose="020F0502020204030204"/>
                <a:ea typeface="Calibri" panose="020F0502020204030204"/>
              </a:rPr>
              <a:t>02 · Análisis univariado</a:t>
            </a:r>
            <a:endParaRPr lang="es-ES" sz="850" b="0" u="none" strike="noStrike">
              <a:solidFill>
                <a:srgbClr val="000000"/>
              </a:solidFill>
              <a:effectLst/>
              <a:uFillTx/>
              <a:latin typeface="Arial" panose="020B0604020202020204"/>
            </a:endParaRPr>
          </a:p>
        </p:txBody>
      </p:sp>
      <p:sp>
        <p:nvSpPr>
          <p:cNvPr id="110" name="Text 24"/>
          <p:cNvSpPr/>
          <p:nvPr/>
        </p:nvSpPr>
        <p:spPr>
          <a:xfrm>
            <a:off x="10271520" y="6510600"/>
            <a:ext cx="1371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algn="r" defTabSz="914400">
              <a:lnSpc>
                <a:spcPct val="100000"/>
              </a:lnSpc>
              <a:tabLst>
                <a:tab pos="0" algn="l"/>
              </a:tabLst>
            </a:pPr>
            <a:r>
              <a:rPr lang="en-US" sz="850" b="0" u="none" strike="noStrike">
                <a:solidFill>
                  <a:srgbClr val="5B6B85"/>
                </a:solidFill>
                <a:effectLst/>
                <a:uFillTx/>
                <a:latin typeface="Calibri" panose="020F0502020204030204"/>
                <a:ea typeface="Calibri" panose="020F0502020204030204"/>
              </a:rPr>
              <a:t>05 / 23</a:t>
            </a:r>
            <a:endParaRPr lang="es-ES" sz="850" b="0" u="none" strike="noStrike">
              <a:solidFill>
                <a:srgbClr val="000000"/>
              </a:solidFill>
              <a:effectLst/>
              <a:uFillTx/>
              <a:latin typeface="Arial" panose="020B0604020202020204"/>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6F9"/>
        </a:solidFill>
        <a:effectLst/>
      </p:bgPr>
    </p:bg>
    <p:spTree>
      <p:nvGrpSpPr>
        <p:cNvPr id="1" name=""/>
        <p:cNvGrpSpPr/>
        <p:nvPr/>
      </p:nvGrpSpPr>
      <p:grpSpPr>
        <a:xfrm>
          <a:off x="0" y="0"/>
          <a:ext cx="0" cy="0"/>
          <a:chOff x="0" y="0"/>
          <a:chExt cx="0" cy="0"/>
        </a:xfrm>
      </p:grpSpPr>
      <p:sp>
        <p:nvSpPr>
          <p:cNvPr id="111" name="Text 0"/>
          <p:cNvSpPr/>
          <p:nvPr/>
        </p:nvSpPr>
        <p:spPr>
          <a:xfrm>
            <a:off x="548640" y="411480"/>
            <a:ext cx="7314840" cy="2923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1150" b="1" u="none" strike="noStrike" spc="201">
                <a:solidFill>
                  <a:srgbClr val="E1590F"/>
                </a:solidFill>
                <a:effectLst/>
                <a:uFillTx/>
                <a:latin typeface="Calibri" panose="020F0502020204030204"/>
                <a:ea typeface="Calibri" panose="020F0502020204030204"/>
              </a:rPr>
              <a:t>02 · ANÁLISIS UNIVARIADO</a:t>
            </a:r>
            <a:endParaRPr lang="es-ES" sz="1150" b="0" u="none" strike="noStrike">
              <a:solidFill>
                <a:srgbClr val="000000"/>
              </a:solidFill>
              <a:effectLst/>
              <a:uFillTx/>
              <a:latin typeface="Arial" panose="020B0604020202020204"/>
            </a:endParaRPr>
          </a:p>
        </p:txBody>
      </p:sp>
      <p:sp>
        <p:nvSpPr>
          <p:cNvPr id="112" name="Text 1"/>
          <p:cNvSpPr/>
          <p:nvPr/>
        </p:nvSpPr>
        <p:spPr>
          <a:xfrm>
            <a:off x="491490" y="620975"/>
            <a:ext cx="11094120" cy="59400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2000"/>
              </a:lnSpc>
              <a:tabLst>
                <a:tab pos="0" algn="l"/>
              </a:tabLst>
            </a:pPr>
            <a:r>
              <a:rPr lang="en-US" sz="2900" b="1" u="none" strike="noStrike">
                <a:solidFill>
                  <a:srgbClr val="0B1E3D"/>
                </a:solidFill>
                <a:effectLst/>
                <a:uFillTx/>
                <a:latin typeface="Calibri" panose="020F0502020204030204"/>
                <a:ea typeface="Calibri" panose="020F0502020204030204"/>
              </a:rPr>
              <a:t>Valor global y producción</a:t>
            </a:r>
            <a:endParaRPr lang="es-ES" sz="2900" b="0" u="none" strike="noStrike">
              <a:solidFill>
                <a:srgbClr val="000000"/>
              </a:solidFill>
              <a:effectLst/>
              <a:uFillTx/>
              <a:latin typeface="Arial" panose="020B0604020202020204"/>
            </a:endParaRPr>
          </a:p>
        </p:txBody>
      </p:sp>
      <p:sp>
        <p:nvSpPr>
          <p:cNvPr id="113" name="Text 2"/>
          <p:cNvSpPr/>
          <p:nvPr/>
        </p:nvSpPr>
        <p:spPr>
          <a:xfrm>
            <a:off x="491490" y="1097280"/>
            <a:ext cx="5318280" cy="2923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500" b="1" u="none" strike="noStrike">
                <a:solidFill>
                  <a:srgbClr val="0B1E3D"/>
                </a:solidFill>
                <a:effectLst/>
                <a:uFillTx/>
                <a:latin typeface="Calibri" panose="020F0502020204030204"/>
                <a:ea typeface="Calibri" panose="020F0502020204030204"/>
              </a:rPr>
              <a:t>VORP — Valor sobre el reemplazo</a:t>
            </a:r>
            <a:endParaRPr lang="es-ES" sz="1500" b="0" u="none" strike="noStrike">
              <a:solidFill>
                <a:srgbClr val="000000"/>
              </a:solidFill>
              <a:effectLst/>
              <a:uFillTx/>
              <a:latin typeface="Arial" panose="020B0604020202020204"/>
            </a:endParaRPr>
          </a:p>
        </p:txBody>
      </p:sp>
      <p:sp>
        <p:nvSpPr>
          <p:cNvPr id="114" name="Text 3"/>
          <p:cNvSpPr/>
          <p:nvPr/>
        </p:nvSpPr>
        <p:spPr>
          <a:xfrm>
            <a:off x="491490" y="1426320"/>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0.781</a:t>
            </a:r>
            <a:endParaRPr lang="es-ES" sz="1300" b="0" u="none" strike="noStrike">
              <a:solidFill>
                <a:srgbClr val="000000"/>
              </a:solidFill>
              <a:effectLst/>
              <a:uFillTx/>
              <a:latin typeface="Arial" panose="020B0604020202020204"/>
            </a:endParaRPr>
          </a:p>
        </p:txBody>
      </p:sp>
      <p:sp>
        <p:nvSpPr>
          <p:cNvPr id="115" name="Text 4"/>
          <p:cNvSpPr/>
          <p:nvPr/>
        </p:nvSpPr>
        <p:spPr>
          <a:xfrm>
            <a:off x="491490" y="1673280"/>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Media</a:t>
            </a:r>
            <a:endParaRPr lang="es-ES" sz="750" b="0" u="none" strike="noStrike">
              <a:solidFill>
                <a:srgbClr val="000000"/>
              </a:solidFill>
              <a:effectLst/>
              <a:uFillTx/>
              <a:latin typeface="Arial" panose="020B0604020202020204"/>
            </a:endParaRPr>
          </a:p>
        </p:txBody>
      </p:sp>
      <p:sp>
        <p:nvSpPr>
          <p:cNvPr id="116" name="Text 5"/>
          <p:cNvSpPr/>
          <p:nvPr/>
        </p:nvSpPr>
        <p:spPr>
          <a:xfrm>
            <a:off x="1377810" y="1426320"/>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0.3</a:t>
            </a:r>
            <a:endParaRPr lang="es-ES" sz="1300" b="0" u="none" strike="noStrike">
              <a:solidFill>
                <a:srgbClr val="000000"/>
              </a:solidFill>
              <a:effectLst/>
              <a:uFillTx/>
              <a:latin typeface="Arial" panose="020B0604020202020204"/>
            </a:endParaRPr>
          </a:p>
        </p:txBody>
      </p:sp>
      <p:sp>
        <p:nvSpPr>
          <p:cNvPr id="117" name="Text 6"/>
          <p:cNvSpPr/>
          <p:nvPr/>
        </p:nvSpPr>
        <p:spPr>
          <a:xfrm>
            <a:off x="1377810" y="1673280"/>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Mediana</a:t>
            </a:r>
            <a:endParaRPr lang="es-ES" sz="750" b="0" u="none" strike="noStrike">
              <a:solidFill>
                <a:srgbClr val="000000"/>
              </a:solidFill>
              <a:effectLst/>
              <a:uFillTx/>
              <a:latin typeface="Arial" panose="020B0604020202020204"/>
            </a:endParaRPr>
          </a:p>
        </p:txBody>
      </p:sp>
      <p:sp>
        <p:nvSpPr>
          <p:cNvPr id="118" name="Text 7"/>
          <p:cNvSpPr/>
          <p:nvPr/>
        </p:nvSpPr>
        <p:spPr>
          <a:xfrm>
            <a:off x="2264490" y="1426320"/>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1.476</a:t>
            </a:r>
            <a:endParaRPr lang="es-ES" sz="1300" b="0" u="none" strike="noStrike">
              <a:solidFill>
                <a:srgbClr val="000000"/>
              </a:solidFill>
              <a:effectLst/>
              <a:uFillTx/>
              <a:latin typeface="Arial" panose="020B0604020202020204"/>
            </a:endParaRPr>
          </a:p>
        </p:txBody>
      </p:sp>
      <p:sp>
        <p:nvSpPr>
          <p:cNvPr id="119" name="Text 8"/>
          <p:cNvSpPr/>
          <p:nvPr/>
        </p:nvSpPr>
        <p:spPr>
          <a:xfrm>
            <a:off x="2264490" y="1673280"/>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Desv. Est.</a:t>
            </a:r>
            <a:endParaRPr lang="es-ES" sz="750" b="0" u="none" strike="noStrike">
              <a:solidFill>
                <a:srgbClr val="000000"/>
              </a:solidFill>
              <a:effectLst/>
              <a:uFillTx/>
              <a:latin typeface="Arial" panose="020B0604020202020204"/>
            </a:endParaRPr>
          </a:p>
        </p:txBody>
      </p:sp>
      <p:sp>
        <p:nvSpPr>
          <p:cNvPr id="120" name="Text 9"/>
          <p:cNvSpPr/>
          <p:nvPr/>
        </p:nvSpPr>
        <p:spPr>
          <a:xfrm>
            <a:off x="3150810" y="1426320"/>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-2.6</a:t>
            </a:r>
            <a:endParaRPr lang="es-ES" sz="1300" b="0" u="none" strike="noStrike">
              <a:solidFill>
                <a:srgbClr val="000000"/>
              </a:solidFill>
              <a:effectLst/>
              <a:uFillTx/>
              <a:latin typeface="Arial" panose="020B0604020202020204"/>
            </a:endParaRPr>
          </a:p>
        </p:txBody>
      </p:sp>
      <p:sp>
        <p:nvSpPr>
          <p:cNvPr id="121" name="Text 10"/>
          <p:cNvSpPr/>
          <p:nvPr/>
        </p:nvSpPr>
        <p:spPr>
          <a:xfrm>
            <a:off x="3150810" y="1673280"/>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Mín</a:t>
            </a:r>
            <a:endParaRPr lang="es-ES" sz="750" b="0" u="none" strike="noStrike">
              <a:solidFill>
                <a:srgbClr val="000000"/>
              </a:solidFill>
              <a:effectLst/>
              <a:uFillTx/>
              <a:latin typeface="Arial" panose="020B0604020202020204"/>
            </a:endParaRPr>
          </a:p>
        </p:txBody>
      </p:sp>
      <p:sp>
        <p:nvSpPr>
          <p:cNvPr id="122" name="Text 11"/>
          <p:cNvSpPr/>
          <p:nvPr/>
        </p:nvSpPr>
        <p:spPr>
          <a:xfrm>
            <a:off x="4037130" y="1426320"/>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12.5</a:t>
            </a:r>
            <a:endParaRPr lang="es-ES" sz="1300" b="0" u="none" strike="noStrike">
              <a:solidFill>
                <a:srgbClr val="000000"/>
              </a:solidFill>
              <a:effectLst/>
              <a:uFillTx/>
              <a:latin typeface="Arial" panose="020B0604020202020204"/>
            </a:endParaRPr>
          </a:p>
        </p:txBody>
      </p:sp>
      <p:sp>
        <p:nvSpPr>
          <p:cNvPr id="123" name="Text 12"/>
          <p:cNvSpPr/>
          <p:nvPr/>
        </p:nvSpPr>
        <p:spPr>
          <a:xfrm>
            <a:off x="4037130" y="1673280"/>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Máx</a:t>
            </a:r>
            <a:endParaRPr lang="es-ES" sz="750" b="0" u="none" strike="noStrike">
              <a:solidFill>
                <a:srgbClr val="000000"/>
              </a:solidFill>
              <a:effectLst/>
              <a:uFillTx/>
              <a:latin typeface="Arial" panose="020B0604020202020204"/>
            </a:endParaRPr>
          </a:p>
        </p:txBody>
      </p:sp>
      <p:sp>
        <p:nvSpPr>
          <p:cNvPr id="124" name="Text 13"/>
          <p:cNvSpPr/>
          <p:nvPr/>
        </p:nvSpPr>
        <p:spPr>
          <a:xfrm>
            <a:off x="4923810" y="1426320"/>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2.173</a:t>
            </a:r>
            <a:endParaRPr lang="es-ES" sz="1300" b="0" u="none" strike="noStrike">
              <a:solidFill>
                <a:srgbClr val="000000"/>
              </a:solidFill>
              <a:effectLst/>
              <a:uFillTx/>
              <a:latin typeface="Arial" panose="020B0604020202020204"/>
            </a:endParaRPr>
          </a:p>
        </p:txBody>
      </p:sp>
      <p:sp>
        <p:nvSpPr>
          <p:cNvPr id="125" name="Text 14"/>
          <p:cNvSpPr/>
          <p:nvPr/>
        </p:nvSpPr>
        <p:spPr>
          <a:xfrm>
            <a:off x="4923810" y="1673280"/>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Asimetría</a:t>
            </a:r>
            <a:endParaRPr lang="es-ES" sz="750" b="0" u="none" strike="noStrike">
              <a:solidFill>
                <a:srgbClr val="000000"/>
              </a:solidFill>
              <a:effectLst/>
              <a:uFillTx/>
              <a:latin typeface="Arial" panose="020B0604020202020204"/>
            </a:endParaRPr>
          </a:p>
        </p:txBody>
      </p:sp>
      <p:sp>
        <p:nvSpPr>
          <p:cNvPr id="126" name="Shape 15"/>
          <p:cNvSpPr/>
          <p:nvPr/>
        </p:nvSpPr>
        <p:spPr>
          <a:xfrm>
            <a:off x="440665" y="1925430"/>
            <a:ext cx="4786560" cy="2618280"/>
          </a:xfrm>
          <a:prstGeom prst="roundRect">
            <a:avLst>
              <a:gd name="adj" fmla="val 2095"/>
            </a:avLst>
          </a:prstGeom>
          <a:solidFill>
            <a:srgbClr val="FFFFFF"/>
          </a:solidFill>
          <a:ln w="0">
            <a:noFill/>
          </a:ln>
          <a:effectLst>
            <a:outerShdw algn="bl" rotWithShape="0">
              <a:srgbClr val="8798AD">
                <a:alpha val="0"/>
              </a:srgbClr>
            </a:outerShdw>
          </a:effectLst>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pic>
        <p:nvPicPr>
          <p:cNvPr id="127" name="Image 0" descr="/tmp/claude-0/-home-claude/c0a8783c-8817-5425-bc4f-190e5f64548a/scratchpad/work/imgs/img_000.png"/>
          <p:cNvPicPr/>
          <p:nvPr/>
        </p:nvPicPr>
        <p:blipFill>
          <a:blip r:embed="rId1"/>
          <a:stretch>
            <a:fillRect/>
          </a:stretch>
        </p:blipFill>
        <p:spPr>
          <a:xfrm>
            <a:off x="623545" y="1979405"/>
            <a:ext cx="4603680" cy="2435400"/>
          </a:xfrm>
          <a:prstGeom prst="rect">
            <a:avLst/>
          </a:prstGeom>
          <a:noFill/>
          <a:ln w="0">
            <a:noFill/>
          </a:ln>
        </p:spPr>
      </p:pic>
      <p:sp>
        <p:nvSpPr>
          <p:cNvPr id="128" name="Text 16"/>
          <p:cNvSpPr/>
          <p:nvPr/>
        </p:nvSpPr>
        <p:spPr>
          <a:xfrm>
            <a:off x="440690" y="4632960"/>
            <a:ext cx="5318125" cy="630555"/>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16000"/>
              </a:lnSpc>
              <a:tabLst>
                <a:tab pos="0" algn="l"/>
              </a:tabLst>
            </a:pPr>
            <a:r>
              <a:rPr lang="en-US" sz="1080" b="0" u="none" strike="noStrike">
                <a:solidFill>
                  <a:srgbClr val="12203D"/>
                </a:solidFill>
                <a:effectLst/>
                <a:uFillTx/>
                <a:latin typeface="Calibri" panose="020F0502020204030204"/>
                <a:ea typeface="Calibri" panose="020F0502020204030204"/>
              </a:rPr>
              <a:t>Asimetría 2,17. Mediana 0,3 y P75 1,3: la mitad del dataset aporta un valor casi igual al de un jugador de reemplazo. El máximo llega a 12,5 — el valor se concentra en una minoría diminuta. El 32,0% tiene VORP negativo.</a:t>
            </a:r>
            <a:endParaRPr lang="es-ES" sz="1080" b="0" u="none" strike="noStrike">
              <a:solidFill>
                <a:srgbClr val="000000"/>
              </a:solidFill>
              <a:effectLst/>
              <a:uFillTx/>
              <a:latin typeface="Arial" panose="020B0604020202020204"/>
            </a:endParaRPr>
          </a:p>
        </p:txBody>
      </p:sp>
      <p:sp>
        <p:nvSpPr>
          <p:cNvPr id="129" name="Text 17"/>
          <p:cNvSpPr/>
          <p:nvPr/>
        </p:nvSpPr>
        <p:spPr>
          <a:xfrm>
            <a:off x="6267330" y="1097280"/>
            <a:ext cx="5318280" cy="2923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500" b="1" u="none" strike="noStrike">
                <a:solidFill>
                  <a:srgbClr val="0B1E3D"/>
                </a:solidFill>
                <a:effectLst/>
                <a:uFillTx/>
                <a:latin typeface="Calibri" panose="020F0502020204030204"/>
                <a:ea typeface="Calibri" panose="020F0502020204030204"/>
              </a:rPr>
              <a:t>Puntos por partido</a:t>
            </a:r>
            <a:endParaRPr lang="es-ES" sz="1500" b="0" u="none" strike="noStrike">
              <a:solidFill>
                <a:srgbClr val="000000"/>
              </a:solidFill>
              <a:effectLst/>
              <a:uFillTx/>
              <a:latin typeface="Arial" panose="020B0604020202020204"/>
            </a:endParaRPr>
          </a:p>
        </p:txBody>
      </p:sp>
      <p:sp>
        <p:nvSpPr>
          <p:cNvPr id="130" name="Text 18"/>
          <p:cNvSpPr/>
          <p:nvPr/>
        </p:nvSpPr>
        <p:spPr>
          <a:xfrm>
            <a:off x="6267330" y="1426320"/>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9.405</a:t>
            </a:r>
            <a:endParaRPr lang="es-ES" sz="1300" b="0" u="none" strike="noStrike">
              <a:solidFill>
                <a:srgbClr val="000000"/>
              </a:solidFill>
              <a:effectLst/>
              <a:uFillTx/>
              <a:latin typeface="Arial" panose="020B0604020202020204"/>
            </a:endParaRPr>
          </a:p>
        </p:txBody>
      </p:sp>
      <p:sp>
        <p:nvSpPr>
          <p:cNvPr id="131" name="Text 19"/>
          <p:cNvSpPr/>
          <p:nvPr/>
        </p:nvSpPr>
        <p:spPr>
          <a:xfrm>
            <a:off x="6267330" y="1673280"/>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Media</a:t>
            </a:r>
            <a:endParaRPr lang="es-ES" sz="750" b="0" u="none" strike="noStrike">
              <a:solidFill>
                <a:srgbClr val="000000"/>
              </a:solidFill>
              <a:effectLst/>
              <a:uFillTx/>
              <a:latin typeface="Arial" panose="020B0604020202020204"/>
            </a:endParaRPr>
          </a:p>
        </p:txBody>
      </p:sp>
      <p:sp>
        <p:nvSpPr>
          <p:cNvPr id="132" name="Text 20"/>
          <p:cNvSpPr/>
          <p:nvPr/>
        </p:nvSpPr>
        <p:spPr>
          <a:xfrm>
            <a:off x="7153650" y="1426320"/>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7.9</a:t>
            </a:r>
            <a:endParaRPr lang="es-ES" sz="1300" b="0" u="none" strike="noStrike">
              <a:solidFill>
                <a:srgbClr val="000000"/>
              </a:solidFill>
              <a:effectLst/>
              <a:uFillTx/>
              <a:latin typeface="Arial" panose="020B0604020202020204"/>
            </a:endParaRPr>
          </a:p>
        </p:txBody>
      </p:sp>
      <p:sp>
        <p:nvSpPr>
          <p:cNvPr id="133" name="Text 21"/>
          <p:cNvSpPr/>
          <p:nvPr/>
        </p:nvSpPr>
        <p:spPr>
          <a:xfrm>
            <a:off x="7153650" y="1673280"/>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Mediana</a:t>
            </a:r>
            <a:endParaRPr lang="es-ES" sz="750" b="0" u="none" strike="noStrike">
              <a:solidFill>
                <a:srgbClr val="000000"/>
              </a:solidFill>
              <a:effectLst/>
              <a:uFillTx/>
              <a:latin typeface="Arial" panose="020B0604020202020204"/>
            </a:endParaRPr>
          </a:p>
        </p:txBody>
      </p:sp>
      <p:sp>
        <p:nvSpPr>
          <p:cNvPr id="134" name="Text 22"/>
          <p:cNvSpPr/>
          <p:nvPr/>
        </p:nvSpPr>
        <p:spPr>
          <a:xfrm>
            <a:off x="8040330" y="1426320"/>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6.098</a:t>
            </a:r>
            <a:endParaRPr lang="es-ES" sz="1300" b="0" u="none" strike="noStrike">
              <a:solidFill>
                <a:srgbClr val="000000"/>
              </a:solidFill>
              <a:effectLst/>
              <a:uFillTx/>
              <a:latin typeface="Arial" panose="020B0604020202020204"/>
            </a:endParaRPr>
          </a:p>
        </p:txBody>
      </p:sp>
      <p:sp>
        <p:nvSpPr>
          <p:cNvPr id="135" name="Text 23"/>
          <p:cNvSpPr/>
          <p:nvPr/>
        </p:nvSpPr>
        <p:spPr>
          <a:xfrm>
            <a:off x="8040330" y="1673280"/>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Desv. Est.</a:t>
            </a:r>
            <a:endParaRPr lang="es-ES" sz="750" b="0" u="none" strike="noStrike">
              <a:solidFill>
                <a:srgbClr val="000000"/>
              </a:solidFill>
              <a:effectLst/>
              <a:uFillTx/>
              <a:latin typeface="Arial" panose="020B0604020202020204"/>
            </a:endParaRPr>
          </a:p>
        </p:txBody>
      </p:sp>
      <p:sp>
        <p:nvSpPr>
          <p:cNvPr id="136" name="Text 24"/>
          <p:cNvSpPr/>
          <p:nvPr/>
        </p:nvSpPr>
        <p:spPr>
          <a:xfrm>
            <a:off x="8926650" y="1426320"/>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0.3</a:t>
            </a:r>
            <a:endParaRPr lang="es-ES" sz="1300" b="0" u="none" strike="noStrike">
              <a:solidFill>
                <a:srgbClr val="000000"/>
              </a:solidFill>
              <a:effectLst/>
              <a:uFillTx/>
              <a:latin typeface="Arial" panose="020B0604020202020204"/>
            </a:endParaRPr>
          </a:p>
        </p:txBody>
      </p:sp>
      <p:sp>
        <p:nvSpPr>
          <p:cNvPr id="137" name="Text 25"/>
          <p:cNvSpPr/>
          <p:nvPr/>
        </p:nvSpPr>
        <p:spPr>
          <a:xfrm>
            <a:off x="8926650" y="1673280"/>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Mín</a:t>
            </a:r>
            <a:endParaRPr lang="es-ES" sz="750" b="0" u="none" strike="noStrike">
              <a:solidFill>
                <a:srgbClr val="000000"/>
              </a:solidFill>
              <a:effectLst/>
              <a:uFillTx/>
              <a:latin typeface="Arial" panose="020B0604020202020204"/>
            </a:endParaRPr>
          </a:p>
        </p:txBody>
      </p:sp>
      <p:sp>
        <p:nvSpPr>
          <p:cNvPr id="138" name="Text 26"/>
          <p:cNvSpPr/>
          <p:nvPr/>
        </p:nvSpPr>
        <p:spPr>
          <a:xfrm>
            <a:off x="9812970" y="1426320"/>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37.1</a:t>
            </a:r>
            <a:endParaRPr lang="es-ES" sz="1300" b="0" u="none" strike="noStrike">
              <a:solidFill>
                <a:srgbClr val="000000"/>
              </a:solidFill>
              <a:effectLst/>
              <a:uFillTx/>
              <a:latin typeface="Arial" panose="020B0604020202020204"/>
            </a:endParaRPr>
          </a:p>
        </p:txBody>
      </p:sp>
      <p:sp>
        <p:nvSpPr>
          <p:cNvPr id="139" name="Text 27"/>
          <p:cNvSpPr/>
          <p:nvPr/>
        </p:nvSpPr>
        <p:spPr>
          <a:xfrm>
            <a:off x="9812970" y="1673280"/>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Máx</a:t>
            </a:r>
            <a:endParaRPr lang="es-ES" sz="750" b="0" u="none" strike="noStrike">
              <a:solidFill>
                <a:srgbClr val="000000"/>
              </a:solidFill>
              <a:effectLst/>
              <a:uFillTx/>
              <a:latin typeface="Arial" panose="020B0604020202020204"/>
            </a:endParaRPr>
          </a:p>
        </p:txBody>
      </p:sp>
      <p:sp>
        <p:nvSpPr>
          <p:cNvPr id="140" name="Text 28"/>
          <p:cNvSpPr/>
          <p:nvPr/>
        </p:nvSpPr>
        <p:spPr>
          <a:xfrm>
            <a:off x="10699650" y="1426320"/>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0.952</a:t>
            </a:r>
            <a:endParaRPr lang="es-ES" sz="1300" b="0" u="none" strike="noStrike">
              <a:solidFill>
                <a:srgbClr val="000000"/>
              </a:solidFill>
              <a:effectLst/>
              <a:uFillTx/>
              <a:latin typeface="Arial" panose="020B0604020202020204"/>
            </a:endParaRPr>
          </a:p>
        </p:txBody>
      </p:sp>
      <p:sp>
        <p:nvSpPr>
          <p:cNvPr id="141" name="Text 29"/>
          <p:cNvSpPr/>
          <p:nvPr/>
        </p:nvSpPr>
        <p:spPr>
          <a:xfrm>
            <a:off x="10664725" y="1664390"/>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Asimetría</a:t>
            </a:r>
            <a:endParaRPr lang="es-ES" sz="750" b="0" u="none" strike="noStrike">
              <a:solidFill>
                <a:srgbClr val="000000"/>
              </a:solidFill>
              <a:effectLst/>
              <a:uFillTx/>
              <a:latin typeface="Arial" panose="020B0604020202020204"/>
            </a:endParaRPr>
          </a:p>
        </p:txBody>
      </p:sp>
      <p:sp>
        <p:nvSpPr>
          <p:cNvPr id="142" name="Shape 30"/>
          <p:cNvSpPr/>
          <p:nvPr/>
        </p:nvSpPr>
        <p:spPr>
          <a:xfrm>
            <a:off x="6240000" y="1925430"/>
            <a:ext cx="4786560" cy="2618280"/>
          </a:xfrm>
          <a:prstGeom prst="roundRect">
            <a:avLst>
              <a:gd name="adj" fmla="val 2095"/>
            </a:avLst>
          </a:prstGeom>
          <a:solidFill>
            <a:srgbClr val="FFFFFF"/>
          </a:solidFill>
          <a:ln w="0">
            <a:noFill/>
          </a:ln>
          <a:effectLst>
            <a:outerShdw algn="bl" rotWithShape="0">
              <a:srgbClr val="8798AD">
                <a:alpha val="0"/>
              </a:srgbClr>
            </a:outerShdw>
          </a:effectLst>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pic>
        <p:nvPicPr>
          <p:cNvPr id="143" name="Image 1" descr="/tmp/claude-0/-home-claude/c0a8783c-8817-5425-bc4f-190e5f64548a/scratchpad/work/imgs/img_002.png"/>
          <p:cNvPicPr/>
          <p:nvPr/>
        </p:nvPicPr>
        <p:blipFill>
          <a:blip r:embed="rId2"/>
          <a:stretch>
            <a:fillRect/>
          </a:stretch>
        </p:blipFill>
        <p:spPr>
          <a:xfrm>
            <a:off x="6311755" y="1988930"/>
            <a:ext cx="4603680" cy="2435400"/>
          </a:xfrm>
          <a:prstGeom prst="rect">
            <a:avLst/>
          </a:prstGeom>
          <a:noFill/>
          <a:ln w="0">
            <a:noFill/>
          </a:ln>
        </p:spPr>
      </p:pic>
      <p:sp>
        <p:nvSpPr>
          <p:cNvPr id="144" name="Text 31"/>
          <p:cNvSpPr/>
          <p:nvPr/>
        </p:nvSpPr>
        <p:spPr>
          <a:xfrm>
            <a:off x="6240025" y="4621375"/>
            <a:ext cx="5318280" cy="14317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16000"/>
              </a:lnSpc>
              <a:tabLst>
                <a:tab pos="0" algn="l"/>
              </a:tabLst>
            </a:pPr>
            <a:r>
              <a:rPr lang="en-US" sz="1080" b="0" u="none" strike="noStrike">
                <a:solidFill>
                  <a:srgbClr val="12203D"/>
                </a:solidFill>
                <a:effectLst/>
                <a:uFillTx/>
                <a:latin typeface="Calibri" panose="020F0502020204030204"/>
                <a:ea typeface="Calibri" panose="020F0502020204030204"/>
              </a:rPr>
              <a:t>Media 9,4, mediana 7,9, asimetría 0,95. Las cinco posiciones tienen medianas parecidas: anotar no es una función especializada del rol. Mide volumen, no eficiencia ni valor — se lee junto a TS% y USG%.</a:t>
            </a:r>
            <a:endParaRPr lang="es-ES" sz="1080" b="0" u="none" strike="noStrike">
              <a:solidFill>
                <a:srgbClr val="000000"/>
              </a:solidFill>
              <a:effectLst/>
              <a:uFillTx/>
              <a:latin typeface="Arial" panose="020B0604020202020204"/>
            </a:endParaRPr>
          </a:p>
        </p:txBody>
      </p:sp>
      <p:pic>
        <p:nvPicPr>
          <p:cNvPr id="145" name="Image 2" descr="/tmp/claude-0/-home-claude/c0a8783c-8817-5425-bc4f-190e5f64548a/scratchpad/work/icons/basketball_E1590F.png"/>
          <p:cNvPicPr/>
          <p:nvPr/>
        </p:nvPicPr>
        <p:blipFill>
          <a:blip r:embed="rId3"/>
          <a:stretch>
            <a:fillRect/>
          </a:stretch>
        </p:blipFill>
        <p:spPr>
          <a:xfrm>
            <a:off x="548640" y="6546960"/>
            <a:ext cx="145800" cy="145800"/>
          </a:xfrm>
          <a:prstGeom prst="rect">
            <a:avLst/>
          </a:prstGeom>
          <a:noFill/>
          <a:ln w="0">
            <a:noFill/>
          </a:ln>
        </p:spPr>
      </p:pic>
      <p:sp>
        <p:nvSpPr>
          <p:cNvPr id="146" name="Text 32"/>
          <p:cNvSpPr/>
          <p:nvPr/>
        </p:nvSpPr>
        <p:spPr>
          <a:xfrm>
            <a:off x="768240" y="6510600"/>
            <a:ext cx="45716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850" b="0" u="none" strike="noStrike">
                <a:solidFill>
                  <a:srgbClr val="5B6B85"/>
                </a:solidFill>
                <a:effectLst/>
                <a:uFillTx/>
                <a:latin typeface="Calibri" panose="020F0502020204030204"/>
                <a:ea typeface="Calibri" panose="020F0502020204030204"/>
              </a:rPr>
              <a:t>02 · Análisis univariado</a:t>
            </a:r>
            <a:endParaRPr lang="es-ES" sz="850" b="0" u="none" strike="noStrike">
              <a:solidFill>
                <a:srgbClr val="000000"/>
              </a:solidFill>
              <a:effectLst/>
              <a:uFillTx/>
              <a:latin typeface="Arial" panose="020B0604020202020204"/>
            </a:endParaRPr>
          </a:p>
        </p:txBody>
      </p:sp>
      <p:sp>
        <p:nvSpPr>
          <p:cNvPr id="147" name="Text 33"/>
          <p:cNvSpPr/>
          <p:nvPr/>
        </p:nvSpPr>
        <p:spPr>
          <a:xfrm>
            <a:off x="10271520" y="6510600"/>
            <a:ext cx="1371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algn="r" defTabSz="914400">
              <a:lnSpc>
                <a:spcPct val="100000"/>
              </a:lnSpc>
              <a:tabLst>
                <a:tab pos="0" algn="l"/>
              </a:tabLst>
            </a:pPr>
            <a:r>
              <a:rPr lang="en-US" sz="850" b="0" u="none" strike="noStrike">
                <a:solidFill>
                  <a:srgbClr val="5B6B85"/>
                </a:solidFill>
                <a:effectLst/>
                <a:uFillTx/>
                <a:latin typeface="Calibri" panose="020F0502020204030204"/>
                <a:ea typeface="Calibri" panose="020F0502020204030204"/>
              </a:rPr>
              <a:t>06 / 23</a:t>
            </a:r>
            <a:endParaRPr lang="es-ES" sz="850" b="0" u="none" strike="noStrike">
              <a:solidFill>
                <a:srgbClr val="000000"/>
              </a:solidFill>
              <a:effectLst/>
              <a:uFillTx/>
              <a:latin typeface="Arial" panose="020B0604020202020204"/>
            </a:endParaRPr>
          </a:p>
        </p:txBody>
      </p:sp>
      <p:pic>
        <p:nvPicPr>
          <p:cNvPr id="2" name="Imagen 1"/>
          <p:cNvPicPr/>
          <p:nvPr/>
        </p:nvPicPr>
        <p:blipFill>
          <a:blip r:embed="rId4"/>
          <a:stretch>
            <a:fillRect/>
          </a:stretch>
        </p:blipFill>
        <p:spPr>
          <a:xfrm>
            <a:off x="767715" y="5353050"/>
            <a:ext cx="4342130" cy="972185"/>
          </a:xfrm>
          <a:prstGeom prst="rect">
            <a:avLst/>
          </a:prstGeom>
        </p:spPr>
      </p:pic>
      <p:pic>
        <p:nvPicPr>
          <p:cNvPr id="3" name="Imagen 2"/>
          <p:cNvPicPr/>
          <p:nvPr/>
        </p:nvPicPr>
        <p:blipFill>
          <a:blip r:embed="rId5"/>
          <a:stretch>
            <a:fillRect/>
          </a:stretch>
        </p:blipFill>
        <p:spPr>
          <a:xfrm>
            <a:off x="6239510" y="5373370"/>
            <a:ext cx="4787265" cy="972185"/>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4F6F9"/>
        </a:solidFill>
        <a:effectLst/>
      </p:bgPr>
    </p:bg>
    <p:spTree>
      <p:nvGrpSpPr>
        <p:cNvPr id="1" name=""/>
        <p:cNvGrpSpPr/>
        <p:nvPr/>
      </p:nvGrpSpPr>
      <p:grpSpPr>
        <a:xfrm>
          <a:off x="0" y="0"/>
          <a:ext cx="0" cy="0"/>
          <a:chOff x="0" y="0"/>
          <a:chExt cx="0" cy="0"/>
        </a:xfrm>
      </p:grpSpPr>
      <p:sp>
        <p:nvSpPr>
          <p:cNvPr id="148" name="Text 0"/>
          <p:cNvSpPr/>
          <p:nvPr/>
        </p:nvSpPr>
        <p:spPr>
          <a:xfrm>
            <a:off x="548640" y="411480"/>
            <a:ext cx="7314840" cy="2923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1150" b="1" u="none" strike="noStrike" spc="201">
                <a:solidFill>
                  <a:srgbClr val="E1590F"/>
                </a:solidFill>
                <a:effectLst/>
                <a:uFillTx/>
                <a:latin typeface="Calibri" panose="020F0502020204030204"/>
                <a:ea typeface="Calibri" panose="020F0502020204030204"/>
              </a:rPr>
              <a:t>02 · ANÁLISIS UNIVARIADO</a:t>
            </a:r>
            <a:endParaRPr lang="es-ES" sz="1150" b="0" u="none" strike="noStrike">
              <a:solidFill>
                <a:srgbClr val="000000"/>
              </a:solidFill>
              <a:effectLst/>
              <a:uFillTx/>
              <a:latin typeface="Arial" panose="020B0604020202020204"/>
            </a:endParaRPr>
          </a:p>
        </p:txBody>
      </p:sp>
      <p:sp>
        <p:nvSpPr>
          <p:cNvPr id="149" name="Text 1"/>
          <p:cNvSpPr/>
          <p:nvPr/>
        </p:nvSpPr>
        <p:spPr>
          <a:xfrm>
            <a:off x="479425" y="650185"/>
            <a:ext cx="11094120" cy="59400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2000"/>
              </a:lnSpc>
              <a:tabLst>
                <a:tab pos="0" algn="l"/>
              </a:tabLst>
            </a:pPr>
            <a:r>
              <a:rPr lang="en-US" sz="2900" b="1" u="none" strike="noStrike">
                <a:solidFill>
                  <a:srgbClr val="0B1E3D"/>
                </a:solidFill>
                <a:effectLst/>
                <a:uFillTx/>
                <a:latin typeface="Calibri" panose="020F0502020204030204"/>
                <a:ea typeface="Calibri" panose="020F0502020204030204"/>
              </a:rPr>
              <a:t>Oportunidad y eficiencia</a:t>
            </a:r>
            <a:endParaRPr lang="es-ES" sz="2900" b="0" u="none" strike="noStrike">
              <a:solidFill>
                <a:srgbClr val="000000"/>
              </a:solidFill>
              <a:effectLst/>
              <a:uFillTx/>
              <a:latin typeface="Arial" panose="020B0604020202020204"/>
            </a:endParaRPr>
          </a:p>
        </p:txBody>
      </p:sp>
      <p:sp>
        <p:nvSpPr>
          <p:cNvPr id="150" name="Text 2"/>
          <p:cNvSpPr/>
          <p:nvPr/>
        </p:nvSpPr>
        <p:spPr>
          <a:xfrm>
            <a:off x="485775" y="1134745"/>
            <a:ext cx="5318280" cy="2923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500" b="1" u="none" strike="noStrike">
                <a:solidFill>
                  <a:srgbClr val="0B1E3D"/>
                </a:solidFill>
                <a:effectLst/>
                <a:uFillTx/>
                <a:latin typeface="Calibri" panose="020F0502020204030204"/>
                <a:ea typeface="Calibri" panose="020F0502020204030204"/>
              </a:rPr>
              <a:t>Minutos totales en la temporada</a:t>
            </a:r>
            <a:endParaRPr lang="es-ES" sz="1500" b="0" u="none" strike="noStrike">
              <a:solidFill>
                <a:srgbClr val="000000"/>
              </a:solidFill>
              <a:effectLst/>
              <a:uFillTx/>
              <a:latin typeface="Arial" panose="020B0604020202020204"/>
            </a:endParaRPr>
          </a:p>
        </p:txBody>
      </p:sp>
      <p:sp>
        <p:nvSpPr>
          <p:cNvPr id="151" name="Text 3"/>
          <p:cNvSpPr/>
          <p:nvPr/>
        </p:nvSpPr>
        <p:spPr>
          <a:xfrm>
            <a:off x="485775" y="1463785"/>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1442.6</a:t>
            </a:r>
            <a:endParaRPr lang="es-ES" sz="1300" b="0" u="none" strike="noStrike">
              <a:solidFill>
                <a:srgbClr val="000000"/>
              </a:solidFill>
              <a:effectLst/>
              <a:uFillTx/>
              <a:latin typeface="Arial" panose="020B0604020202020204"/>
            </a:endParaRPr>
          </a:p>
        </p:txBody>
      </p:sp>
      <p:sp>
        <p:nvSpPr>
          <p:cNvPr id="152" name="Text 4"/>
          <p:cNvSpPr/>
          <p:nvPr/>
        </p:nvSpPr>
        <p:spPr>
          <a:xfrm>
            <a:off x="485775" y="1710745"/>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Media</a:t>
            </a:r>
            <a:endParaRPr lang="es-ES" sz="750" b="0" u="none" strike="noStrike">
              <a:solidFill>
                <a:srgbClr val="000000"/>
              </a:solidFill>
              <a:effectLst/>
              <a:uFillTx/>
              <a:latin typeface="Arial" panose="020B0604020202020204"/>
            </a:endParaRPr>
          </a:p>
        </p:txBody>
      </p:sp>
      <p:sp>
        <p:nvSpPr>
          <p:cNvPr id="153" name="Text 5"/>
          <p:cNvSpPr/>
          <p:nvPr/>
        </p:nvSpPr>
        <p:spPr>
          <a:xfrm>
            <a:off x="1372095" y="1463785"/>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1407</a:t>
            </a:r>
            <a:endParaRPr lang="es-ES" sz="1300" b="0" u="none" strike="noStrike">
              <a:solidFill>
                <a:srgbClr val="000000"/>
              </a:solidFill>
              <a:effectLst/>
              <a:uFillTx/>
              <a:latin typeface="Arial" panose="020B0604020202020204"/>
            </a:endParaRPr>
          </a:p>
        </p:txBody>
      </p:sp>
      <p:sp>
        <p:nvSpPr>
          <p:cNvPr id="154" name="Text 6"/>
          <p:cNvSpPr/>
          <p:nvPr/>
        </p:nvSpPr>
        <p:spPr>
          <a:xfrm>
            <a:off x="1372095" y="1710745"/>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Mediana</a:t>
            </a:r>
            <a:endParaRPr lang="es-ES" sz="750" b="0" u="none" strike="noStrike">
              <a:solidFill>
                <a:srgbClr val="000000"/>
              </a:solidFill>
              <a:effectLst/>
              <a:uFillTx/>
              <a:latin typeface="Arial" panose="020B0604020202020204"/>
            </a:endParaRPr>
          </a:p>
        </p:txBody>
      </p:sp>
      <p:sp>
        <p:nvSpPr>
          <p:cNvPr id="155" name="Text 7"/>
          <p:cNvSpPr/>
          <p:nvPr/>
        </p:nvSpPr>
        <p:spPr>
          <a:xfrm>
            <a:off x="2258775" y="1463785"/>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867.4</a:t>
            </a:r>
            <a:endParaRPr lang="es-ES" sz="1300" b="0" u="none" strike="noStrike">
              <a:solidFill>
                <a:srgbClr val="000000"/>
              </a:solidFill>
              <a:effectLst/>
              <a:uFillTx/>
              <a:latin typeface="Arial" panose="020B0604020202020204"/>
            </a:endParaRPr>
          </a:p>
        </p:txBody>
      </p:sp>
      <p:sp>
        <p:nvSpPr>
          <p:cNvPr id="156" name="Text 8"/>
          <p:cNvSpPr/>
          <p:nvPr/>
        </p:nvSpPr>
        <p:spPr>
          <a:xfrm>
            <a:off x="2258775" y="1710745"/>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Desv. Est.</a:t>
            </a:r>
            <a:endParaRPr lang="es-ES" sz="750" b="0" u="none" strike="noStrike">
              <a:solidFill>
                <a:srgbClr val="000000"/>
              </a:solidFill>
              <a:effectLst/>
              <a:uFillTx/>
              <a:latin typeface="Arial" panose="020B0604020202020204"/>
            </a:endParaRPr>
          </a:p>
        </p:txBody>
      </p:sp>
      <p:sp>
        <p:nvSpPr>
          <p:cNvPr id="157" name="Text 9"/>
          <p:cNvSpPr/>
          <p:nvPr/>
        </p:nvSpPr>
        <p:spPr>
          <a:xfrm>
            <a:off x="3145095" y="1463785"/>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100</a:t>
            </a:r>
            <a:endParaRPr lang="es-ES" sz="1300" b="0" u="none" strike="noStrike">
              <a:solidFill>
                <a:srgbClr val="000000"/>
              </a:solidFill>
              <a:effectLst/>
              <a:uFillTx/>
              <a:latin typeface="Arial" panose="020B0604020202020204"/>
            </a:endParaRPr>
          </a:p>
        </p:txBody>
      </p:sp>
      <p:sp>
        <p:nvSpPr>
          <p:cNvPr id="158" name="Text 10"/>
          <p:cNvSpPr/>
          <p:nvPr/>
        </p:nvSpPr>
        <p:spPr>
          <a:xfrm>
            <a:off x="3145095" y="1710745"/>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Mín</a:t>
            </a:r>
            <a:endParaRPr lang="es-ES" sz="750" b="0" u="none" strike="noStrike">
              <a:solidFill>
                <a:srgbClr val="000000"/>
              </a:solidFill>
              <a:effectLst/>
              <a:uFillTx/>
              <a:latin typeface="Arial" panose="020B0604020202020204"/>
            </a:endParaRPr>
          </a:p>
        </p:txBody>
      </p:sp>
      <p:sp>
        <p:nvSpPr>
          <p:cNvPr id="159" name="Text 11"/>
          <p:cNvSpPr/>
          <p:nvPr/>
        </p:nvSpPr>
        <p:spPr>
          <a:xfrm>
            <a:off x="4031415" y="1463785"/>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3533</a:t>
            </a:r>
            <a:endParaRPr lang="es-ES" sz="1300" b="0" u="none" strike="noStrike">
              <a:solidFill>
                <a:srgbClr val="000000"/>
              </a:solidFill>
              <a:effectLst/>
              <a:uFillTx/>
              <a:latin typeface="Arial" panose="020B0604020202020204"/>
            </a:endParaRPr>
          </a:p>
        </p:txBody>
      </p:sp>
      <p:sp>
        <p:nvSpPr>
          <p:cNvPr id="160" name="Text 12"/>
          <p:cNvSpPr/>
          <p:nvPr/>
        </p:nvSpPr>
        <p:spPr>
          <a:xfrm>
            <a:off x="4031415" y="1710745"/>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Máx</a:t>
            </a:r>
            <a:endParaRPr lang="es-ES" sz="750" b="0" u="none" strike="noStrike">
              <a:solidFill>
                <a:srgbClr val="000000"/>
              </a:solidFill>
              <a:effectLst/>
              <a:uFillTx/>
              <a:latin typeface="Arial" panose="020B0604020202020204"/>
            </a:endParaRPr>
          </a:p>
        </p:txBody>
      </p:sp>
      <p:sp>
        <p:nvSpPr>
          <p:cNvPr id="161" name="Text 13"/>
          <p:cNvSpPr/>
          <p:nvPr/>
        </p:nvSpPr>
        <p:spPr>
          <a:xfrm>
            <a:off x="4918095" y="1463785"/>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0.185</a:t>
            </a:r>
            <a:endParaRPr lang="es-ES" sz="1300" b="0" u="none" strike="noStrike">
              <a:solidFill>
                <a:srgbClr val="000000"/>
              </a:solidFill>
              <a:effectLst/>
              <a:uFillTx/>
              <a:latin typeface="Arial" panose="020B0604020202020204"/>
            </a:endParaRPr>
          </a:p>
        </p:txBody>
      </p:sp>
      <p:sp>
        <p:nvSpPr>
          <p:cNvPr id="162" name="Text 14"/>
          <p:cNvSpPr/>
          <p:nvPr/>
        </p:nvSpPr>
        <p:spPr>
          <a:xfrm>
            <a:off x="4918095" y="1710745"/>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Asimetría</a:t>
            </a:r>
            <a:endParaRPr lang="es-ES" sz="750" b="0" u="none" strike="noStrike">
              <a:solidFill>
                <a:srgbClr val="000000"/>
              </a:solidFill>
              <a:effectLst/>
              <a:uFillTx/>
              <a:latin typeface="Arial" panose="020B0604020202020204"/>
            </a:endParaRPr>
          </a:p>
        </p:txBody>
      </p:sp>
      <p:sp>
        <p:nvSpPr>
          <p:cNvPr id="163" name="Shape 15"/>
          <p:cNvSpPr/>
          <p:nvPr/>
        </p:nvSpPr>
        <p:spPr>
          <a:xfrm>
            <a:off x="751815" y="1920985"/>
            <a:ext cx="4786560" cy="2618280"/>
          </a:xfrm>
          <a:prstGeom prst="roundRect">
            <a:avLst>
              <a:gd name="adj" fmla="val 2095"/>
            </a:avLst>
          </a:prstGeom>
          <a:solidFill>
            <a:srgbClr val="FFFFFF"/>
          </a:solidFill>
          <a:ln w="0">
            <a:noFill/>
          </a:ln>
          <a:effectLst>
            <a:outerShdw algn="bl" rotWithShape="0">
              <a:srgbClr val="8798AD">
                <a:alpha val="0"/>
              </a:srgbClr>
            </a:outerShdw>
          </a:effectLst>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pic>
        <p:nvPicPr>
          <p:cNvPr id="164" name="Image 0" descr="/tmp/claude-0/-home-claude/c0a8783c-8817-5425-bc4f-190e5f64548a/scratchpad/work/imgs/img_004.png"/>
          <p:cNvPicPr/>
          <p:nvPr/>
        </p:nvPicPr>
        <p:blipFill>
          <a:blip r:embed="rId1"/>
          <a:stretch>
            <a:fillRect/>
          </a:stretch>
        </p:blipFill>
        <p:spPr>
          <a:xfrm>
            <a:off x="843255" y="2012425"/>
            <a:ext cx="4603680" cy="2435400"/>
          </a:xfrm>
          <a:prstGeom prst="rect">
            <a:avLst/>
          </a:prstGeom>
          <a:noFill/>
          <a:ln w="0">
            <a:noFill/>
          </a:ln>
        </p:spPr>
      </p:pic>
      <p:sp>
        <p:nvSpPr>
          <p:cNvPr id="165" name="Text 16"/>
          <p:cNvSpPr/>
          <p:nvPr/>
        </p:nvSpPr>
        <p:spPr>
          <a:xfrm>
            <a:off x="535940" y="4580735"/>
            <a:ext cx="5318280" cy="14317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16000"/>
              </a:lnSpc>
              <a:tabLst>
                <a:tab pos="0" algn="l"/>
              </a:tabLst>
            </a:pPr>
            <a:r>
              <a:rPr lang="en-US" sz="1080" b="0" u="none" strike="noStrike">
                <a:solidFill>
                  <a:srgbClr val="12203D"/>
                </a:solidFill>
                <a:effectLst/>
                <a:uFillTx/>
                <a:latin typeface="Calibri" panose="020F0502020204030204"/>
                <a:ea typeface="Calibri" panose="020F0502020204030204"/>
              </a:rPr>
              <a:t>La más simétrica de las 10 (asimetría 0,18; media y mediana casi idénticas) y sin apenas atípicos: acotada por la estructura de la competición. Es el mejor proxy de la confianza del cuerpo técnico.</a:t>
            </a:r>
            <a:endParaRPr lang="es-ES" sz="1080" b="0" u="none" strike="noStrike">
              <a:solidFill>
                <a:srgbClr val="000000"/>
              </a:solidFill>
              <a:effectLst/>
              <a:uFillTx/>
              <a:latin typeface="Arial" panose="020B0604020202020204"/>
            </a:endParaRPr>
          </a:p>
        </p:txBody>
      </p:sp>
      <p:sp>
        <p:nvSpPr>
          <p:cNvPr id="166" name="Text 17"/>
          <p:cNvSpPr/>
          <p:nvPr/>
        </p:nvSpPr>
        <p:spPr>
          <a:xfrm>
            <a:off x="6261615" y="1134745"/>
            <a:ext cx="5318280" cy="2923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500" b="1" u="none" strike="noStrike">
                <a:solidFill>
                  <a:srgbClr val="0B1E3D"/>
                </a:solidFill>
                <a:effectLst/>
                <a:uFillTx/>
                <a:latin typeface="Calibri" panose="020F0502020204030204"/>
                <a:ea typeface="Calibri" panose="020F0502020204030204"/>
              </a:rPr>
              <a:t>TS% — % de tiro verdadero</a:t>
            </a:r>
            <a:endParaRPr lang="es-ES" sz="1500" b="0" u="none" strike="noStrike">
              <a:solidFill>
                <a:srgbClr val="000000"/>
              </a:solidFill>
              <a:effectLst/>
              <a:uFillTx/>
              <a:latin typeface="Arial" panose="020B0604020202020204"/>
            </a:endParaRPr>
          </a:p>
        </p:txBody>
      </p:sp>
      <p:sp>
        <p:nvSpPr>
          <p:cNvPr id="167" name="Text 18"/>
          <p:cNvSpPr/>
          <p:nvPr/>
        </p:nvSpPr>
        <p:spPr>
          <a:xfrm>
            <a:off x="6261615" y="1463785"/>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0.525</a:t>
            </a:r>
            <a:endParaRPr lang="es-ES" sz="1300" b="0" u="none" strike="noStrike">
              <a:solidFill>
                <a:srgbClr val="000000"/>
              </a:solidFill>
              <a:effectLst/>
              <a:uFillTx/>
              <a:latin typeface="Arial" panose="020B0604020202020204"/>
            </a:endParaRPr>
          </a:p>
        </p:txBody>
      </p:sp>
      <p:sp>
        <p:nvSpPr>
          <p:cNvPr id="168" name="Text 19"/>
          <p:cNvSpPr/>
          <p:nvPr/>
        </p:nvSpPr>
        <p:spPr>
          <a:xfrm>
            <a:off x="6261615" y="1710745"/>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Media</a:t>
            </a:r>
            <a:endParaRPr lang="es-ES" sz="750" b="0" u="none" strike="noStrike">
              <a:solidFill>
                <a:srgbClr val="000000"/>
              </a:solidFill>
              <a:effectLst/>
              <a:uFillTx/>
              <a:latin typeface="Arial" panose="020B0604020202020204"/>
            </a:endParaRPr>
          </a:p>
        </p:txBody>
      </p:sp>
      <p:sp>
        <p:nvSpPr>
          <p:cNvPr id="169" name="Text 20"/>
          <p:cNvSpPr/>
          <p:nvPr/>
        </p:nvSpPr>
        <p:spPr>
          <a:xfrm>
            <a:off x="7147935" y="1463785"/>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0.528</a:t>
            </a:r>
            <a:endParaRPr lang="es-ES" sz="1300" b="0" u="none" strike="noStrike">
              <a:solidFill>
                <a:srgbClr val="000000"/>
              </a:solidFill>
              <a:effectLst/>
              <a:uFillTx/>
              <a:latin typeface="Arial" panose="020B0604020202020204"/>
            </a:endParaRPr>
          </a:p>
        </p:txBody>
      </p:sp>
      <p:sp>
        <p:nvSpPr>
          <p:cNvPr id="170" name="Text 21"/>
          <p:cNvSpPr/>
          <p:nvPr/>
        </p:nvSpPr>
        <p:spPr>
          <a:xfrm>
            <a:off x="7147935" y="1710745"/>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Mediana</a:t>
            </a:r>
            <a:endParaRPr lang="es-ES" sz="750" b="0" u="none" strike="noStrike">
              <a:solidFill>
                <a:srgbClr val="000000"/>
              </a:solidFill>
              <a:effectLst/>
              <a:uFillTx/>
              <a:latin typeface="Arial" panose="020B0604020202020204"/>
            </a:endParaRPr>
          </a:p>
        </p:txBody>
      </p:sp>
      <p:sp>
        <p:nvSpPr>
          <p:cNvPr id="171" name="Text 22"/>
          <p:cNvSpPr/>
          <p:nvPr/>
        </p:nvSpPr>
        <p:spPr>
          <a:xfrm>
            <a:off x="8034615" y="1463785"/>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0.059</a:t>
            </a:r>
            <a:endParaRPr lang="es-ES" sz="1300" b="0" u="none" strike="noStrike">
              <a:solidFill>
                <a:srgbClr val="000000"/>
              </a:solidFill>
              <a:effectLst/>
              <a:uFillTx/>
              <a:latin typeface="Arial" panose="020B0604020202020204"/>
            </a:endParaRPr>
          </a:p>
        </p:txBody>
      </p:sp>
      <p:sp>
        <p:nvSpPr>
          <p:cNvPr id="172" name="Text 23"/>
          <p:cNvSpPr/>
          <p:nvPr/>
        </p:nvSpPr>
        <p:spPr>
          <a:xfrm>
            <a:off x="8034615" y="1710745"/>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Desv. Est.</a:t>
            </a:r>
            <a:endParaRPr lang="es-ES" sz="750" b="0" u="none" strike="noStrike">
              <a:solidFill>
                <a:srgbClr val="000000"/>
              </a:solidFill>
              <a:effectLst/>
              <a:uFillTx/>
              <a:latin typeface="Arial" panose="020B0604020202020204"/>
            </a:endParaRPr>
          </a:p>
        </p:txBody>
      </p:sp>
      <p:sp>
        <p:nvSpPr>
          <p:cNvPr id="173" name="Text 24"/>
          <p:cNvSpPr/>
          <p:nvPr/>
        </p:nvSpPr>
        <p:spPr>
          <a:xfrm>
            <a:off x="8920935" y="1463785"/>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0.184</a:t>
            </a:r>
            <a:endParaRPr lang="es-ES" sz="1300" b="0" u="none" strike="noStrike">
              <a:solidFill>
                <a:srgbClr val="000000"/>
              </a:solidFill>
              <a:effectLst/>
              <a:uFillTx/>
              <a:latin typeface="Arial" panose="020B0604020202020204"/>
            </a:endParaRPr>
          </a:p>
        </p:txBody>
      </p:sp>
      <p:sp>
        <p:nvSpPr>
          <p:cNvPr id="174" name="Text 25"/>
          <p:cNvSpPr/>
          <p:nvPr/>
        </p:nvSpPr>
        <p:spPr>
          <a:xfrm>
            <a:off x="8920935" y="1710745"/>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Mín</a:t>
            </a:r>
            <a:endParaRPr lang="es-ES" sz="750" b="0" u="none" strike="noStrike">
              <a:solidFill>
                <a:srgbClr val="000000"/>
              </a:solidFill>
              <a:effectLst/>
              <a:uFillTx/>
              <a:latin typeface="Arial" panose="020B0604020202020204"/>
            </a:endParaRPr>
          </a:p>
        </p:txBody>
      </p:sp>
      <p:sp>
        <p:nvSpPr>
          <p:cNvPr id="175" name="Text 26"/>
          <p:cNvSpPr/>
          <p:nvPr/>
        </p:nvSpPr>
        <p:spPr>
          <a:xfrm>
            <a:off x="9807255" y="1463785"/>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0.746</a:t>
            </a:r>
            <a:endParaRPr lang="es-ES" sz="1300" b="0" u="none" strike="noStrike">
              <a:solidFill>
                <a:srgbClr val="000000"/>
              </a:solidFill>
              <a:effectLst/>
              <a:uFillTx/>
              <a:latin typeface="Arial" panose="020B0604020202020204"/>
            </a:endParaRPr>
          </a:p>
        </p:txBody>
      </p:sp>
      <p:sp>
        <p:nvSpPr>
          <p:cNvPr id="176" name="Text 27"/>
          <p:cNvSpPr/>
          <p:nvPr/>
        </p:nvSpPr>
        <p:spPr>
          <a:xfrm>
            <a:off x="9807255" y="1710745"/>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Máx</a:t>
            </a:r>
            <a:endParaRPr lang="es-ES" sz="750" b="0" u="none" strike="noStrike">
              <a:solidFill>
                <a:srgbClr val="000000"/>
              </a:solidFill>
              <a:effectLst/>
              <a:uFillTx/>
              <a:latin typeface="Arial" panose="020B0604020202020204"/>
            </a:endParaRPr>
          </a:p>
        </p:txBody>
      </p:sp>
      <p:sp>
        <p:nvSpPr>
          <p:cNvPr id="177" name="Text 28"/>
          <p:cNvSpPr/>
          <p:nvPr/>
        </p:nvSpPr>
        <p:spPr>
          <a:xfrm>
            <a:off x="10693935" y="1463785"/>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-0.437</a:t>
            </a:r>
            <a:endParaRPr lang="es-ES" sz="1300" b="0" u="none" strike="noStrike">
              <a:solidFill>
                <a:srgbClr val="000000"/>
              </a:solidFill>
              <a:effectLst/>
              <a:uFillTx/>
              <a:latin typeface="Arial" panose="020B0604020202020204"/>
            </a:endParaRPr>
          </a:p>
        </p:txBody>
      </p:sp>
      <p:sp>
        <p:nvSpPr>
          <p:cNvPr id="178" name="Text 29"/>
          <p:cNvSpPr/>
          <p:nvPr/>
        </p:nvSpPr>
        <p:spPr>
          <a:xfrm>
            <a:off x="10693935" y="1710745"/>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Asimetría</a:t>
            </a:r>
            <a:endParaRPr lang="es-ES" sz="750" b="0" u="none" strike="noStrike">
              <a:solidFill>
                <a:srgbClr val="000000"/>
              </a:solidFill>
              <a:effectLst/>
              <a:uFillTx/>
              <a:latin typeface="Arial" panose="020B0604020202020204"/>
            </a:endParaRPr>
          </a:p>
        </p:txBody>
      </p:sp>
      <p:sp>
        <p:nvSpPr>
          <p:cNvPr id="179" name="Shape 30"/>
          <p:cNvSpPr/>
          <p:nvPr/>
        </p:nvSpPr>
        <p:spPr>
          <a:xfrm>
            <a:off x="6527655" y="1920985"/>
            <a:ext cx="4786560" cy="2618280"/>
          </a:xfrm>
          <a:prstGeom prst="roundRect">
            <a:avLst>
              <a:gd name="adj" fmla="val 2095"/>
            </a:avLst>
          </a:prstGeom>
          <a:solidFill>
            <a:srgbClr val="FFFFFF"/>
          </a:solidFill>
          <a:ln w="0">
            <a:noFill/>
          </a:ln>
          <a:effectLst>
            <a:outerShdw algn="bl" rotWithShape="0">
              <a:srgbClr val="8798AD">
                <a:alpha val="0"/>
              </a:srgbClr>
            </a:outerShdw>
          </a:effectLst>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pic>
        <p:nvPicPr>
          <p:cNvPr id="180" name="Image 1" descr="/tmp/claude-0/-home-claude/c0a8783c-8817-5425-bc4f-190e5f64548a/scratchpad/work/imgs/img_006.png"/>
          <p:cNvPicPr/>
          <p:nvPr/>
        </p:nvPicPr>
        <p:blipFill>
          <a:blip r:embed="rId2"/>
          <a:stretch>
            <a:fillRect/>
          </a:stretch>
        </p:blipFill>
        <p:spPr>
          <a:xfrm>
            <a:off x="6619095" y="2012425"/>
            <a:ext cx="4603680" cy="2435400"/>
          </a:xfrm>
          <a:prstGeom prst="rect">
            <a:avLst/>
          </a:prstGeom>
          <a:noFill/>
          <a:ln w="0">
            <a:noFill/>
          </a:ln>
        </p:spPr>
      </p:pic>
      <p:sp>
        <p:nvSpPr>
          <p:cNvPr id="181" name="Text 31"/>
          <p:cNvSpPr/>
          <p:nvPr/>
        </p:nvSpPr>
        <p:spPr>
          <a:xfrm>
            <a:off x="6311780" y="4580735"/>
            <a:ext cx="5318280" cy="14317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16000"/>
              </a:lnSpc>
              <a:tabLst>
                <a:tab pos="0" algn="l"/>
              </a:tabLst>
            </a:pPr>
            <a:r>
              <a:rPr lang="en-US" sz="1080" b="0" u="none" strike="noStrike">
                <a:solidFill>
                  <a:srgbClr val="12203D"/>
                </a:solidFill>
                <a:effectLst/>
                <a:uFillTx/>
                <a:latin typeface="Calibri" panose="020F0502020204030204"/>
                <a:ea typeface="Calibri" panose="020F0502020204030204"/>
              </a:rPr>
              <a:t>Unimodal y compacta, con leve asimetría hacia la izquierda (−0,44). Se puede ser mucho peor que el promedio tirando, pero no mucho mejor. Cuatro puntos de TS% ya son media desviación estándar.</a:t>
            </a:r>
            <a:endParaRPr lang="es-ES" sz="1080" b="0" u="none" strike="noStrike">
              <a:solidFill>
                <a:srgbClr val="000000"/>
              </a:solidFill>
              <a:effectLst/>
              <a:uFillTx/>
              <a:latin typeface="Arial" panose="020B0604020202020204"/>
            </a:endParaRPr>
          </a:p>
        </p:txBody>
      </p:sp>
      <p:pic>
        <p:nvPicPr>
          <p:cNvPr id="182" name="Image 2" descr="/tmp/claude-0/-home-claude/c0a8783c-8817-5425-bc4f-190e5f64548a/scratchpad/work/icons/basketball_E1590F.png"/>
          <p:cNvPicPr/>
          <p:nvPr/>
        </p:nvPicPr>
        <p:blipFill>
          <a:blip r:embed="rId3"/>
          <a:stretch>
            <a:fillRect/>
          </a:stretch>
        </p:blipFill>
        <p:spPr>
          <a:xfrm>
            <a:off x="532130" y="6273275"/>
            <a:ext cx="145800" cy="145800"/>
          </a:xfrm>
          <a:prstGeom prst="rect">
            <a:avLst/>
          </a:prstGeom>
          <a:noFill/>
          <a:ln w="0">
            <a:noFill/>
          </a:ln>
        </p:spPr>
      </p:pic>
      <p:sp>
        <p:nvSpPr>
          <p:cNvPr id="183" name="Text 32"/>
          <p:cNvSpPr/>
          <p:nvPr/>
        </p:nvSpPr>
        <p:spPr>
          <a:xfrm>
            <a:off x="751730" y="6236915"/>
            <a:ext cx="45716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850" b="0" u="none" strike="noStrike">
                <a:solidFill>
                  <a:srgbClr val="5B6B85"/>
                </a:solidFill>
                <a:effectLst/>
                <a:uFillTx/>
                <a:latin typeface="Calibri" panose="020F0502020204030204"/>
                <a:ea typeface="Calibri" panose="020F0502020204030204"/>
              </a:rPr>
              <a:t>02 · Análisis univariado</a:t>
            </a:r>
            <a:endParaRPr lang="es-ES" sz="850" b="0" u="none" strike="noStrike">
              <a:solidFill>
                <a:srgbClr val="000000"/>
              </a:solidFill>
              <a:effectLst/>
              <a:uFillTx/>
              <a:latin typeface="Arial" panose="020B0604020202020204"/>
            </a:endParaRPr>
          </a:p>
        </p:txBody>
      </p:sp>
      <p:sp>
        <p:nvSpPr>
          <p:cNvPr id="184" name="Text 33"/>
          <p:cNvSpPr/>
          <p:nvPr/>
        </p:nvSpPr>
        <p:spPr>
          <a:xfrm>
            <a:off x="10255010" y="6236915"/>
            <a:ext cx="1371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algn="r" defTabSz="914400">
              <a:lnSpc>
                <a:spcPct val="100000"/>
              </a:lnSpc>
              <a:tabLst>
                <a:tab pos="0" algn="l"/>
              </a:tabLst>
            </a:pPr>
            <a:r>
              <a:rPr lang="en-US" sz="850" b="0" u="none" strike="noStrike">
                <a:solidFill>
                  <a:srgbClr val="5B6B85"/>
                </a:solidFill>
                <a:effectLst/>
                <a:uFillTx/>
                <a:latin typeface="Calibri" panose="020F0502020204030204"/>
                <a:ea typeface="Calibri" panose="020F0502020204030204"/>
              </a:rPr>
              <a:t>07 / 23</a:t>
            </a:r>
            <a:endParaRPr lang="es-ES" sz="850" b="0" u="none" strike="noStrike">
              <a:solidFill>
                <a:srgbClr val="000000"/>
              </a:solidFill>
              <a:effectLst/>
              <a:uFillTx/>
              <a:latin typeface="Arial" panose="020B0604020202020204"/>
            </a:endParaRPr>
          </a:p>
        </p:txBody>
      </p:sp>
      <p:pic>
        <p:nvPicPr>
          <p:cNvPr id="2" name="Imagen 1"/>
          <p:cNvPicPr/>
          <p:nvPr/>
        </p:nvPicPr>
        <p:blipFill>
          <a:blip r:embed="rId4"/>
          <a:stretch>
            <a:fillRect/>
          </a:stretch>
        </p:blipFill>
        <p:spPr>
          <a:xfrm>
            <a:off x="983615" y="5246370"/>
            <a:ext cx="4304665" cy="915670"/>
          </a:xfrm>
          <a:prstGeom prst="rect">
            <a:avLst/>
          </a:prstGeom>
        </p:spPr>
      </p:pic>
      <p:pic>
        <p:nvPicPr>
          <p:cNvPr id="3" name="Imagen 2"/>
          <p:cNvPicPr/>
          <p:nvPr/>
        </p:nvPicPr>
        <p:blipFill>
          <a:blip r:embed="rId5"/>
          <a:stretch>
            <a:fillRect/>
          </a:stretch>
        </p:blipFill>
        <p:spPr>
          <a:xfrm>
            <a:off x="6240145" y="5215890"/>
            <a:ext cx="5046980" cy="98044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4F6F9"/>
        </a:solidFill>
        <a:effectLst/>
      </p:bgPr>
    </p:bg>
    <p:spTree>
      <p:nvGrpSpPr>
        <p:cNvPr id="1" name=""/>
        <p:cNvGrpSpPr/>
        <p:nvPr/>
      </p:nvGrpSpPr>
      <p:grpSpPr>
        <a:xfrm>
          <a:off x="0" y="0"/>
          <a:ext cx="0" cy="0"/>
          <a:chOff x="0" y="0"/>
          <a:chExt cx="0" cy="0"/>
        </a:xfrm>
      </p:grpSpPr>
      <p:sp>
        <p:nvSpPr>
          <p:cNvPr id="185" name="Text 0"/>
          <p:cNvSpPr/>
          <p:nvPr/>
        </p:nvSpPr>
        <p:spPr>
          <a:xfrm>
            <a:off x="548640" y="411480"/>
            <a:ext cx="7314840" cy="2923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1150" b="1" u="none" strike="noStrike" spc="201">
                <a:solidFill>
                  <a:srgbClr val="E1590F"/>
                </a:solidFill>
                <a:effectLst/>
                <a:uFillTx/>
                <a:latin typeface="Calibri" panose="020F0502020204030204"/>
                <a:ea typeface="Calibri" panose="020F0502020204030204"/>
              </a:rPr>
              <a:t>02 · ANÁLISIS UNIVARIADO</a:t>
            </a:r>
            <a:endParaRPr lang="es-ES" sz="1150" b="0" u="none" strike="noStrike">
              <a:solidFill>
                <a:srgbClr val="000000"/>
              </a:solidFill>
              <a:effectLst/>
              <a:uFillTx/>
              <a:latin typeface="Arial" panose="020B0604020202020204"/>
            </a:endParaRPr>
          </a:p>
        </p:txBody>
      </p:sp>
      <p:sp>
        <p:nvSpPr>
          <p:cNvPr id="186" name="Text 1"/>
          <p:cNvSpPr/>
          <p:nvPr/>
        </p:nvSpPr>
        <p:spPr>
          <a:xfrm>
            <a:off x="548640" y="749880"/>
            <a:ext cx="11094120" cy="59400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2000"/>
              </a:lnSpc>
              <a:tabLst>
                <a:tab pos="0" algn="l"/>
              </a:tabLst>
            </a:pPr>
            <a:r>
              <a:rPr lang="en-US" sz="2900" b="1" u="none" strike="noStrike">
                <a:solidFill>
                  <a:srgbClr val="0B1E3D"/>
                </a:solidFill>
                <a:effectLst/>
                <a:uFillTx/>
                <a:latin typeface="Calibri" panose="020F0502020204030204"/>
                <a:ea typeface="Calibri" panose="020F0502020204030204"/>
              </a:rPr>
              <a:t>Rol e interior</a:t>
            </a:r>
            <a:endParaRPr lang="es-ES" sz="2900" b="0" u="none" strike="noStrike">
              <a:solidFill>
                <a:srgbClr val="000000"/>
              </a:solidFill>
              <a:effectLst/>
              <a:uFillTx/>
              <a:latin typeface="Arial" panose="020B0604020202020204"/>
            </a:endParaRPr>
          </a:p>
        </p:txBody>
      </p:sp>
      <p:sp>
        <p:nvSpPr>
          <p:cNvPr id="187" name="Text 2"/>
          <p:cNvSpPr/>
          <p:nvPr/>
        </p:nvSpPr>
        <p:spPr>
          <a:xfrm>
            <a:off x="548640" y="1417320"/>
            <a:ext cx="5318280" cy="2923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500" b="1" u="none" strike="noStrike">
                <a:solidFill>
                  <a:srgbClr val="0B1E3D"/>
                </a:solidFill>
                <a:effectLst/>
                <a:uFillTx/>
                <a:latin typeface="Calibri" panose="020F0502020204030204"/>
                <a:ea typeface="Calibri" panose="020F0502020204030204"/>
              </a:rPr>
              <a:t>USG% — % de uso del jugador</a:t>
            </a:r>
            <a:endParaRPr lang="es-ES" sz="1500" b="0" u="none" strike="noStrike">
              <a:solidFill>
                <a:srgbClr val="000000"/>
              </a:solidFill>
              <a:effectLst/>
              <a:uFillTx/>
              <a:latin typeface="Arial" panose="020B0604020202020204"/>
            </a:endParaRPr>
          </a:p>
        </p:txBody>
      </p:sp>
      <p:sp>
        <p:nvSpPr>
          <p:cNvPr id="188" name="Text 3"/>
          <p:cNvSpPr/>
          <p:nvPr/>
        </p:nvSpPr>
        <p:spPr>
          <a:xfrm>
            <a:off x="548640" y="1746360"/>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18.905</a:t>
            </a:r>
            <a:endParaRPr lang="es-ES" sz="1300" b="0" u="none" strike="noStrike">
              <a:solidFill>
                <a:srgbClr val="000000"/>
              </a:solidFill>
              <a:effectLst/>
              <a:uFillTx/>
              <a:latin typeface="Arial" panose="020B0604020202020204"/>
            </a:endParaRPr>
          </a:p>
        </p:txBody>
      </p:sp>
      <p:sp>
        <p:nvSpPr>
          <p:cNvPr id="189" name="Text 4"/>
          <p:cNvSpPr/>
          <p:nvPr/>
        </p:nvSpPr>
        <p:spPr>
          <a:xfrm>
            <a:off x="548640" y="1993320"/>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Media</a:t>
            </a:r>
            <a:endParaRPr lang="es-ES" sz="750" b="0" u="none" strike="noStrike">
              <a:solidFill>
                <a:srgbClr val="000000"/>
              </a:solidFill>
              <a:effectLst/>
              <a:uFillTx/>
              <a:latin typeface="Arial" panose="020B0604020202020204"/>
            </a:endParaRPr>
          </a:p>
        </p:txBody>
      </p:sp>
      <p:sp>
        <p:nvSpPr>
          <p:cNvPr id="190" name="Text 5"/>
          <p:cNvSpPr/>
          <p:nvPr/>
        </p:nvSpPr>
        <p:spPr>
          <a:xfrm>
            <a:off x="1434960" y="1746360"/>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18.6</a:t>
            </a:r>
            <a:endParaRPr lang="es-ES" sz="1300" b="0" u="none" strike="noStrike">
              <a:solidFill>
                <a:srgbClr val="000000"/>
              </a:solidFill>
              <a:effectLst/>
              <a:uFillTx/>
              <a:latin typeface="Arial" panose="020B0604020202020204"/>
            </a:endParaRPr>
          </a:p>
        </p:txBody>
      </p:sp>
      <p:sp>
        <p:nvSpPr>
          <p:cNvPr id="191" name="Text 6"/>
          <p:cNvSpPr/>
          <p:nvPr/>
        </p:nvSpPr>
        <p:spPr>
          <a:xfrm>
            <a:off x="1434960" y="1993320"/>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Mediana</a:t>
            </a:r>
            <a:endParaRPr lang="es-ES" sz="750" b="0" u="none" strike="noStrike">
              <a:solidFill>
                <a:srgbClr val="000000"/>
              </a:solidFill>
              <a:effectLst/>
              <a:uFillTx/>
              <a:latin typeface="Arial" panose="020B0604020202020204"/>
            </a:endParaRPr>
          </a:p>
        </p:txBody>
      </p:sp>
      <p:sp>
        <p:nvSpPr>
          <p:cNvPr id="192" name="Text 7"/>
          <p:cNvSpPr/>
          <p:nvPr/>
        </p:nvSpPr>
        <p:spPr>
          <a:xfrm>
            <a:off x="2321640" y="1746360"/>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4.974</a:t>
            </a:r>
            <a:endParaRPr lang="es-ES" sz="1300" b="0" u="none" strike="noStrike">
              <a:solidFill>
                <a:srgbClr val="000000"/>
              </a:solidFill>
              <a:effectLst/>
              <a:uFillTx/>
              <a:latin typeface="Arial" panose="020B0604020202020204"/>
            </a:endParaRPr>
          </a:p>
        </p:txBody>
      </p:sp>
      <p:sp>
        <p:nvSpPr>
          <p:cNvPr id="193" name="Text 8"/>
          <p:cNvSpPr/>
          <p:nvPr/>
        </p:nvSpPr>
        <p:spPr>
          <a:xfrm>
            <a:off x="2321640" y="1993320"/>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Desv. Est.</a:t>
            </a:r>
            <a:endParaRPr lang="es-ES" sz="750" b="0" u="none" strike="noStrike">
              <a:solidFill>
                <a:srgbClr val="000000"/>
              </a:solidFill>
              <a:effectLst/>
              <a:uFillTx/>
              <a:latin typeface="Arial" panose="020B0604020202020204"/>
            </a:endParaRPr>
          </a:p>
        </p:txBody>
      </p:sp>
      <p:sp>
        <p:nvSpPr>
          <p:cNvPr id="194" name="Text 9"/>
          <p:cNvSpPr/>
          <p:nvPr/>
        </p:nvSpPr>
        <p:spPr>
          <a:xfrm>
            <a:off x="3207960" y="1746360"/>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3.7</a:t>
            </a:r>
            <a:endParaRPr lang="es-ES" sz="1300" b="0" u="none" strike="noStrike">
              <a:solidFill>
                <a:srgbClr val="000000"/>
              </a:solidFill>
              <a:effectLst/>
              <a:uFillTx/>
              <a:latin typeface="Arial" panose="020B0604020202020204"/>
            </a:endParaRPr>
          </a:p>
        </p:txBody>
      </p:sp>
      <p:sp>
        <p:nvSpPr>
          <p:cNvPr id="195" name="Text 10"/>
          <p:cNvSpPr/>
          <p:nvPr/>
        </p:nvSpPr>
        <p:spPr>
          <a:xfrm>
            <a:off x="3207960" y="1993320"/>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Mín</a:t>
            </a:r>
            <a:endParaRPr lang="es-ES" sz="750" b="0" u="none" strike="noStrike">
              <a:solidFill>
                <a:srgbClr val="000000"/>
              </a:solidFill>
              <a:effectLst/>
              <a:uFillTx/>
              <a:latin typeface="Arial" panose="020B0604020202020204"/>
            </a:endParaRPr>
          </a:p>
        </p:txBody>
      </p:sp>
      <p:sp>
        <p:nvSpPr>
          <p:cNvPr id="196" name="Text 11"/>
          <p:cNvSpPr/>
          <p:nvPr/>
        </p:nvSpPr>
        <p:spPr>
          <a:xfrm>
            <a:off x="4094280" y="1746360"/>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41.7</a:t>
            </a:r>
            <a:endParaRPr lang="es-ES" sz="1300" b="0" u="none" strike="noStrike">
              <a:solidFill>
                <a:srgbClr val="000000"/>
              </a:solidFill>
              <a:effectLst/>
              <a:uFillTx/>
              <a:latin typeface="Arial" panose="020B0604020202020204"/>
            </a:endParaRPr>
          </a:p>
        </p:txBody>
      </p:sp>
      <p:sp>
        <p:nvSpPr>
          <p:cNvPr id="197" name="Text 12"/>
          <p:cNvSpPr/>
          <p:nvPr/>
        </p:nvSpPr>
        <p:spPr>
          <a:xfrm>
            <a:off x="4094280" y="1993320"/>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Máx</a:t>
            </a:r>
            <a:endParaRPr lang="es-ES" sz="750" b="0" u="none" strike="noStrike">
              <a:solidFill>
                <a:srgbClr val="000000"/>
              </a:solidFill>
              <a:effectLst/>
              <a:uFillTx/>
              <a:latin typeface="Arial" panose="020B0604020202020204"/>
            </a:endParaRPr>
          </a:p>
        </p:txBody>
      </p:sp>
      <p:sp>
        <p:nvSpPr>
          <p:cNvPr id="198" name="Text 13"/>
          <p:cNvSpPr/>
          <p:nvPr/>
        </p:nvSpPr>
        <p:spPr>
          <a:xfrm>
            <a:off x="4980960" y="1746360"/>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0.378</a:t>
            </a:r>
            <a:endParaRPr lang="es-ES" sz="1300" b="0" u="none" strike="noStrike">
              <a:solidFill>
                <a:srgbClr val="000000"/>
              </a:solidFill>
              <a:effectLst/>
              <a:uFillTx/>
              <a:latin typeface="Arial" panose="020B0604020202020204"/>
            </a:endParaRPr>
          </a:p>
        </p:txBody>
      </p:sp>
      <p:sp>
        <p:nvSpPr>
          <p:cNvPr id="199" name="Text 14"/>
          <p:cNvSpPr/>
          <p:nvPr/>
        </p:nvSpPr>
        <p:spPr>
          <a:xfrm>
            <a:off x="4980960" y="1993320"/>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Asimetría</a:t>
            </a:r>
            <a:endParaRPr lang="es-ES" sz="750" b="0" u="none" strike="noStrike">
              <a:solidFill>
                <a:srgbClr val="000000"/>
              </a:solidFill>
              <a:effectLst/>
              <a:uFillTx/>
              <a:latin typeface="Arial" panose="020B0604020202020204"/>
            </a:endParaRPr>
          </a:p>
        </p:txBody>
      </p:sp>
      <p:sp>
        <p:nvSpPr>
          <p:cNvPr id="200" name="Shape 15"/>
          <p:cNvSpPr/>
          <p:nvPr/>
        </p:nvSpPr>
        <p:spPr>
          <a:xfrm>
            <a:off x="814680" y="2203560"/>
            <a:ext cx="4786560" cy="2618280"/>
          </a:xfrm>
          <a:prstGeom prst="roundRect">
            <a:avLst>
              <a:gd name="adj" fmla="val 2095"/>
            </a:avLst>
          </a:prstGeom>
          <a:solidFill>
            <a:srgbClr val="FFFFFF"/>
          </a:solidFill>
          <a:ln w="0">
            <a:noFill/>
          </a:ln>
          <a:effectLst>
            <a:outerShdw algn="bl" rotWithShape="0">
              <a:srgbClr val="8798AD">
                <a:alpha val="0"/>
              </a:srgbClr>
            </a:outerShdw>
          </a:effectLst>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pic>
        <p:nvPicPr>
          <p:cNvPr id="201" name="Image 0" descr="/tmp/claude-0/-home-claude/c0a8783c-8817-5425-bc4f-190e5f64548a/scratchpad/work/imgs/img_008.png"/>
          <p:cNvPicPr/>
          <p:nvPr/>
        </p:nvPicPr>
        <p:blipFill>
          <a:blip r:embed="rId1"/>
          <a:stretch>
            <a:fillRect/>
          </a:stretch>
        </p:blipFill>
        <p:spPr>
          <a:xfrm>
            <a:off x="906120" y="2295000"/>
            <a:ext cx="4603680" cy="2435400"/>
          </a:xfrm>
          <a:prstGeom prst="rect">
            <a:avLst/>
          </a:prstGeom>
          <a:noFill/>
          <a:ln w="0">
            <a:noFill/>
          </a:ln>
        </p:spPr>
      </p:pic>
      <p:sp>
        <p:nvSpPr>
          <p:cNvPr id="202" name="Text 16"/>
          <p:cNvSpPr/>
          <p:nvPr/>
        </p:nvSpPr>
        <p:spPr>
          <a:xfrm>
            <a:off x="548640" y="4968720"/>
            <a:ext cx="5318280" cy="14317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16000"/>
              </a:lnSpc>
              <a:tabLst>
                <a:tab pos="0" algn="l"/>
              </a:tabLst>
            </a:pPr>
            <a:r>
              <a:rPr lang="en-US" sz="1080" b="0" u="none" strike="noStrike">
                <a:solidFill>
                  <a:srgbClr val="12203D"/>
                </a:solidFill>
                <a:effectLst/>
                <a:uFillTx/>
                <a:latin typeface="Calibri" panose="020F0502020204030204"/>
                <a:ea typeface="Calibri" panose="020F0502020204030204"/>
              </a:rPr>
              <a:t>Notablemente simétrica y compacta: los USG% de los cinco jugadores en cancha suman ≈100, así que el promedio de la liga está anclado cerca del 20%. Máximo observado: 41,7%.</a:t>
            </a:r>
            <a:endParaRPr lang="es-ES" sz="1080" b="0" u="none" strike="noStrike">
              <a:solidFill>
                <a:srgbClr val="000000"/>
              </a:solidFill>
              <a:effectLst/>
              <a:uFillTx/>
              <a:latin typeface="Arial" panose="020B0604020202020204"/>
            </a:endParaRPr>
          </a:p>
        </p:txBody>
      </p:sp>
      <p:sp>
        <p:nvSpPr>
          <p:cNvPr id="203" name="Text 17"/>
          <p:cNvSpPr/>
          <p:nvPr/>
        </p:nvSpPr>
        <p:spPr>
          <a:xfrm>
            <a:off x="6324480" y="1417320"/>
            <a:ext cx="5318280" cy="2923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500" b="1" u="none" strike="noStrike">
                <a:solidFill>
                  <a:srgbClr val="0B1E3D"/>
                </a:solidFill>
                <a:effectLst/>
                <a:uFillTx/>
                <a:latin typeface="Calibri" panose="020F0502020204030204"/>
                <a:ea typeface="Calibri" panose="020F0502020204030204"/>
              </a:rPr>
              <a:t>TRB% — % de rebotes capturados</a:t>
            </a:r>
            <a:endParaRPr lang="es-ES" sz="1500" b="0" u="none" strike="noStrike">
              <a:solidFill>
                <a:srgbClr val="000000"/>
              </a:solidFill>
              <a:effectLst/>
              <a:uFillTx/>
              <a:latin typeface="Arial" panose="020B0604020202020204"/>
            </a:endParaRPr>
          </a:p>
        </p:txBody>
      </p:sp>
      <p:sp>
        <p:nvSpPr>
          <p:cNvPr id="204" name="Text 18"/>
          <p:cNvSpPr/>
          <p:nvPr/>
        </p:nvSpPr>
        <p:spPr>
          <a:xfrm>
            <a:off x="6324480" y="1746360"/>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10.079</a:t>
            </a:r>
            <a:endParaRPr lang="es-ES" sz="1300" b="0" u="none" strike="noStrike">
              <a:solidFill>
                <a:srgbClr val="000000"/>
              </a:solidFill>
              <a:effectLst/>
              <a:uFillTx/>
              <a:latin typeface="Arial" panose="020B0604020202020204"/>
            </a:endParaRPr>
          </a:p>
        </p:txBody>
      </p:sp>
      <p:sp>
        <p:nvSpPr>
          <p:cNvPr id="205" name="Text 19"/>
          <p:cNvSpPr/>
          <p:nvPr/>
        </p:nvSpPr>
        <p:spPr>
          <a:xfrm>
            <a:off x="6324480" y="1993320"/>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Media</a:t>
            </a:r>
            <a:endParaRPr lang="es-ES" sz="750" b="0" u="none" strike="noStrike">
              <a:solidFill>
                <a:srgbClr val="000000"/>
              </a:solidFill>
              <a:effectLst/>
              <a:uFillTx/>
              <a:latin typeface="Arial" panose="020B0604020202020204"/>
            </a:endParaRPr>
          </a:p>
        </p:txBody>
      </p:sp>
      <p:sp>
        <p:nvSpPr>
          <p:cNvPr id="206" name="Text 20"/>
          <p:cNvSpPr/>
          <p:nvPr/>
        </p:nvSpPr>
        <p:spPr>
          <a:xfrm>
            <a:off x="7210800" y="1746360"/>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9.3</a:t>
            </a:r>
            <a:endParaRPr lang="es-ES" sz="1300" b="0" u="none" strike="noStrike">
              <a:solidFill>
                <a:srgbClr val="000000"/>
              </a:solidFill>
              <a:effectLst/>
              <a:uFillTx/>
              <a:latin typeface="Arial" panose="020B0604020202020204"/>
            </a:endParaRPr>
          </a:p>
        </p:txBody>
      </p:sp>
      <p:sp>
        <p:nvSpPr>
          <p:cNvPr id="207" name="Text 21"/>
          <p:cNvSpPr/>
          <p:nvPr/>
        </p:nvSpPr>
        <p:spPr>
          <a:xfrm>
            <a:off x="7210800" y="1993320"/>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Mediana</a:t>
            </a:r>
            <a:endParaRPr lang="es-ES" sz="750" b="0" u="none" strike="noStrike">
              <a:solidFill>
                <a:srgbClr val="000000"/>
              </a:solidFill>
              <a:effectLst/>
              <a:uFillTx/>
              <a:latin typeface="Arial" panose="020B0604020202020204"/>
            </a:endParaRPr>
          </a:p>
        </p:txBody>
      </p:sp>
      <p:sp>
        <p:nvSpPr>
          <p:cNvPr id="208" name="Text 22"/>
          <p:cNvSpPr/>
          <p:nvPr/>
        </p:nvSpPr>
        <p:spPr>
          <a:xfrm>
            <a:off x="8097480" y="1746360"/>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4.481</a:t>
            </a:r>
            <a:endParaRPr lang="es-ES" sz="1300" b="0" u="none" strike="noStrike">
              <a:solidFill>
                <a:srgbClr val="000000"/>
              </a:solidFill>
              <a:effectLst/>
              <a:uFillTx/>
              <a:latin typeface="Arial" panose="020B0604020202020204"/>
            </a:endParaRPr>
          </a:p>
        </p:txBody>
      </p:sp>
      <p:sp>
        <p:nvSpPr>
          <p:cNvPr id="209" name="Text 23"/>
          <p:cNvSpPr/>
          <p:nvPr/>
        </p:nvSpPr>
        <p:spPr>
          <a:xfrm>
            <a:off x="8097480" y="1993320"/>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Desv. Est.</a:t>
            </a:r>
            <a:endParaRPr lang="es-ES" sz="750" b="0" u="none" strike="noStrike">
              <a:solidFill>
                <a:srgbClr val="000000"/>
              </a:solidFill>
              <a:effectLst/>
              <a:uFillTx/>
              <a:latin typeface="Arial" panose="020B0604020202020204"/>
            </a:endParaRPr>
          </a:p>
        </p:txBody>
      </p:sp>
      <p:sp>
        <p:nvSpPr>
          <p:cNvPr id="210" name="Text 24"/>
          <p:cNvSpPr/>
          <p:nvPr/>
        </p:nvSpPr>
        <p:spPr>
          <a:xfrm>
            <a:off x="8983800" y="1746360"/>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1</a:t>
            </a:r>
            <a:endParaRPr lang="es-ES" sz="1300" b="0" u="none" strike="noStrike">
              <a:solidFill>
                <a:srgbClr val="000000"/>
              </a:solidFill>
              <a:effectLst/>
              <a:uFillTx/>
              <a:latin typeface="Arial" panose="020B0604020202020204"/>
            </a:endParaRPr>
          </a:p>
        </p:txBody>
      </p:sp>
      <p:sp>
        <p:nvSpPr>
          <p:cNvPr id="211" name="Text 25"/>
          <p:cNvSpPr/>
          <p:nvPr/>
        </p:nvSpPr>
        <p:spPr>
          <a:xfrm>
            <a:off x="8983800" y="1993320"/>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Mín</a:t>
            </a:r>
            <a:endParaRPr lang="es-ES" sz="750" b="0" u="none" strike="noStrike">
              <a:solidFill>
                <a:srgbClr val="000000"/>
              </a:solidFill>
              <a:effectLst/>
              <a:uFillTx/>
              <a:latin typeface="Arial" panose="020B0604020202020204"/>
            </a:endParaRPr>
          </a:p>
        </p:txBody>
      </p:sp>
      <p:sp>
        <p:nvSpPr>
          <p:cNvPr id="212" name="Text 26"/>
          <p:cNvSpPr/>
          <p:nvPr/>
        </p:nvSpPr>
        <p:spPr>
          <a:xfrm>
            <a:off x="9870120" y="1746360"/>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29.7</a:t>
            </a:r>
            <a:endParaRPr lang="es-ES" sz="1300" b="0" u="none" strike="noStrike">
              <a:solidFill>
                <a:srgbClr val="000000"/>
              </a:solidFill>
              <a:effectLst/>
              <a:uFillTx/>
              <a:latin typeface="Arial" panose="020B0604020202020204"/>
            </a:endParaRPr>
          </a:p>
        </p:txBody>
      </p:sp>
      <p:sp>
        <p:nvSpPr>
          <p:cNvPr id="213" name="Text 27"/>
          <p:cNvSpPr/>
          <p:nvPr/>
        </p:nvSpPr>
        <p:spPr>
          <a:xfrm>
            <a:off x="9870120" y="1993320"/>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Máx</a:t>
            </a:r>
            <a:endParaRPr lang="es-ES" sz="750" b="0" u="none" strike="noStrike">
              <a:solidFill>
                <a:srgbClr val="000000"/>
              </a:solidFill>
              <a:effectLst/>
              <a:uFillTx/>
              <a:latin typeface="Arial" panose="020B0604020202020204"/>
            </a:endParaRPr>
          </a:p>
        </p:txBody>
      </p:sp>
      <p:sp>
        <p:nvSpPr>
          <p:cNvPr id="214" name="Text 28"/>
          <p:cNvSpPr/>
          <p:nvPr/>
        </p:nvSpPr>
        <p:spPr>
          <a:xfrm>
            <a:off x="10756800" y="1746360"/>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0.566</a:t>
            </a:r>
            <a:endParaRPr lang="es-ES" sz="1300" b="0" u="none" strike="noStrike">
              <a:solidFill>
                <a:srgbClr val="000000"/>
              </a:solidFill>
              <a:effectLst/>
              <a:uFillTx/>
              <a:latin typeface="Arial" panose="020B0604020202020204"/>
            </a:endParaRPr>
          </a:p>
        </p:txBody>
      </p:sp>
      <p:sp>
        <p:nvSpPr>
          <p:cNvPr id="215" name="Text 29"/>
          <p:cNvSpPr/>
          <p:nvPr/>
        </p:nvSpPr>
        <p:spPr>
          <a:xfrm>
            <a:off x="10756800" y="1993320"/>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Asimetría</a:t>
            </a:r>
            <a:endParaRPr lang="es-ES" sz="750" b="0" u="none" strike="noStrike">
              <a:solidFill>
                <a:srgbClr val="000000"/>
              </a:solidFill>
              <a:effectLst/>
              <a:uFillTx/>
              <a:latin typeface="Arial" panose="020B0604020202020204"/>
            </a:endParaRPr>
          </a:p>
        </p:txBody>
      </p:sp>
      <p:sp>
        <p:nvSpPr>
          <p:cNvPr id="216" name="Shape 30"/>
          <p:cNvSpPr/>
          <p:nvPr/>
        </p:nvSpPr>
        <p:spPr>
          <a:xfrm>
            <a:off x="6590520" y="2203560"/>
            <a:ext cx="4786560" cy="2618280"/>
          </a:xfrm>
          <a:prstGeom prst="roundRect">
            <a:avLst>
              <a:gd name="adj" fmla="val 2095"/>
            </a:avLst>
          </a:prstGeom>
          <a:solidFill>
            <a:srgbClr val="FFFFFF"/>
          </a:solidFill>
          <a:ln w="0">
            <a:noFill/>
          </a:ln>
          <a:effectLst>
            <a:outerShdw algn="bl" rotWithShape="0">
              <a:srgbClr val="8798AD">
                <a:alpha val="0"/>
              </a:srgbClr>
            </a:outerShdw>
          </a:effectLst>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pic>
        <p:nvPicPr>
          <p:cNvPr id="217" name="Image 1" descr="/tmp/claude-0/-home-claude/c0a8783c-8817-5425-bc4f-190e5f64548a/scratchpad/work/imgs/img_010.png"/>
          <p:cNvPicPr/>
          <p:nvPr/>
        </p:nvPicPr>
        <p:blipFill>
          <a:blip r:embed="rId2"/>
          <a:stretch>
            <a:fillRect/>
          </a:stretch>
        </p:blipFill>
        <p:spPr>
          <a:xfrm>
            <a:off x="6681960" y="2295000"/>
            <a:ext cx="4603680" cy="2435400"/>
          </a:xfrm>
          <a:prstGeom prst="rect">
            <a:avLst/>
          </a:prstGeom>
          <a:noFill/>
          <a:ln w="0">
            <a:noFill/>
          </a:ln>
        </p:spPr>
      </p:pic>
      <p:sp>
        <p:nvSpPr>
          <p:cNvPr id="218" name="Text 31"/>
          <p:cNvSpPr/>
          <p:nvPr/>
        </p:nvSpPr>
        <p:spPr>
          <a:xfrm>
            <a:off x="6324480" y="4968720"/>
            <a:ext cx="5318280" cy="14317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16000"/>
              </a:lnSpc>
              <a:tabLst>
                <a:tab pos="0" algn="l"/>
              </a:tabLst>
            </a:pPr>
            <a:r>
              <a:rPr lang="en-US" sz="1080" b="0" u="none" strike="noStrike">
                <a:solidFill>
                  <a:srgbClr val="12203D"/>
                </a:solidFill>
                <a:effectLst/>
                <a:uFillTx/>
                <a:latin typeface="Calibri" panose="020F0502020204030204"/>
                <a:ea typeface="Calibri" panose="020F0502020204030204"/>
              </a:rPr>
              <a:t>La separación por rol más nítida del dataset: las medianas crecen de 5,5% en bases a 14,8% en pívots, con rangos intercuartílicos que casi no se solapan entre posiciones.</a:t>
            </a:r>
            <a:endParaRPr lang="es-ES" sz="1080" b="0" u="none" strike="noStrike">
              <a:solidFill>
                <a:srgbClr val="000000"/>
              </a:solidFill>
              <a:effectLst/>
              <a:uFillTx/>
              <a:latin typeface="Arial" panose="020B0604020202020204"/>
            </a:endParaRPr>
          </a:p>
        </p:txBody>
      </p:sp>
      <p:pic>
        <p:nvPicPr>
          <p:cNvPr id="219" name="Image 2" descr="/tmp/claude-0/-home-claude/c0a8783c-8817-5425-bc4f-190e5f64548a/scratchpad/work/icons/basketball_E1590F.png"/>
          <p:cNvPicPr/>
          <p:nvPr/>
        </p:nvPicPr>
        <p:blipFill>
          <a:blip r:embed="rId3"/>
          <a:stretch>
            <a:fillRect/>
          </a:stretch>
        </p:blipFill>
        <p:spPr>
          <a:xfrm>
            <a:off x="548640" y="6546960"/>
            <a:ext cx="145800" cy="145800"/>
          </a:xfrm>
          <a:prstGeom prst="rect">
            <a:avLst/>
          </a:prstGeom>
          <a:noFill/>
          <a:ln w="0">
            <a:noFill/>
          </a:ln>
        </p:spPr>
      </p:pic>
      <p:sp>
        <p:nvSpPr>
          <p:cNvPr id="220" name="Text 32"/>
          <p:cNvSpPr/>
          <p:nvPr/>
        </p:nvSpPr>
        <p:spPr>
          <a:xfrm>
            <a:off x="768240" y="6510600"/>
            <a:ext cx="45716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850" b="0" u="none" strike="noStrike">
                <a:solidFill>
                  <a:srgbClr val="5B6B85"/>
                </a:solidFill>
                <a:effectLst/>
                <a:uFillTx/>
                <a:latin typeface="Calibri" panose="020F0502020204030204"/>
                <a:ea typeface="Calibri" panose="020F0502020204030204"/>
              </a:rPr>
              <a:t>02 · Análisis univariado</a:t>
            </a:r>
            <a:endParaRPr lang="es-ES" sz="850" b="0" u="none" strike="noStrike">
              <a:solidFill>
                <a:srgbClr val="000000"/>
              </a:solidFill>
              <a:effectLst/>
              <a:uFillTx/>
              <a:latin typeface="Arial" panose="020B0604020202020204"/>
            </a:endParaRPr>
          </a:p>
        </p:txBody>
      </p:sp>
      <p:sp>
        <p:nvSpPr>
          <p:cNvPr id="221" name="Text 33"/>
          <p:cNvSpPr/>
          <p:nvPr/>
        </p:nvSpPr>
        <p:spPr>
          <a:xfrm>
            <a:off x="10271520" y="6510600"/>
            <a:ext cx="1371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algn="r" defTabSz="914400">
              <a:lnSpc>
                <a:spcPct val="100000"/>
              </a:lnSpc>
              <a:tabLst>
                <a:tab pos="0" algn="l"/>
              </a:tabLst>
            </a:pPr>
            <a:r>
              <a:rPr lang="en-US" sz="850" b="0" u="none" strike="noStrike">
                <a:solidFill>
                  <a:srgbClr val="5B6B85"/>
                </a:solidFill>
                <a:effectLst/>
                <a:uFillTx/>
                <a:latin typeface="Calibri" panose="020F0502020204030204"/>
                <a:ea typeface="Calibri" panose="020F0502020204030204"/>
              </a:rPr>
              <a:t>08 / 23</a:t>
            </a:r>
            <a:endParaRPr lang="es-ES" sz="850" b="0" u="none" strike="noStrike">
              <a:solidFill>
                <a:srgbClr val="000000"/>
              </a:solidFill>
              <a:effectLst/>
              <a:uFillTx/>
              <a:latin typeface="Arial" panose="020B0604020202020204"/>
            </a:endParaRPr>
          </a:p>
        </p:txBody>
      </p:sp>
      <p:pic>
        <p:nvPicPr>
          <p:cNvPr id="2" name="Imagen 1"/>
          <p:cNvPicPr/>
          <p:nvPr/>
        </p:nvPicPr>
        <p:blipFill>
          <a:blip r:embed="rId4"/>
          <a:stretch>
            <a:fillRect/>
          </a:stretch>
        </p:blipFill>
        <p:spPr>
          <a:xfrm>
            <a:off x="814705" y="5445125"/>
            <a:ext cx="4785995" cy="993140"/>
          </a:xfrm>
          <a:prstGeom prst="rect">
            <a:avLst/>
          </a:prstGeom>
        </p:spPr>
      </p:pic>
      <p:pic>
        <p:nvPicPr>
          <p:cNvPr id="4" name="Imagen 3"/>
          <p:cNvPicPr/>
          <p:nvPr/>
        </p:nvPicPr>
        <p:blipFill>
          <a:blip r:embed="rId5"/>
          <a:stretch>
            <a:fillRect/>
          </a:stretch>
        </p:blipFill>
        <p:spPr>
          <a:xfrm>
            <a:off x="6590665" y="5445125"/>
            <a:ext cx="4786630" cy="993775"/>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6F9"/>
        </a:solidFill>
        <a:effectLst/>
      </p:bgPr>
    </p:bg>
    <p:spTree>
      <p:nvGrpSpPr>
        <p:cNvPr id="1" name=""/>
        <p:cNvGrpSpPr/>
        <p:nvPr/>
      </p:nvGrpSpPr>
      <p:grpSpPr>
        <a:xfrm>
          <a:off x="0" y="0"/>
          <a:ext cx="0" cy="0"/>
          <a:chOff x="0" y="0"/>
          <a:chExt cx="0" cy="0"/>
        </a:xfrm>
      </p:grpSpPr>
      <p:sp>
        <p:nvSpPr>
          <p:cNvPr id="222" name="Text 0"/>
          <p:cNvSpPr/>
          <p:nvPr/>
        </p:nvSpPr>
        <p:spPr>
          <a:xfrm>
            <a:off x="548640" y="411480"/>
            <a:ext cx="7314840" cy="2923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1150" b="1" u="none" strike="noStrike" spc="201">
                <a:solidFill>
                  <a:srgbClr val="E1590F"/>
                </a:solidFill>
                <a:effectLst/>
                <a:uFillTx/>
                <a:latin typeface="Calibri" panose="020F0502020204030204"/>
                <a:ea typeface="Calibri" panose="020F0502020204030204"/>
              </a:rPr>
              <a:t>02 · ANÁLISIS UNIVARIADO</a:t>
            </a:r>
            <a:endParaRPr lang="es-ES" sz="1150" b="0" u="none" strike="noStrike">
              <a:solidFill>
                <a:srgbClr val="000000"/>
              </a:solidFill>
              <a:effectLst/>
              <a:uFillTx/>
              <a:latin typeface="Arial" panose="020B0604020202020204"/>
            </a:endParaRPr>
          </a:p>
        </p:txBody>
      </p:sp>
      <p:sp>
        <p:nvSpPr>
          <p:cNvPr id="223" name="Text 1"/>
          <p:cNvSpPr/>
          <p:nvPr/>
        </p:nvSpPr>
        <p:spPr>
          <a:xfrm>
            <a:off x="548640" y="749880"/>
            <a:ext cx="11094120" cy="59400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2000"/>
              </a:lnSpc>
              <a:tabLst>
                <a:tab pos="0" algn="l"/>
              </a:tabLst>
            </a:pPr>
            <a:r>
              <a:rPr lang="en-US" sz="2900" b="1" u="none" strike="noStrike">
                <a:solidFill>
                  <a:srgbClr val="0B1E3D"/>
                </a:solidFill>
                <a:effectLst/>
                <a:uFillTx/>
                <a:latin typeface="Calibri" panose="020F0502020204030204"/>
                <a:ea typeface="Calibri" panose="020F0502020204030204"/>
              </a:rPr>
              <a:t>Creación y estilo de época</a:t>
            </a:r>
            <a:endParaRPr lang="es-ES" sz="2900" b="0" u="none" strike="noStrike">
              <a:solidFill>
                <a:srgbClr val="000000"/>
              </a:solidFill>
              <a:effectLst/>
              <a:uFillTx/>
              <a:latin typeface="Arial" panose="020B0604020202020204"/>
            </a:endParaRPr>
          </a:p>
        </p:txBody>
      </p:sp>
      <p:sp>
        <p:nvSpPr>
          <p:cNvPr id="224" name="Text 2"/>
          <p:cNvSpPr/>
          <p:nvPr/>
        </p:nvSpPr>
        <p:spPr>
          <a:xfrm>
            <a:off x="548640" y="1298575"/>
            <a:ext cx="5318280" cy="2923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500" b="1" u="none" strike="noStrike">
                <a:solidFill>
                  <a:srgbClr val="0B1E3D"/>
                </a:solidFill>
                <a:effectLst/>
                <a:uFillTx/>
                <a:latin typeface="Calibri" panose="020F0502020204030204"/>
                <a:ea typeface="Calibri" panose="020F0502020204030204"/>
              </a:rPr>
              <a:t>AST% — % de asistencias del equipo</a:t>
            </a:r>
            <a:endParaRPr lang="es-ES" sz="1500" b="0" u="none" strike="noStrike">
              <a:solidFill>
                <a:srgbClr val="000000"/>
              </a:solidFill>
              <a:effectLst/>
              <a:uFillTx/>
              <a:latin typeface="Arial" panose="020B0604020202020204"/>
            </a:endParaRPr>
          </a:p>
        </p:txBody>
      </p:sp>
      <p:sp>
        <p:nvSpPr>
          <p:cNvPr id="225" name="Text 3"/>
          <p:cNvSpPr/>
          <p:nvPr/>
        </p:nvSpPr>
        <p:spPr>
          <a:xfrm>
            <a:off x="548640" y="1627615"/>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13.547</a:t>
            </a:r>
            <a:endParaRPr lang="es-ES" sz="1300" b="0" u="none" strike="noStrike">
              <a:solidFill>
                <a:srgbClr val="000000"/>
              </a:solidFill>
              <a:effectLst/>
              <a:uFillTx/>
              <a:latin typeface="Arial" panose="020B0604020202020204"/>
            </a:endParaRPr>
          </a:p>
        </p:txBody>
      </p:sp>
      <p:sp>
        <p:nvSpPr>
          <p:cNvPr id="226" name="Text 4"/>
          <p:cNvSpPr/>
          <p:nvPr/>
        </p:nvSpPr>
        <p:spPr>
          <a:xfrm>
            <a:off x="548640" y="1874575"/>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Media</a:t>
            </a:r>
            <a:endParaRPr lang="es-ES" sz="750" b="0" u="none" strike="noStrike">
              <a:solidFill>
                <a:srgbClr val="000000"/>
              </a:solidFill>
              <a:effectLst/>
              <a:uFillTx/>
              <a:latin typeface="Arial" panose="020B0604020202020204"/>
            </a:endParaRPr>
          </a:p>
        </p:txBody>
      </p:sp>
      <p:sp>
        <p:nvSpPr>
          <p:cNvPr id="227" name="Text 5"/>
          <p:cNvSpPr/>
          <p:nvPr/>
        </p:nvSpPr>
        <p:spPr>
          <a:xfrm>
            <a:off x="1434960" y="1627615"/>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10.7</a:t>
            </a:r>
            <a:endParaRPr lang="es-ES" sz="1300" b="0" u="none" strike="noStrike">
              <a:solidFill>
                <a:srgbClr val="000000"/>
              </a:solidFill>
              <a:effectLst/>
              <a:uFillTx/>
              <a:latin typeface="Arial" panose="020B0604020202020204"/>
            </a:endParaRPr>
          </a:p>
        </p:txBody>
      </p:sp>
      <p:sp>
        <p:nvSpPr>
          <p:cNvPr id="228" name="Text 6"/>
          <p:cNvSpPr/>
          <p:nvPr/>
        </p:nvSpPr>
        <p:spPr>
          <a:xfrm>
            <a:off x="1434960" y="1874575"/>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Mediana</a:t>
            </a:r>
            <a:endParaRPr lang="es-ES" sz="750" b="0" u="none" strike="noStrike">
              <a:solidFill>
                <a:srgbClr val="000000"/>
              </a:solidFill>
              <a:effectLst/>
              <a:uFillTx/>
              <a:latin typeface="Arial" panose="020B0604020202020204"/>
            </a:endParaRPr>
          </a:p>
        </p:txBody>
      </p:sp>
      <p:sp>
        <p:nvSpPr>
          <p:cNvPr id="229" name="Text 7"/>
          <p:cNvSpPr/>
          <p:nvPr/>
        </p:nvSpPr>
        <p:spPr>
          <a:xfrm>
            <a:off x="2321640" y="1627615"/>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9.16</a:t>
            </a:r>
            <a:endParaRPr lang="es-ES" sz="1300" b="0" u="none" strike="noStrike">
              <a:solidFill>
                <a:srgbClr val="000000"/>
              </a:solidFill>
              <a:effectLst/>
              <a:uFillTx/>
              <a:latin typeface="Arial" panose="020B0604020202020204"/>
            </a:endParaRPr>
          </a:p>
        </p:txBody>
      </p:sp>
      <p:sp>
        <p:nvSpPr>
          <p:cNvPr id="230" name="Text 8"/>
          <p:cNvSpPr/>
          <p:nvPr/>
        </p:nvSpPr>
        <p:spPr>
          <a:xfrm>
            <a:off x="2321640" y="1874575"/>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Desv. Est.</a:t>
            </a:r>
            <a:endParaRPr lang="es-ES" sz="750" b="0" u="none" strike="noStrike">
              <a:solidFill>
                <a:srgbClr val="000000"/>
              </a:solidFill>
              <a:effectLst/>
              <a:uFillTx/>
              <a:latin typeface="Arial" panose="020B0604020202020204"/>
            </a:endParaRPr>
          </a:p>
        </p:txBody>
      </p:sp>
      <p:sp>
        <p:nvSpPr>
          <p:cNvPr id="231" name="Text 9"/>
          <p:cNvSpPr/>
          <p:nvPr/>
        </p:nvSpPr>
        <p:spPr>
          <a:xfrm>
            <a:off x="3207960" y="1627615"/>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0</a:t>
            </a:r>
            <a:endParaRPr lang="es-ES" sz="1300" b="0" u="none" strike="noStrike">
              <a:solidFill>
                <a:srgbClr val="000000"/>
              </a:solidFill>
              <a:effectLst/>
              <a:uFillTx/>
              <a:latin typeface="Arial" panose="020B0604020202020204"/>
            </a:endParaRPr>
          </a:p>
        </p:txBody>
      </p:sp>
      <p:sp>
        <p:nvSpPr>
          <p:cNvPr id="232" name="Text 10"/>
          <p:cNvSpPr/>
          <p:nvPr/>
        </p:nvSpPr>
        <p:spPr>
          <a:xfrm>
            <a:off x="3207960" y="1874575"/>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Mín</a:t>
            </a:r>
            <a:endParaRPr lang="es-ES" sz="750" b="0" u="none" strike="noStrike">
              <a:solidFill>
                <a:srgbClr val="000000"/>
              </a:solidFill>
              <a:effectLst/>
              <a:uFillTx/>
              <a:latin typeface="Arial" panose="020B0604020202020204"/>
            </a:endParaRPr>
          </a:p>
        </p:txBody>
      </p:sp>
      <p:sp>
        <p:nvSpPr>
          <p:cNvPr id="233" name="Text 11"/>
          <p:cNvSpPr/>
          <p:nvPr/>
        </p:nvSpPr>
        <p:spPr>
          <a:xfrm>
            <a:off x="4094280" y="1627615"/>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57.5</a:t>
            </a:r>
            <a:endParaRPr lang="es-ES" sz="1300" b="0" u="none" strike="noStrike">
              <a:solidFill>
                <a:srgbClr val="000000"/>
              </a:solidFill>
              <a:effectLst/>
              <a:uFillTx/>
              <a:latin typeface="Arial" panose="020B0604020202020204"/>
            </a:endParaRPr>
          </a:p>
        </p:txBody>
      </p:sp>
      <p:sp>
        <p:nvSpPr>
          <p:cNvPr id="234" name="Text 12"/>
          <p:cNvSpPr/>
          <p:nvPr/>
        </p:nvSpPr>
        <p:spPr>
          <a:xfrm>
            <a:off x="4094280" y="1874575"/>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Máx</a:t>
            </a:r>
            <a:endParaRPr lang="es-ES" sz="750" b="0" u="none" strike="noStrike">
              <a:solidFill>
                <a:srgbClr val="000000"/>
              </a:solidFill>
              <a:effectLst/>
              <a:uFillTx/>
              <a:latin typeface="Arial" panose="020B0604020202020204"/>
            </a:endParaRPr>
          </a:p>
        </p:txBody>
      </p:sp>
      <p:sp>
        <p:nvSpPr>
          <p:cNvPr id="235" name="Text 13"/>
          <p:cNvSpPr/>
          <p:nvPr/>
        </p:nvSpPr>
        <p:spPr>
          <a:xfrm>
            <a:off x="4980960" y="1627615"/>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1.239</a:t>
            </a:r>
            <a:endParaRPr lang="es-ES" sz="1300" b="0" u="none" strike="noStrike">
              <a:solidFill>
                <a:srgbClr val="000000"/>
              </a:solidFill>
              <a:effectLst/>
              <a:uFillTx/>
              <a:latin typeface="Arial" panose="020B0604020202020204"/>
            </a:endParaRPr>
          </a:p>
        </p:txBody>
      </p:sp>
      <p:sp>
        <p:nvSpPr>
          <p:cNvPr id="236" name="Text 14"/>
          <p:cNvSpPr/>
          <p:nvPr/>
        </p:nvSpPr>
        <p:spPr>
          <a:xfrm>
            <a:off x="4980960" y="1874575"/>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Asimetría</a:t>
            </a:r>
            <a:endParaRPr lang="es-ES" sz="750" b="0" u="none" strike="noStrike">
              <a:solidFill>
                <a:srgbClr val="000000"/>
              </a:solidFill>
              <a:effectLst/>
              <a:uFillTx/>
              <a:latin typeface="Arial" panose="020B0604020202020204"/>
            </a:endParaRPr>
          </a:p>
        </p:txBody>
      </p:sp>
      <p:sp>
        <p:nvSpPr>
          <p:cNvPr id="237" name="Shape 15"/>
          <p:cNvSpPr/>
          <p:nvPr/>
        </p:nvSpPr>
        <p:spPr>
          <a:xfrm>
            <a:off x="814680" y="2084815"/>
            <a:ext cx="4786560" cy="2618280"/>
          </a:xfrm>
          <a:prstGeom prst="roundRect">
            <a:avLst>
              <a:gd name="adj" fmla="val 2095"/>
            </a:avLst>
          </a:prstGeom>
          <a:solidFill>
            <a:srgbClr val="FFFFFF"/>
          </a:solidFill>
          <a:ln w="0">
            <a:noFill/>
          </a:ln>
          <a:effectLst>
            <a:outerShdw algn="bl" rotWithShape="0">
              <a:srgbClr val="8798AD">
                <a:alpha val="0"/>
              </a:srgbClr>
            </a:outerShdw>
          </a:effectLst>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pic>
        <p:nvPicPr>
          <p:cNvPr id="238" name="Image 0" descr="/tmp/claude-0/-home-claude/c0a8783c-8817-5425-bc4f-190e5f64548a/scratchpad/work/imgs/img_012.png"/>
          <p:cNvPicPr/>
          <p:nvPr/>
        </p:nvPicPr>
        <p:blipFill>
          <a:blip r:embed="rId1"/>
          <a:stretch>
            <a:fillRect/>
          </a:stretch>
        </p:blipFill>
        <p:spPr>
          <a:xfrm>
            <a:off x="906120" y="2176255"/>
            <a:ext cx="4603680" cy="2435400"/>
          </a:xfrm>
          <a:prstGeom prst="rect">
            <a:avLst/>
          </a:prstGeom>
          <a:noFill/>
          <a:ln w="0">
            <a:noFill/>
          </a:ln>
        </p:spPr>
      </p:pic>
      <p:sp>
        <p:nvSpPr>
          <p:cNvPr id="239" name="Text 16"/>
          <p:cNvSpPr/>
          <p:nvPr/>
        </p:nvSpPr>
        <p:spPr>
          <a:xfrm>
            <a:off x="548640" y="4844895"/>
            <a:ext cx="5318280" cy="14317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16000"/>
              </a:lnSpc>
              <a:tabLst>
                <a:tab pos="0" algn="l"/>
              </a:tabLst>
            </a:pPr>
            <a:r>
              <a:rPr lang="en-US" sz="1080" b="0" u="none" strike="noStrike">
                <a:solidFill>
                  <a:srgbClr val="12203D"/>
                </a:solidFill>
                <a:effectLst/>
                <a:uFillTx/>
                <a:latin typeface="Calibri" panose="020F0502020204030204"/>
                <a:ea typeface="Calibri" panose="020F0502020204030204"/>
              </a:rPr>
              <a:t>La asimetría positiva más marcada después del VORP: media 13,5% frente a mediana 10,7%, con cola larga hasta 57,5%. Es el contrapeso exacto del rebote (r = −0,5).</a:t>
            </a:r>
            <a:endParaRPr lang="es-ES" sz="1080" b="0" u="none" strike="noStrike">
              <a:solidFill>
                <a:srgbClr val="000000"/>
              </a:solidFill>
              <a:effectLst/>
              <a:uFillTx/>
              <a:latin typeface="Arial" panose="020B0604020202020204"/>
            </a:endParaRPr>
          </a:p>
        </p:txBody>
      </p:sp>
      <p:sp>
        <p:nvSpPr>
          <p:cNvPr id="240" name="Text 17"/>
          <p:cNvSpPr/>
          <p:nvPr/>
        </p:nvSpPr>
        <p:spPr>
          <a:xfrm>
            <a:off x="6324480" y="1298575"/>
            <a:ext cx="5318280" cy="2923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500" b="1" u="none" strike="noStrike">
                <a:solidFill>
                  <a:srgbClr val="0B1E3D"/>
                </a:solidFill>
                <a:effectLst/>
                <a:uFillTx/>
                <a:latin typeface="Calibri" panose="020F0502020204030204"/>
                <a:ea typeface="Calibri" panose="020F0502020204030204"/>
              </a:rPr>
              <a:t>% de intentos que son de triple</a:t>
            </a:r>
            <a:endParaRPr lang="es-ES" sz="1500" b="0" u="none" strike="noStrike">
              <a:solidFill>
                <a:srgbClr val="000000"/>
              </a:solidFill>
              <a:effectLst/>
              <a:uFillTx/>
              <a:latin typeface="Arial" panose="020B0604020202020204"/>
            </a:endParaRPr>
          </a:p>
        </p:txBody>
      </p:sp>
      <p:sp>
        <p:nvSpPr>
          <p:cNvPr id="241" name="Text 18"/>
          <p:cNvSpPr/>
          <p:nvPr/>
        </p:nvSpPr>
        <p:spPr>
          <a:xfrm>
            <a:off x="6324480" y="1627615"/>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0.19</a:t>
            </a:r>
            <a:endParaRPr lang="es-ES" sz="1300" b="0" u="none" strike="noStrike">
              <a:solidFill>
                <a:srgbClr val="000000"/>
              </a:solidFill>
              <a:effectLst/>
              <a:uFillTx/>
              <a:latin typeface="Arial" panose="020B0604020202020204"/>
            </a:endParaRPr>
          </a:p>
        </p:txBody>
      </p:sp>
      <p:sp>
        <p:nvSpPr>
          <p:cNvPr id="242" name="Text 19"/>
          <p:cNvSpPr/>
          <p:nvPr/>
        </p:nvSpPr>
        <p:spPr>
          <a:xfrm>
            <a:off x="6324480" y="1874575"/>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Media</a:t>
            </a:r>
            <a:endParaRPr lang="es-ES" sz="750" b="0" u="none" strike="noStrike">
              <a:solidFill>
                <a:srgbClr val="000000"/>
              </a:solidFill>
              <a:effectLst/>
              <a:uFillTx/>
              <a:latin typeface="Arial" panose="020B0604020202020204"/>
            </a:endParaRPr>
          </a:p>
        </p:txBody>
      </p:sp>
      <p:sp>
        <p:nvSpPr>
          <p:cNvPr id="243" name="Text 20"/>
          <p:cNvSpPr/>
          <p:nvPr/>
        </p:nvSpPr>
        <p:spPr>
          <a:xfrm>
            <a:off x="7210800" y="1627615"/>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0.113</a:t>
            </a:r>
            <a:endParaRPr lang="es-ES" sz="1300" b="0" u="none" strike="noStrike">
              <a:solidFill>
                <a:srgbClr val="000000"/>
              </a:solidFill>
              <a:effectLst/>
              <a:uFillTx/>
              <a:latin typeface="Arial" panose="020B0604020202020204"/>
            </a:endParaRPr>
          </a:p>
        </p:txBody>
      </p:sp>
      <p:sp>
        <p:nvSpPr>
          <p:cNvPr id="244" name="Text 21"/>
          <p:cNvSpPr/>
          <p:nvPr/>
        </p:nvSpPr>
        <p:spPr>
          <a:xfrm>
            <a:off x="7210800" y="1874575"/>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Mediana</a:t>
            </a:r>
            <a:endParaRPr lang="es-ES" sz="750" b="0" u="none" strike="noStrike">
              <a:solidFill>
                <a:srgbClr val="000000"/>
              </a:solidFill>
              <a:effectLst/>
              <a:uFillTx/>
              <a:latin typeface="Arial" panose="020B0604020202020204"/>
            </a:endParaRPr>
          </a:p>
        </p:txBody>
      </p:sp>
      <p:sp>
        <p:nvSpPr>
          <p:cNvPr id="245" name="Text 22"/>
          <p:cNvSpPr/>
          <p:nvPr/>
        </p:nvSpPr>
        <p:spPr>
          <a:xfrm>
            <a:off x="8097480" y="1627615"/>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0.201</a:t>
            </a:r>
            <a:endParaRPr lang="es-ES" sz="1300" b="0" u="none" strike="noStrike">
              <a:solidFill>
                <a:srgbClr val="000000"/>
              </a:solidFill>
              <a:effectLst/>
              <a:uFillTx/>
              <a:latin typeface="Arial" panose="020B0604020202020204"/>
            </a:endParaRPr>
          </a:p>
        </p:txBody>
      </p:sp>
      <p:sp>
        <p:nvSpPr>
          <p:cNvPr id="246" name="Text 23"/>
          <p:cNvSpPr/>
          <p:nvPr/>
        </p:nvSpPr>
        <p:spPr>
          <a:xfrm>
            <a:off x="8097480" y="1874575"/>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Desv. Est.</a:t>
            </a:r>
            <a:endParaRPr lang="es-ES" sz="750" b="0" u="none" strike="noStrike">
              <a:solidFill>
                <a:srgbClr val="000000"/>
              </a:solidFill>
              <a:effectLst/>
              <a:uFillTx/>
              <a:latin typeface="Arial" panose="020B0604020202020204"/>
            </a:endParaRPr>
          </a:p>
        </p:txBody>
      </p:sp>
      <p:sp>
        <p:nvSpPr>
          <p:cNvPr id="247" name="Text 24"/>
          <p:cNvSpPr/>
          <p:nvPr/>
        </p:nvSpPr>
        <p:spPr>
          <a:xfrm>
            <a:off x="8983800" y="1627615"/>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0</a:t>
            </a:r>
            <a:endParaRPr lang="es-ES" sz="1300" b="0" u="none" strike="noStrike">
              <a:solidFill>
                <a:srgbClr val="000000"/>
              </a:solidFill>
              <a:effectLst/>
              <a:uFillTx/>
              <a:latin typeface="Arial" panose="020B0604020202020204"/>
            </a:endParaRPr>
          </a:p>
        </p:txBody>
      </p:sp>
      <p:sp>
        <p:nvSpPr>
          <p:cNvPr id="248" name="Text 25"/>
          <p:cNvSpPr/>
          <p:nvPr/>
        </p:nvSpPr>
        <p:spPr>
          <a:xfrm>
            <a:off x="8983800" y="1874575"/>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Mín</a:t>
            </a:r>
            <a:endParaRPr lang="es-ES" sz="750" b="0" u="none" strike="noStrike">
              <a:solidFill>
                <a:srgbClr val="000000"/>
              </a:solidFill>
              <a:effectLst/>
              <a:uFillTx/>
              <a:latin typeface="Arial" panose="020B0604020202020204"/>
            </a:endParaRPr>
          </a:p>
        </p:txBody>
      </p:sp>
      <p:sp>
        <p:nvSpPr>
          <p:cNvPr id="249" name="Text 26"/>
          <p:cNvSpPr/>
          <p:nvPr/>
        </p:nvSpPr>
        <p:spPr>
          <a:xfrm>
            <a:off x="9870120" y="1627615"/>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1</a:t>
            </a:r>
            <a:endParaRPr lang="es-ES" sz="1300" b="0" u="none" strike="noStrike">
              <a:solidFill>
                <a:srgbClr val="000000"/>
              </a:solidFill>
              <a:effectLst/>
              <a:uFillTx/>
              <a:latin typeface="Arial" panose="020B0604020202020204"/>
            </a:endParaRPr>
          </a:p>
        </p:txBody>
      </p:sp>
      <p:sp>
        <p:nvSpPr>
          <p:cNvPr id="250" name="Text 27"/>
          <p:cNvSpPr/>
          <p:nvPr/>
        </p:nvSpPr>
        <p:spPr>
          <a:xfrm>
            <a:off x="9870120" y="1874575"/>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Máx</a:t>
            </a:r>
            <a:endParaRPr lang="es-ES" sz="750" b="0" u="none" strike="noStrike">
              <a:solidFill>
                <a:srgbClr val="000000"/>
              </a:solidFill>
              <a:effectLst/>
              <a:uFillTx/>
              <a:latin typeface="Arial" panose="020B0604020202020204"/>
            </a:endParaRPr>
          </a:p>
        </p:txBody>
      </p:sp>
      <p:sp>
        <p:nvSpPr>
          <p:cNvPr id="251" name="Text 28"/>
          <p:cNvSpPr/>
          <p:nvPr/>
        </p:nvSpPr>
        <p:spPr>
          <a:xfrm>
            <a:off x="10756800" y="1627615"/>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0.874</a:t>
            </a:r>
            <a:endParaRPr lang="es-ES" sz="1300" b="0" u="none" strike="noStrike">
              <a:solidFill>
                <a:srgbClr val="000000"/>
              </a:solidFill>
              <a:effectLst/>
              <a:uFillTx/>
              <a:latin typeface="Arial" panose="020B0604020202020204"/>
            </a:endParaRPr>
          </a:p>
        </p:txBody>
      </p:sp>
      <p:sp>
        <p:nvSpPr>
          <p:cNvPr id="252" name="Text 29"/>
          <p:cNvSpPr/>
          <p:nvPr/>
        </p:nvSpPr>
        <p:spPr>
          <a:xfrm>
            <a:off x="10756800" y="1874575"/>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Asimetría</a:t>
            </a:r>
            <a:endParaRPr lang="es-ES" sz="750" b="0" u="none" strike="noStrike">
              <a:solidFill>
                <a:srgbClr val="000000"/>
              </a:solidFill>
              <a:effectLst/>
              <a:uFillTx/>
              <a:latin typeface="Arial" panose="020B0604020202020204"/>
            </a:endParaRPr>
          </a:p>
        </p:txBody>
      </p:sp>
      <p:sp>
        <p:nvSpPr>
          <p:cNvPr id="253" name="Shape 30"/>
          <p:cNvSpPr/>
          <p:nvPr/>
        </p:nvSpPr>
        <p:spPr>
          <a:xfrm>
            <a:off x="6590520" y="2084815"/>
            <a:ext cx="4786560" cy="2618280"/>
          </a:xfrm>
          <a:prstGeom prst="roundRect">
            <a:avLst>
              <a:gd name="adj" fmla="val 2095"/>
            </a:avLst>
          </a:prstGeom>
          <a:solidFill>
            <a:srgbClr val="FFFFFF"/>
          </a:solidFill>
          <a:ln w="0">
            <a:noFill/>
          </a:ln>
          <a:effectLst>
            <a:outerShdw algn="bl" rotWithShape="0">
              <a:srgbClr val="8798AD">
                <a:alpha val="0"/>
              </a:srgbClr>
            </a:outerShdw>
          </a:effectLst>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pic>
        <p:nvPicPr>
          <p:cNvPr id="254" name="Image 1" descr="/tmp/claude-0/-home-claude/c0a8783c-8817-5425-bc4f-190e5f64548a/scratchpad/work/imgs/img_014.png"/>
          <p:cNvPicPr/>
          <p:nvPr/>
        </p:nvPicPr>
        <p:blipFill>
          <a:blip r:embed="rId2"/>
          <a:stretch>
            <a:fillRect/>
          </a:stretch>
        </p:blipFill>
        <p:spPr>
          <a:xfrm>
            <a:off x="6681960" y="2176255"/>
            <a:ext cx="4603680" cy="2435400"/>
          </a:xfrm>
          <a:prstGeom prst="rect">
            <a:avLst/>
          </a:prstGeom>
          <a:noFill/>
          <a:ln w="0">
            <a:noFill/>
          </a:ln>
        </p:spPr>
      </p:pic>
      <p:sp>
        <p:nvSpPr>
          <p:cNvPr id="255" name="Text 31"/>
          <p:cNvSpPr/>
          <p:nvPr/>
        </p:nvSpPr>
        <p:spPr>
          <a:xfrm>
            <a:off x="6324480" y="4729960"/>
            <a:ext cx="5318280" cy="14317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16000"/>
              </a:lnSpc>
              <a:tabLst>
                <a:tab pos="0" algn="l"/>
              </a:tabLst>
            </a:pPr>
            <a:r>
              <a:rPr lang="en-US" sz="1080" b="0" u="none" strike="noStrike">
                <a:solidFill>
                  <a:srgbClr val="12203D"/>
                </a:solidFill>
                <a:effectLst/>
                <a:uFillTx/>
                <a:latin typeface="Calibri" panose="020F0502020204030204"/>
                <a:ea typeface="Calibri" panose="020F0502020204030204"/>
              </a:rPr>
              <a:t>El histograma más peculiar del dataset: gran masa cerca de cero (11,1% en 0 exacto) y cola hasta el 100%. Correlaciona r=0,5 con la temporada: mezcla 41 años de estilos de juego distintos.</a:t>
            </a:r>
            <a:endParaRPr lang="es-ES" sz="1080" b="0" u="none" strike="noStrike">
              <a:solidFill>
                <a:srgbClr val="000000"/>
              </a:solidFill>
              <a:effectLst/>
              <a:uFillTx/>
              <a:latin typeface="Arial" panose="020B0604020202020204"/>
            </a:endParaRPr>
          </a:p>
        </p:txBody>
      </p:sp>
      <p:pic>
        <p:nvPicPr>
          <p:cNvPr id="256" name="Image 2" descr="/tmp/claude-0/-home-claude/c0a8783c-8817-5425-bc4f-190e5f64548a/scratchpad/work/icons/basketball_E1590F.png"/>
          <p:cNvPicPr/>
          <p:nvPr/>
        </p:nvPicPr>
        <p:blipFill>
          <a:blip r:embed="rId3"/>
          <a:stretch>
            <a:fillRect/>
          </a:stretch>
        </p:blipFill>
        <p:spPr>
          <a:xfrm>
            <a:off x="548640" y="6546960"/>
            <a:ext cx="145800" cy="145800"/>
          </a:xfrm>
          <a:prstGeom prst="rect">
            <a:avLst/>
          </a:prstGeom>
          <a:noFill/>
          <a:ln w="0">
            <a:noFill/>
          </a:ln>
        </p:spPr>
      </p:pic>
      <p:sp>
        <p:nvSpPr>
          <p:cNvPr id="257" name="Text 32"/>
          <p:cNvSpPr/>
          <p:nvPr/>
        </p:nvSpPr>
        <p:spPr>
          <a:xfrm>
            <a:off x="768240" y="6510600"/>
            <a:ext cx="45716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850" b="0" u="none" strike="noStrike">
                <a:solidFill>
                  <a:srgbClr val="5B6B85"/>
                </a:solidFill>
                <a:effectLst/>
                <a:uFillTx/>
                <a:latin typeface="Calibri" panose="020F0502020204030204"/>
                <a:ea typeface="Calibri" panose="020F0502020204030204"/>
              </a:rPr>
              <a:t>02 · Análisis univariado</a:t>
            </a:r>
            <a:endParaRPr lang="es-ES" sz="850" b="0" u="none" strike="noStrike">
              <a:solidFill>
                <a:srgbClr val="000000"/>
              </a:solidFill>
              <a:effectLst/>
              <a:uFillTx/>
              <a:latin typeface="Arial" panose="020B0604020202020204"/>
            </a:endParaRPr>
          </a:p>
        </p:txBody>
      </p:sp>
      <p:sp>
        <p:nvSpPr>
          <p:cNvPr id="258" name="Text 33"/>
          <p:cNvSpPr/>
          <p:nvPr/>
        </p:nvSpPr>
        <p:spPr>
          <a:xfrm>
            <a:off x="10271520" y="6510600"/>
            <a:ext cx="1371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algn="r" defTabSz="914400">
              <a:lnSpc>
                <a:spcPct val="100000"/>
              </a:lnSpc>
              <a:tabLst>
                <a:tab pos="0" algn="l"/>
              </a:tabLst>
            </a:pPr>
            <a:r>
              <a:rPr lang="en-US" sz="850" b="0" u="none" strike="noStrike">
                <a:solidFill>
                  <a:srgbClr val="5B6B85"/>
                </a:solidFill>
                <a:effectLst/>
                <a:uFillTx/>
                <a:latin typeface="Calibri" panose="020F0502020204030204"/>
                <a:ea typeface="Calibri" panose="020F0502020204030204"/>
              </a:rPr>
              <a:t>09 / 23</a:t>
            </a:r>
            <a:endParaRPr lang="es-ES" sz="850" b="0" u="none" strike="noStrike">
              <a:solidFill>
                <a:srgbClr val="000000"/>
              </a:solidFill>
              <a:effectLst/>
              <a:uFillTx/>
              <a:latin typeface="Arial" panose="020B0604020202020204"/>
            </a:endParaRPr>
          </a:p>
        </p:txBody>
      </p:sp>
      <p:pic>
        <p:nvPicPr>
          <p:cNvPr id="2" name="Imagen 1"/>
          <p:cNvPicPr/>
          <p:nvPr/>
        </p:nvPicPr>
        <p:blipFill>
          <a:blip r:embed="rId4"/>
          <a:stretch>
            <a:fillRect/>
          </a:stretch>
        </p:blipFill>
        <p:spPr>
          <a:xfrm>
            <a:off x="814705" y="5300980"/>
            <a:ext cx="4695825" cy="1122045"/>
          </a:xfrm>
          <a:prstGeom prst="rect">
            <a:avLst/>
          </a:prstGeom>
        </p:spPr>
      </p:pic>
      <p:pic>
        <p:nvPicPr>
          <p:cNvPr id="3" name="Imagen 2"/>
          <p:cNvPicPr/>
          <p:nvPr/>
        </p:nvPicPr>
        <p:blipFill>
          <a:blip r:embed="rId5"/>
          <a:stretch>
            <a:fillRect/>
          </a:stretch>
        </p:blipFill>
        <p:spPr>
          <a:xfrm>
            <a:off x="6590665" y="5300980"/>
            <a:ext cx="4786630" cy="101092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4F6F9"/>
        </a:solidFill>
        <a:effectLst/>
      </p:bgPr>
    </p:bg>
    <p:spTree>
      <p:nvGrpSpPr>
        <p:cNvPr id="1" name=""/>
        <p:cNvGrpSpPr/>
        <p:nvPr/>
      </p:nvGrpSpPr>
      <p:grpSpPr>
        <a:xfrm>
          <a:off x="0" y="0"/>
          <a:ext cx="0" cy="0"/>
          <a:chOff x="0" y="0"/>
          <a:chExt cx="0" cy="0"/>
        </a:xfrm>
      </p:grpSpPr>
      <p:sp>
        <p:nvSpPr>
          <p:cNvPr id="259" name="Text 0"/>
          <p:cNvSpPr/>
          <p:nvPr/>
        </p:nvSpPr>
        <p:spPr>
          <a:xfrm>
            <a:off x="548640" y="411480"/>
            <a:ext cx="7314840" cy="2923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1150" b="1" u="none" strike="noStrike" spc="201">
                <a:solidFill>
                  <a:srgbClr val="E1590F"/>
                </a:solidFill>
                <a:effectLst/>
                <a:uFillTx/>
                <a:latin typeface="Calibri" panose="020F0502020204030204"/>
                <a:ea typeface="Calibri" panose="020F0502020204030204"/>
              </a:rPr>
              <a:t>02 · ANÁLISIS UNIVARIADO</a:t>
            </a:r>
            <a:endParaRPr lang="es-ES" sz="1150" b="0" u="none" strike="noStrike">
              <a:solidFill>
                <a:srgbClr val="000000"/>
              </a:solidFill>
              <a:effectLst/>
              <a:uFillTx/>
              <a:latin typeface="Arial" panose="020B0604020202020204"/>
            </a:endParaRPr>
          </a:p>
        </p:txBody>
      </p:sp>
      <p:sp>
        <p:nvSpPr>
          <p:cNvPr id="260" name="Text 1"/>
          <p:cNvSpPr/>
          <p:nvPr/>
        </p:nvSpPr>
        <p:spPr>
          <a:xfrm>
            <a:off x="548640" y="749880"/>
            <a:ext cx="11094120" cy="59400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2000"/>
              </a:lnSpc>
              <a:tabLst>
                <a:tab pos="0" algn="l"/>
              </a:tabLst>
            </a:pPr>
            <a:r>
              <a:rPr lang="en-US" sz="2900" b="1" u="none" strike="noStrike">
                <a:solidFill>
                  <a:srgbClr val="0B1E3D"/>
                </a:solidFill>
                <a:effectLst/>
                <a:uFillTx/>
                <a:latin typeface="Calibri" panose="020F0502020204030204"/>
                <a:ea typeface="Calibri" panose="020F0502020204030204"/>
              </a:rPr>
              <a:t>Defensa y contexto</a:t>
            </a:r>
            <a:endParaRPr lang="es-ES" sz="2900" b="0" u="none" strike="noStrike">
              <a:solidFill>
                <a:srgbClr val="000000"/>
              </a:solidFill>
              <a:effectLst/>
              <a:uFillTx/>
              <a:latin typeface="Arial" panose="020B0604020202020204"/>
            </a:endParaRPr>
          </a:p>
        </p:txBody>
      </p:sp>
      <p:sp>
        <p:nvSpPr>
          <p:cNvPr id="261" name="Text 2"/>
          <p:cNvSpPr/>
          <p:nvPr/>
        </p:nvSpPr>
        <p:spPr>
          <a:xfrm>
            <a:off x="538480" y="1183005"/>
            <a:ext cx="5318280" cy="2923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500" b="1" u="none" strike="noStrike">
                <a:solidFill>
                  <a:srgbClr val="0B1E3D"/>
                </a:solidFill>
                <a:effectLst/>
                <a:uFillTx/>
                <a:latin typeface="Calibri" panose="020F0502020204030204"/>
                <a:ea typeface="Calibri" panose="020F0502020204030204"/>
              </a:rPr>
              <a:t>DBPM — Box Plus/Minus defensivo</a:t>
            </a:r>
            <a:endParaRPr lang="es-ES" sz="1500" b="0" u="none" strike="noStrike">
              <a:solidFill>
                <a:srgbClr val="000000"/>
              </a:solidFill>
              <a:effectLst/>
              <a:uFillTx/>
              <a:latin typeface="Arial" panose="020B0604020202020204"/>
            </a:endParaRPr>
          </a:p>
        </p:txBody>
      </p:sp>
      <p:sp>
        <p:nvSpPr>
          <p:cNvPr id="262" name="Text 3"/>
          <p:cNvSpPr/>
          <p:nvPr/>
        </p:nvSpPr>
        <p:spPr>
          <a:xfrm>
            <a:off x="538480" y="1512045"/>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-0.048</a:t>
            </a:r>
            <a:endParaRPr lang="es-ES" sz="1300" b="0" u="none" strike="noStrike">
              <a:solidFill>
                <a:srgbClr val="000000"/>
              </a:solidFill>
              <a:effectLst/>
              <a:uFillTx/>
              <a:latin typeface="Arial" panose="020B0604020202020204"/>
            </a:endParaRPr>
          </a:p>
        </p:txBody>
      </p:sp>
      <p:sp>
        <p:nvSpPr>
          <p:cNvPr id="263" name="Text 4"/>
          <p:cNvSpPr/>
          <p:nvPr/>
        </p:nvSpPr>
        <p:spPr>
          <a:xfrm>
            <a:off x="538480" y="1759005"/>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Media</a:t>
            </a:r>
            <a:endParaRPr lang="es-ES" sz="750" b="0" u="none" strike="noStrike">
              <a:solidFill>
                <a:srgbClr val="000000"/>
              </a:solidFill>
              <a:effectLst/>
              <a:uFillTx/>
              <a:latin typeface="Arial" panose="020B0604020202020204"/>
            </a:endParaRPr>
          </a:p>
        </p:txBody>
      </p:sp>
      <p:sp>
        <p:nvSpPr>
          <p:cNvPr id="264" name="Text 5"/>
          <p:cNvSpPr/>
          <p:nvPr/>
        </p:nvSpPr>
        <p:spPr>
          <a:xfrm>
            <a:off x="1424800" y="1512045"/>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-0.1</a:t>
            </a:r>
            <a:endParaRPr lang="es-ES" sz="1300" b="0" u="none" strike="noStrike">
              <a:solidFill>
                <a:srgbClr val="000000"/>
              </a:solidFill>
              <a:effectLst/>
              <a:uFillTx/>
              <a:latin typeface="Arial" panose="020B0604020202020204"/>
            </a:endParaRPr>
          </a:p>
        </p:txBody>
      </p:sp>
      <p:sp>
        <p:nvSpPr>
          <p:cNvPr id="265" name="Text 6"/>
          <p:cNvSpPr/>
          <p:nvPr/>
        </p:nvSpPr>
        <p:spPr>
          <a:xfrm>
            <a:off x="1424800" y="1759005"/>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Mediana</a:t>
            </a:r>
            <a:endParaRPr lang="es-ES" sz="750" b="0" u="none" strike="noStrike">
              <a:solidFill>
                <a:srgbClr val="000000"/>
              </a:solidFill>
              <a:effectLst/>
              <a:uFillTx/>
              <a:latin typeface="Arial" panose="020B0604020202020204"/>
            </a:endParaRPr>
          </a:p>
        </p:txBody>
      </p:sp>
      <p:sp>
        <p:nvSpPr>
          <p:cNvPr id="266" name="Text 7"/>
          <p:cNvSpPr/>
          <p:nvPr/>
        </p:nvSpPr>
        <p:spPr>
          <a:xfrm>
            <a:off x="2311480" y="1512045"/>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1.214</a:t>
            </a:r>
            <a:endParaRPr lang="es-ES" sz="1300" b="0" u="none" strike="noStrike">
              <a:solidFill>
                <a:srgbClr val="000000"/>
              </a:solidFill>
              <a:effectLst/>
              <a:uFillTx/>
              <a:latin typeface="Arial" panose="020B0604020202020204"/>
            </a:endParaRPr>
          </a:p>
        </p:txBody>
      </p:sp>
      <p:sp>
        <p:nvSpPr>
          <p:cNvPr id="267" name="Text 8"/>
          <p:cNvSpPr/>
          <p:nvPr/>
        </p:nvSpPr>
        <p:spPr>
          <a:xfrm>
            <a:off x="2311480" y="1759005"/>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Desv. Est.</a:t>
            </a:r>
            <a:endParaRPr lang="es-ES" sz="750" b="0" u="none" strike="noStrike">
              <a:solidFill>
                <a:srgbClr val="000000"/>
              </a:solidFill>
              <a:effectLst/>
              <a:uFillTx/>
              <a:latin typeface="Arial" panose="020B0604020202020204"/>
            </a:endParaRPr>
          </a:p>
        </p:txBody>
      </p:sp>
      <p:sp>
        <p:nvSpPr>
          <p:cNvPr id="268" name="Text 9"/>
          <p:cNvSpPr/>
          <p:nvPr/>
        </p:nvSpPr>
        <p:spPr>
          <a:xfrm>
            <a:off x="3197800" y="1512045"/>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-6.7</a:t>
            </a:r>
            <a:endParaRPr lang="es-ES" sz="1300" b="0" u="none" strike="noStrike">
              <a:solidFill>
                <a:srgbClr val="000000"/>
              </a:solidFill>
              <a:effectLst/>
              <a:uFillTx/>
              <a:latin typeface="Arial" panose="020B0604020202020204"/>
            </a:endParaRPr>
          </a:p>
        </p:txBody>
      </p:sp>
      <p:sp>
        <p:nvSpPr>
          <p:cNvPr id="269" name="Text 10"/>
          <p:cNvSpPr/>
          <p:nvPr/>
        </p:nvSpPr>
        <p:spPr>
          <a:xfrm>
            <a:off x="3197800" y="1759005"/>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Mín</a:t>
            </a:r>
            <a:endParaRPr lang="es-ES" sz="750" b="0" u="none" strike="noStrike">
              <a:solidFill>
                <a:srgbClr val="000000"/>
              </a:solidFill>
              <a:effectLst/>
              <a:uFillTx/>
              <a:latin typeface="Arial" panose="020B0604020202020204"/>
            </a:endParaRPr>
          </a:p>
        </p:txBody>
      </p:sp>
      <p:sp>
        <p:nvSpPr>
          <p:cNvPr id="270" name="Text 11"/>
          <p:cNvSpPr/>
          <p:nvPr/>
        </p:nvSpPr>
        <p:spPr>
          <a:xfrm>
            <a:off x="4084120" y="1512045"/>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5.5</a:t>
            </a:r>
            <a:endParaRPr lang="es-ES" sz="1300" b="0" u="none" strike="noStrike">
              <a:solidFill>
                <a:srgbClr val="000000"/>
              </a:solidFill>
              <a:effectLst/>
              <a:uFillTx/>
              <a:latin typeface="Arial" panose="020B0604020202020204"/>
            </a:endParaRPr>
          </a:p>
        </p:txBody>
      </p:sp>
      <p:sp>
        <p:nvSpPr>
          <p:cNvPr id="271" name="Text 12"/>
          <p:cNvSpPr/>
          <p:nvPr/>
        </p:nvSpPr>
        <p:spPr>
          <a:xfrm>
            <a:off x="4084120" y="1759005"/>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Máx</a:t>
            </a:r>
            <a:endParaRPr lang="es-ES" sz="750" b="0" u="none" strike="noStrike">
              <a:solidFill>
                <a:srgbClr val="000000"/>
              </a:solidFill>
              <a:effectLst/>
              <a:uFillTx/>
              <a:latin typeface="Arial" panose="020B0604020202020204"/>
            </a:endParaRPr>
          </a:p>
        </p:txBody>
      </p:sp>
      <p:sp>
        <p:nvSpPr>
          <p:cNvPr id="272" name="Text 13"/>
          <p:cNvSpPr/>
          <p:nvPr/>
        </p:nvSpPr>
        <p:spPr>
          <a:xfrm>
            <a:off x="4970800" y="1512045"/>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0.283</a:t>
            </a:r>
            <a:endParaRPr lang="es-ES" sz="1300" b="0" u="none" strike="noStrike">
              <a:solidFill>
                <a:srgbClr val="000000"/>
              </a:solidFill>
              <a:effectLst/>
              <a:uFillTx/>
              <a:latin typeface="Arial" panose="020B0604020202020204"/>
            </a:endParaRPr>
          </a:p>
        </p:txBody>
      </p:sp>
      <p:sp>
        <p:nvSpPr>
          <p:cNvPr id="273" name="Text 14"/>
          <p:cNvSpPr/>
          <p:nvPr/>
        </p:nvSpPr>
        <p:spPr>
          <a:xfrm>
            <a:off x="4970800" y="1759005"/>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Asimetría</a:t>
            </a:r>
            <a:endParaRPr lang="es-ES" sz="750" b="0" u="none" strike="noStrike">
              <a:solidFill>
                <a:srgbClr val="000000"/>
              </a:solidFill>
              <a:effectLst/>
              <a:uFillTx/>
              <a:latin typeface="Arial" panose="020B0604020202020204"/>
            </a:endParaRPr>
          </a:p>
        </p:txBody>
      </p:sp>
      <p:sp>
        <p:nvSpPr>
          <p:cNvPr id="274" name="Shape 15"/>
          <p:cNvSpPr/>
          <p:nvPr/>
        </p:nvSpPr>
        <p:spPr>
          <a:xfrm>
            <a:off x="804520" y="1969245"/>
            <a:ext cx="4786560" cy="2618280"/>
          </a:xfrm>
          <a:prstGeom prst="roundRect">
            <a:avLst>
              <a:gd name="adj" fmla="val 2095"/>
            </a:avLst>
          </a:prstGeom>
          <a:solidFill>
            <a:srgbClr val="FFFFFF"/>
          </a:solidFill>
          <a:ln w="0">
            <a:noFill/>
          </a:ln>
          <a:effectLst>
            <a:outerShdw algn="bl" rotWithShape="0">
              <a:srgbClr val="8798AD">
                <a:alpha val="0"/>
              </a:srgbClr>
            </a:outerShdw>
          </a:effectLst>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pic>
        <p:nvPicPr>
          <p:cNvPr id="275" name="Image 0" descr="/tmp/claude-0/-home-claude/c0a8783c-8817-5425-bc4f-190e5f64548a/scratchpad/work/imgs/img_017.png"/>
          <p:cNvPicPr/>
          <p:nvPr/>
        </p:nvPicPr>
        <p:blipFill>
          <a:blip r:embed="rId1"/>
          <a:stretch>
            <a:fillRect/>
          </a:stretch>
        </p:blipFill>
        <p:spPr>
          <a:xfrm>
            <a:off x="895960" y="2060685"/>
            <a:ext cx="4603680" cy="2435400"/>
          </a:xfrm>
          <a:prstGeom prst="rect">
            <a:avLst/>
          </a:prstGeom>
          <a:noFill/>
          <a:ln w="0">
            <a:noFill/>
          </a:ln>
        </p:spPr>
      </p:pic>
      <p:sp>
        <p:nvSpPr>
          <p:cNvPr id="276" name="Text 16"/>
          <p:cNvSpPr/>
          <p:nvPr/>
        </p:nvSpPr>
        <p:spPr>
          <a:xfrm>
            <a:off x="538480" y="4734405"/>
            <a:ext cx="5318280" cy="14317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16000"/>
              </a:lnSpc>
              <a:tabLst>
                <a:tab pos="0" algn="l"/>
              </a:tabLst>
            </a:pPr>
            <a:r>
              <a:rPr lang="en-US" sz="1080" b="0" u="none" strike="noStrike">
                <a:solidFill>
                  <a:srgbClr val="12203D"/>
                </a:solidFill>
                <a:effectLst/>
                <a:uFillTx/>
                <a:latin typeface="Calibri" panose="020F0502020204030204"/>
                <a:ea typeface="Calibri" panose="020F0502020204030204"/>
              </a:rPr>
              <a:t>Centrada en cero por diseño y casi simétrica. Desviación de solo 1,21 puntos por 100 posesiones, frente a 2,66 del BPM ofensivo: la variación entre jugadores es mucho mayor en ataque que en defensa.</a:t>
            </a:r>
            <a:endParaRPr lang="es-ES" sz="1080" b="0" u="none" strike="noStrike">
              <a:solidFill>
                <a:srgbClr val="000000"/>
              </a:solidFill>
              <a:effectLst/>
              <a:uFillTx/>
              <a:latin typeface="Arial" panose="020B0604020202020204"/>
            </a:endParaRPr>
          </a:p>
        </p:txBody>
      </p:sp>
      <p:sp>
        <p:nvSpPr>
          <p:cNvPr id="277" name="Text 17"/>
          <p:cNvSpPr/>
          <p:nvPr/>
        </p:nvSpPr>
        <p:spPr>
          <a:xfrm>
            <a:off x="6314320" y="1183005"/>
            <a:ext cx="5318280" cy="2923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500" b="1" u="none" strike="noStrike">
                <a:solidFill>
                  <a:srgbClr val="0B1E3D"/>
                </a:solidFill>
                <a:effectLst/>
                <a:uFillTx/>
                <a:latin typeface="Calibri" panose="020F0502020204030204"/>
                <a:ea typeface="Calibri" panose="020F0502020204030204"/>
              </a:rPr>
              <a:t>% de victorias del equipo</a:t>
            </a:r>
            <a:endParaRPr lang="es-ES" sz="1500" b="0" u="none" strike="noStrike">
              <a:solidFill>
                <a:srgbClr val="000000"/>
              </a:solidFill>
              <a:effectLst/>
              <a:uFillTx/>
              <a:latin typeface="Arial" panose="020B0604020202020204"/>
            </a:endParaRPr>
          </a:p>
        </p:txBody>
      </p:sp>
      <p:sp>
        <p:nvSpPr>
          <p:cNvPr id="278" name="Text 18"/>
          <p:cNvSpPr/>
          <p:nvPr/>
        </p:nvSpPr>
        <p:spPr>
          <a:xfrm>
            <a:off x="6314320" y="1512045"/>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0.499</a:t>
            </a:r>
            <a:endParaRPr lang="es-ES" sz="1300" b="0" u="none" strike="noStrike">
              <a:solidFill>
                <a:srgbClr val="000000"/>
              </a:solidFill>
              <a:effectLst/>
              <a:uFillTx/>
              <a:latin typeface="Arial" panose="020B0604020202020204"/>
            </a:endParaRPr>
          </a:p>
        </p:txBody>
      </p:sp>
      <p:sp>
        <p:nvSpPr>
          <p:cNvPr id="279" name="Text 19"/>
          <p:cNvSpPr/>
          <p:nvPr/>
        </p:nvSpPr>
        <p:spPr>
          <a:xfrm>
            <a:off x="6314320" y="1759005"/>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Media</a:t>
            </a:r>
            <a:endParaRPr lang="es-ES" sz="750" b="0" u="none" strike="noStrike">
              <a:solidFill>
                <a:srgbClr val="000000"/>
              </a:solidFill>
              <a:effectLst/>
              <a:uFillTx/>
              <a:latin typeface="Arial" panose="020B0604020202020204"/>
            </a:endParaRPr>
          </a:p>
        </p:txBody>
      </p:sp>
      <p:sp>
        <p:nvSpPr>
          <p:cNvPr id="280" name="Text 20"/>
          <p:cNvSpPr/>
          <p:nvPr/>
        </p:nvSpPr>
        <p:spPr>
          <a:xfrm>
            <a:off x="7200640" y="1512045"/>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0.512</a:t>
            </a:r>
            <a:endParaRPr lang="es-ES" sz="1300" b="0" u="none" strike="noStrike">
              <a:solidFill>
                <a:srgbClr val="000000"/>
              </a:solidFill>
              <a:effectLst/>
              <a:uFillTx/>
              <a:latin typeface="Arial" panose="020B0604020202020204"/>
            </a:endParaRPr>
          </a:p>
        </p:txBody>
      </p:sp>
      <p:sp>
        <p:nvSpPr>
          <p:cNvPr id="281" name="Text 21"/>
          <p:cNvSpPr/>
          <p:nvPr/>
        </p:nvSpPr>
        <p:spPr>
          <a:xfrm>
            <a:off x="7200640" y="1759005"/>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Mediana</a:t>
            </a:r>
            <a:endParaRPr lang="es-ES" sz="750" b="0" u="none" strike="noStrike">
              <a:solidFill>
                <a:srgbClr val="000000"/>
              </a:solidFill>
              <a:effectLst/>
              <a:uFillTx/>
              <a:latin typeface="Arial" panose="020B0604020202020204"/>
            </a:endParaRPr>
          </a:p>
        </p:txBody>
      </p:sp>
      <p:sp>
        <p:nvSpPr>
          <p:cNvPr id="282" name="Text 22"/>
          <p:cNvSpPr/>
          <p:nvPr/>
        </p:nvSpPr>
        <p:spPr>
          <a:xfrm>
            <a:off x="8087320" y="1512045"/>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0.155</a:t>
            </a:r>
            <a:endParaRPr lang="es-ES" sz="1300" b="0" u="none" strike="noStrike">
              <a:solidFill>
                <a:srgbClr val="000000"/>
              </a:solidFill>
              <a:effectLst/>
              <a:uFillTx/>
              <a:latin typeface="Arial" panose="020B0604020202020204"/>
            </a:endParaRPr>
          </a:p>
        </p:txBody>
      </p:sp>
      <p:sp>
        <p:nvSpPr>
          <p:cNvPr id="283" name="Text 23"/>
          <p:cNvSpPr/>
          <p:nvPr/>
        </p:nvSpPr>
        <p:spPr>
          <a:xfrm>
            <a:off x="8087320" y="1759005"/>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Desv. Est.</a:t>
            </a:r>
            <a:endParaRPr lang="es-ES" sz="750" b="0" u="none" strike="noStrike">
              <a:solidFill>
                <a:srgbClr val="000000"/>
              </a:solidFill>
              <a:effectLst/>
              <a:uFillTx/>
              <a:latin typeface="Arial" panose="020B0604020202020204"/>
            </a:endParaRPr>
          </a:p>
        </p:txBody>
      </p:sp>
      <p:sp>
        <p:nvSpPr>
          <p:cNvPr id="284" name="Text 24"/>
          <p:cNvSpPr/>
          <p:nvPr/>
        </p:nvSpPr>
        <p:spPr>
          <a:xfrm>
            <a:off x="8973640" y="1512045"/>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0.106</a:t>
            </a:r>
            <a:endParaRPr lang="es-ES" sz="1300" b="0" u="none" strike="noStrike">
              <a:solidFill>
                <a:srgbClr val="000000"/>
              </a:solidFill>
              <a:effectLst/>
              <a:uFillTx/>
              <a:latin typeface="Arial" panose="020B0604020202020204"/>
            </a:endParaRPr>
          </a:p>
        </p:txBody>
      </p:sp>
      <p:sp>
        <p:nvSpPr>
          <p:cNvPr id="285" name="Text 25"/>
          <p:cNvSpPr/>
          <p:nvPr/>
        </p:nvSpPr>
        <p:spPr>
          <a:xfrm>
            <a:off x="8973640" y="1759005"/>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Mín</a:t>
            </a:r>
            <a:endParaRPr lang="es-ES" sz="750" b="0" u="none" strike="noStrike">
              <a:solidFill>
                <a:srgbClr val="000000"/>
              </a:solidFill>
              <a:effectLst/>
              <a:uFillTx/>
              <a:latin typeface="Arial" panose="020B0604020202020204"/>
            </a:endParaRPr>
          </a:p>
        </p:txBody>
      </p:sp>
      <p:sp>
        <p:nvSpPr>
          <p:cNvPr id="286" name="Text 26"/>
          <p:cNvSpPr/>
          <p:nvPr/>
        </p:nvSpPr>
        <p:spPr>
          <a:xfrm>
            <a:off x="9859960" y="1512045"/>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0.89</a:t>
            </a:r>
            <a:endParaRPr lang="es-ES" sz="1300" b="0" u="none" strike="noStrike">
              <a:solidFill>
                <a:srgbClr val="000000"/>
              </a:solidFill>
              <a:effectLst/>
              <a:uFillTx/>
              <a:latin typeface="Arial" panose="020B0604020202020204"/>
            </a:endParaRPr>
          </a:p>
        </p:txBody>
      </p:sp>
      <p:sp>
        <p:nvSpPr>
          <p:cNvPr id="287" name="Text 27"/>
          <p:cNvSpPr/>
          <p:nvPr/>
        </p:nvSpPr>
        <p:spPr>
          <a:xfrm>
            <a:off x="9859960" y="1759005"/>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Máx</a:t>
            </a:r>
            <a:endParaRPr lang="es-ES" sz="750" b="0" u="none" strike="noStrike">
              <a:solidFill>
                <a:srgbClr val="000000"/>
              </a:solidFill>
              <a:effectLst/>
              <a:uFillTx/>
              <a:latin typeface="Arial" panose="020B0604020202020204"/>
            </a:endParaRPr>
          </a:p>
        </p:txBody>
      </p:sp>
      <p:sp>
        <p:nvSpPr>
          <p:cNvPr id="288" name="Text 28"/>
          <p:cNvSpPr/>
          <p:nvPr/>
        </p:nvSpPr>
        <p:spPr>
          <a:xfrm>
            <a:off x="10746640" y="1512045"/>
            <a:ext cx="840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b">
            <a:noAutofit/>
          </a:bodyPr>
          <a:p>
            <a:pPr defTabSz="914400">
              <a:lnSpc>
                <a:spcPct val="100000"/>
              </a:lnSpc>
              <a:tabLst>
                <a:tab pos="0" algn="l"/>
              </a:tabLst>
            </a:pPr>
            <a:r>
              <a:rPr lang="en-US" sz="1300" b="1" u="none" strike="noStrike">
                <a:solidFill>
                  <a:srgbClr val="0B1E3D"/>
                </a:solidFill>
                <a:effectLst/>
                <a:uFillTx/>
                <a:latin typeface="Calibri" panose="020F0502020204030204"/>
                <a:ea typeface="Calibri" panose="020F0502020204030204"/>
              </a:rPr>
              <a:t>-0.18</a:t>
            </a:r>
            <a:endParaRPr lang="es-ES" sz="1300" b="0" u="none" strike="noStrike">
              <a:solidFill>
                <a:srgbClr val="000000"/>
              </a:solidFill>
              <a:effectLst/>
              <a:uFillTx/>
              <a:latin typeface="Arial" panose="020B0604020202020204"/>
            </a:endParaRPr>
          </a:p>
        </p:txBody>
      </p:sp>
      <p:sp>
        <p:nvSpPr>
          <p:cNvPr id="289" name="Text 29"/>
          <p:cNvSpPr/>
          <p:nvPr/>
        </p:nvSpPr>
        <p:spPr>
          <a:xfrm>
            <a:off x="10746640" y="1759005"/>
            <a:ext cx="840240" cy="1825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750" b="0" u="none" strike="noStrike">
                <a:solidFill>
                  <a:srgbClr val="5B6B85"/>
                </a:solidFill>
                <a:effectLst/>
                <a:uFillTx/>
                <a:latin typeface="Calibri" panose="020F0502020204030204"/>
                <a:ea typeface="Calibri" panose="020F0502020204030204"/>
              </a:rPr>
              <a:t>Asimetría</a:t>
            </a:r>
            <a:endParaRPr lang="es-ES" sz="750" b="0" u="none" strike="noStrike">
              <a:solidFill>
                <a:srgbClr val="000000"/>
              </a:solidFill>
              <a:effectLst/>
              <a:uFillTx/>
              <a:latin typeface="Arial" panose="020B0604020202020204"/>
            </a:endParaRPr>
          </a:p>
        </p:txBody>
      </p:sp>
      <p:sp>
        <p:nvSpPr>
          <p:cNvPr id="290" name="Shape 30"/>
          <p:cNvSpPr/>
          <p:nvPr/>
        </p:nvSpPr>
        <p:spPr>
          <a:xfrm>
            <a:off x="6580360" y="1969245"/>
            <a:ext cx="4786560" cy="2618280"/>
          </a:xfrm>
          <a:prstGeom prst="roundRect">
            <a:avLst>
              <a:gd name="adj" fmla="val 2095"/>
            </a:avLst>
          </a:prstGeom>
          <a:solidFill>
            <a:srgbClr val="FFFFFF"/>
          </a:solidFill>
          <a:ln w="0">
            <a:noFill/>
          </a:ln>
          <a:effectLst>
            <a:outerShdw algn="bl" rotWithShape="0">
              <a:srgbClr val="8798AD">
                <a:alpha val="0"/>
              </a:srgbClr>
            </a:outerShdw>
          </a:effectLst>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pic>
        <p:nvPicPr>
          <p:cNvPr id="291" name="Image 1" descr="/tmp/claude-0/-home-claude/c0a8783c-8817-5425-bc4f-190e5f64548a/scratchpad/work/imgs/img_020.png"/>
          <p:cNvPicPr/>
          <p:nvPr/>
        </p:nvPicPr>
        <p:blipFill>
          <a:blip r:embed="rId2"/>
          <a:stretch>
            <a:fillRect/>
          </a:stretch>
        </p:blipFill>
        <p:spPr>
          <a:xfrm>
            <a:off x="6671800" y="2060685"/>
            <a:ext cx="4603680" cy="2435400"/>
          </a:xfrm>
          <a:prstGeom prst="rect">
            <a:avLst/>
          </a:prstGeom>
          <a:noFill/>
          <a:ln w="0">
            <a:noFill/>
          </a:ln>
        </p:spPr>
      </p:pic>
      <p:sp>
        <p:nvSpPr>
          <p:cNvPr id="292" name="Text 31"/>
          <p:cNvSpPr/>
          <p:nvPr/>
        </p:nvSpPr>
        <p:spPr>
          <a:xfrm>
            <a:off x="6314320" y="4734405"/>
            <a:ext cx="5318280" cy="14317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16000"/>
              </a:lnSpc>
              <a:tabLst>
                <a:tab pos="0" algn="l"/>
              </a:tabLst>
            </a:pPr>
            <a:r>
              <a:rPr lang="en-US" sz="1080" b="0" u="none" strike="noStrike">
                <a:solidFill>
                  <a:srgbClr val="12203D"/>
                </a:solidFill>
                <a:effectLst/>
                <a:uFillTx/>
                <a:latin typeface="Calibri" panose="020F0502020204030204"/>
                <a:ea typeface="Calibri" panose="020F0502020204030204"/>
              </a:rPr>
              <a:t>Centrada en 0,5 por construcción de la competición: cada victoria de un equipo es la derrota de otro. Es un atributo de equipo repetido en todas las filas de sus jugadores.</a:t>
            </a:r>
            <a:endParaRPr lang="es-ES" sz="1080" b="0" u="none" strike="noStrike">
              <a:solidFill>
                <a:srgbClr val="000000"/>
              </a:solidFill>
              <a:effectLst/>
              <a:uFillTx/>
              <a:latin typeface="Arial" panose="020B0604020202020204"/>
            </a:endParaRPr>
          </a:p>
        </p:txBody>
      </p:sp>
      <p:pic>
        <p:nvPicPr>
          <p:cNvPr id="293" name="Image 2" descr="/tmp/claude-0/-home-claude/c0a8783c-8817-5425-bc4f-190e5f64548a/scratchpad/work/icons/basketball_E1590F.png"/>
          <p:cNvPicPr/>
          <p:nvPr/>
        </p:nvPicPr>
        <p:blipFill>
          <a:blip r:embed="rId3"/>
          <a:stretch>
            <a:fillRect/>
          </a:stretch>
        </p:blipFill>
        <p:spPr>
          <a:xfrm>
            <a:off x="548640" y="6546960"/>
            <a:ext cx="145800" cy="145800"/>
          </a:xfrm>
          <a:prstGeom prst="rect">
            <a:avLst/>
          </a:prstGeom>
          <a:noFill/>
          <a:ln w="0">
            <a:noFill/>
          </a:ln>
        </p:spPr>
      </p:pic>
      <p:sp>
        <p:nvSpPr>
          <p:cNvPr id="294" name="Text 32"/>
          <p:cNvSpPr/>
          <p:nvPr/>
        </p:nvSpPr>
        <p:spPr>
          <a:xfrm>
            <a:off x="768240" y="6510600"/>
            <a:ext cx="45716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850" b="0" u="none" strike="noStrike">
                <a:solidFill>
                  <a:srgbClr val="5B6B85"/>
                </a:solidFill>
                <a:effectLst/>
                <a:uFillTx/>
                <a:latin typeface="Calibri" panose="020F0502020204030204"/>
                <a:ea typeface="Calibri" panose="020F0502020204030204"/>
              </a:rPr>
              <a:t>02 · Análisis univariado</a:t>
            </a:r>
            <a:endParaRPr lang="es-ES" sz="850" b="0" u="none" strike="noStrike">
              <a:solidFill>
                <a:srgbClr val="000000"/>
              </a:solidFill>
              <a:effectLst/>
              <a:uFillTx/>
              <a:latin typeface="Arial" panose="020B0604020202020204"/>
            </a:endParaRPr>
          </a:p>
        </p:txBody>
      </p:sp>
      <p:sp>
        <p:nvSpPr>
          <p:cNvPr id="295" name="Text 33"/>
          <p:cNvSpPr/>
          <p:nvPr/>
        </p:nvSpPr>
        <p:spPr>
          <a:xfrm>
            <a:off x="10271520" y="6510600"/>
            <a:ext cx="1371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algn="r" defTabSz="914400">
              <a:lnSpc>
                <a:spcPct val="100000"/>
              </a:lnSpc>
              <a:tabLst>
                <a:tab pos="0" algn="l"/>
              </a:tabLst>
            </a:pPr>
            <a:r>
              <a:rPr lang="en-US" sz="850" b="0" u="none" strike="noStrike">
                <a:solidFill>
                  <a:srgbClr val="5B6B85"/>
                </a:solidFill>
                <a:effectLst/>
                <a:uFillTx/>
                <a:latin typeface="Calibri" panose="020F0502020204030204"/>
                <a:ea typeface="Calibri" panose="020F0502020204030204"/>
              </a:rPr>
              <a:t>10 / 23</a:t>
            </a:r>
            <a:endParaRPr lang="es-ES" sz="850" b="0" u="none" strike="noStrike">
              <a:solidFill>
                <a:srgbClr val="000000"/>
              </a:solidFill>
              <a:effectLst/>
              <a:uFillTx/>
              <a:latin typeface="Arial" panose="020B0604020202020204"/>
            </a:endParaRPr>
          </a:p>
        </p:txBody>
      </p:sp>
      <p:pic>
        <p:nvPicPr>
          <p:cNvPr id="2" name="Imagen 1"/>
          <p:cNvPicPr/>
          <p:nvPr/>
        </p:nvPicPr>
        <p:blipFill>
          <a:blip r:embed="rId4"/>
          <a:stretch>
            <a:fillRect/>
          </a:stretch>
        </p:blipFill>
        <p:spPr>
          <a:xfrm>
            <a:off x="804545" y="5300980"/>
            <a:ext cx="4786630" cy="1167765"/>
          </a:xfrm>
          <a:prstGeom prst="rect">
            <a:avLst/>
          </a:prstGeom>
        </p:spPr>
      </p:pic>
      <p:pic>
        <p:nvPicPr>
          <p:cNvPr id="3" name="Imagen 2"/>
          <p:cNvPicPr/>
          <p:nvPr/>
        </p:nvPicPr>
        <p:blipFill>
          <a:blip r:embed="rId5"/>
          <a:stretch>
            <a:fillRect/>
          </a:stretch>
        </p:blipFill>
        <p:spPr>
          <a:xfrm>
            <a:off x="6580505" y="5300980"/>
            <a:ext cx="4787265" cy="1115695"/>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4F6F9"/>
        </a:solidFill>
        <a:effectLst/>
      </p:bgPr>
    </p:bg>
    <p:spTree>
      <p:nvGrpSpPr>
        <p:cNvPr id="1" name=""/>
        <p:cNvGrpSpPr/>
        <p:nvPr/>
      </p:nvGrpSpPr>
      <p:grpSpPr>
        <a:xfrm>
          <a:off x="0" y="0"/>
          <a:ext cx="0" cy="0"/>
          <a:chOff x="0" y="0"/>
          <a:chExt cx="0" cy="0"/>
        </a:xfrm>
      </p:grpSpPr>
      <p:sp>
        <p:nvSpPr>
          <p:cNvPr id="296" name="Text 0"/>
          <p:cNvSpPr/>
          <p:nvPr/>
        </p:nvSpPr>
        <p:spPr>
          <a:xfrm>
            <a:off x="548640" y="411480"/>
            <a:ext cx="7314840" cy="2923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1150" b="1" u="none" strike="noStrike" spc="201">
                <a:solidFill>
                  <a:srgbClr val="E1590F"/>
                </a:solidFill>
                <a:effectLst/>
                <a:uFillTx/>
                <a:latin typeface="Calibri" panose="020F0502020204030204"/>
                <a:ea typeface="Calibri" panose="020F0502020204030204"/>
              </a:rPr>
              <a:t>03 · ESTANDARIZACIÓN Y CORRELACIÓN</a:t>
            </a:r>
            <a:endParaRPr lang="es-ES" sz="1150" b="0" u="none" strike="noStrike">
              <a:solidFill>
                <a:srgbClr val="000000"/>
              </a:solidFill>
              <a:effectLst/>
              <a:uFillTx/>
              <a:latin typeface="Arial" panose="020B0604020202020204"/>
            </a:endParaRPr>
          </a:p>
        </p:txBody>
      </p:sp>
      <p:sp>
        <p:nvSpPr>
          <p:cNvPr id="297" name="Text 1"/>
          <p:cNvSpPr/>
          <p:nvPr/>
        </p:nvSpPr>
        <p:spPr>
          <a:xfrm>
            <a:off x="548640" y="749880"/>
            <a:ext cx="11094120" cy="59400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2000"/>
              </a:lnSpc>
              <a:tabLst>
                <a:tab pos="0" algn="l"/>
              </a:tabLst>
            </a:pPr>
            <a:r>
              <a:rPr lang="en-US" sz="2900" b="1" u="none" strike="noStrike">
                <a:solidFill>
                  <a:srgbClr val="0B1E3D"/>
                </a:solidFill>
                <a:effectLst/>
                <a:uFillTx/>
                <a:latin typeface="Calibri" panose="020F0502020204030204"/>
                <a:ea typeface="Calibri" panose="020F0502020204030204"/>
              </a:rPr>
              <a:t>Matriz de correlación — 10 variables clave</a:t>
            </a:r>
            <a:endParaRPr lang="es-ES" sz="2900" b="0" u="none" strike="noStrike">
              <a:solidFill>
                <a:srgbClr val="000000"/>
              </a:solidFill>
              <a:effectLst/>
              <a:uFillTx/>
              <a:latin typeface="Arial" panose="020B0604020202020204"/>
            </a:endParaRPr>
          </a:p>
        </p:txBody>
      </p:sp>
      <p:sp>
        <p:nvSpPr>
          <p:cNvPr id="298" name="Text 2"/>
          <p:cNvSpPr/>
          <p:nvPr/>
        </p:nvSpPr>
        <p:spPr>
          <a:xfrm>
            <a:off x="548640" y="1353240"/>
            <a:ext cx="11094120" cy="4568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15000"/>
              </a:lnSpc>
              <a:tabLst>
                <a:tab pos="0" algn="l"/>
              </a:tabLst>
            </a:pPr>
            <a:r>
              <a:rPr lang="en-US" sz="1350" b="0" u="none" strike="noStrike">
                <a:solidFill>
                  <a:srgbClr val="5B6B85"/>
                </a:solidFill>
                <a:effectLst/>
                <a:uFillTx/>
                <a:latin typeface="Calibri" panose="020F0502020204030204"/>
                <a:ea typeface="Calibri" panose="020F0502020204030204"/>
              </a:rPr>
              <a:t>Coeficientes de Pearson sobre datos estandarizados (pairwise.complete.obs). Ninguna pareja supera |r| = 0.78: el panel no contiene variables redundantes.</a:t>
            </a:r>
            <a:endParaRPr lang="es-ES" sz="1350" b="0" u="none" strike="noStrike">
              <a:solidFill>
                <a:srgbClr val="000000"/>
              </a:solidFill>
              <a:effectLst/>
              <a:uFillTx/>
              <a:latin typeface="Arial" panose="020B0604020202020204"/>
            </a:endParaRPr>
          </a:p>
        </p:txBody>
      </p:sp>
      <p:sp>
        <p:nvSpPr>
          <p:cNvPr id="299" name="Shape 3"/>
          <p:cNvSpPr/>
          <p:nvPr/>
        </p:nvSpPr>
        <p:spPr>
          <a:xfrm>
            <a:off x="548640" y="1920240"/>
            <a:ext cx="5495400" cy="4708800"/>
          </a:xfrm>
          <a:prstGeom prst="roundRect">
            <a:avLst>
              <a:gd name="adj" fmla="val 1165"/>
            </a:avLst>
          </a:prstGeom>
          <a:solidFill>
            <a:srgbClr val="FFFFFF"/>
          </a:solidFill>
          <a:ln w="0">
            <a:noFill/>
          </a:ln>
          <a:effectLst>
            <a:outerShdw algn="bl" rotWithShape="0">
              <a:srgbClr val="8798AD">
                <a:alpha val="0"/>
              </a:srgbClr>
            </a:outerShdw>
          </a:effectLst>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pic>
        <p:nvPicPr>
          <p:cNvPr id="300" name="Image 0" descr="/tmp/claude-0/-home-claude/c0a8783c-8817-5425-bc4f-190e5f64548a/scratchpad/work/imgs/img_065.png"/>
          <p:cNvPicPr/>
          <p:nvPr/>
        </p:nvPicPr>
        <p:blipFill>
          <a:blip r:embed="rId1"/>
          <a:stretch>
            <a:fillRect/>
          </a:stretch>
        </p:blipFill>
        <p:spPr>
          <a:xfrm>
            <a:off x="676800" y="2048400"/>
            <a:ext cx="5239080" cy="4452840"/>
          </a:xfrm>
          <a:prstGeom prst="rect">
            <a:avLst/>
          </a:prstGeom>
          <a:noFill/>
          <a:ln w="0">
            <a:noFill/>
          </a:ln>
        </p:spPr>
      </p:pic>
      <p:sp>
        <p:nvSpPr>
          <p:cNvPr id="301" name="Shape 4"/>
          <p:cNvSpPr/>
          <p:nvPr/>
        </p:nvSpPr>
        <p:spPr>
          <a:xfrm>
            <a:off x="6501600" y="1920240"/>
            <a:ext cx="5141160" cy="1206720"/>
          </a:xfrm>
          <a:prstGeom prst="roundRect">
            <a:avLst>
              <a:gd name="adj" fmla="val 5303"/>
            </a:avLst>
          </a:prstGeom>
          <a:solidFill>
            <a:srgbClr val="FFFFFF"/>
          </a:solidFill>
          <a:ln w="0">
            <a:noFill/>
          </a:ln>
          <a:effectLst>
            <a:outerShdw algn="bl" rotWithShape="0">
              <a:srgbClr val="8798AD">
                <a:alpha val="0"/>
              </a:srgbClr>
            </a:outerShdw>
          </a:effectLst>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sp>
        <p:nvSpPr>
          <p:cNvPr id="302" name="Text 5"/>
          <p:cNvSpPr/>
          <p:nvPr/>
        </p:nvSpPr>
        <p:spPr>
          <a:xfrm>
            <a:off x="6702480" y="2048400"/>
            <a:ext cx="4739040" cy="27396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150" b="1" u="none" strike="noStrike">
                <a:solidFill>
                  <a:srgbClr val="E1590F"/>
                </a:solidFill>
                <a:effectLst/>
                <a:uFillTx/>
                <a:latin typeface="Calibri" panose="020F0502020204030204"/>
                <a:ea typeface="Calibri" panose="020F0502020204030204"/>
              </a:rPr>
              <a:t>Correlación más fuerte</a:t>
            </a:r>
            <a:endParaRPr lang="es-ES" sz="1150" b="0" u="none" strike="noStrike">
              <a:solidFill>
                <a:srgbClr val="000000"/>
              </a:solidFill>
              <a:effectLst/>
              <a:uFillTx/>
              <a:latin typeface="Arial" panose="020B0604020202020204"/>
            </a:endParaRPr>
          </a:p>
        </p:txBody>
      </p:sp>
      <p:sp>
        <p:nvSpPr>
          <p:cNvPr id="303" name="Text 6"/>
          <p:cNvSpPr/>
          <p:nvPr/>
        </p:nvSpPr>
        <p:spPr>
          <a:xfrm>
            <a:off x="6702480" y="2331720"/>
            <a:ext cx="4739040" cy="36540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5000"/>
              </a:lnSpc>
              <a:tabLst>
                <a:tab pos="0" algn="l"/>
              </a:tabLst>
            </a:pPr>
            <a:r>
              <a:rPr lang="en-US" sz="1100" b="0" u="none" strike="noStrike">
                <a:solidFill>
                  <a:srgbClr val="12203D"/>
                </a:solidFill>
                <a:effectLst/>
                <a:uFillTx/>
                <a:latin typeface="Calibri" panose="020F0502020204030204"/>
                <a:ea typeface="Calibri" panose="020F0502020204030204"/>
              </a:rPr>
              <a:t>puntos_pp ↔ valor_sobre_reemplazo</a:t>
            </a:r>
            <a:endParaRPr lang="es-ES" sz="1100" b="0" u="none" strike="noStrike">
              <a:solidFill>
                <a:srgbClr val="000000"/>
              </a:solidFill>
              <a:effectLst/>
              <a:uFillTx/>
              <a:latin typeface="Arial" panose="020B0604020202020204"/>
            </a:endParaRPr>
          </a:p>
        </p:txBody>
      </p:sp>
      <p:sp>
        <p:nvSpPr>
          <p:cNvPr id="304" name="Text 7"/>
          <p:cNvSpPr/>
          <p:nvPr/>
        </p:nvSpPr>
        <p:spPr>
          <a:xfrm>
            <a:off x="6702480" y="2670120"/>
            <a:ext cx="4739040" cy="36540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2000" b="1" u="none" strike="noStrike">
                <a:solidFill>
                  <a:srgbClr val="0B1E3D"/>
                </a:solidFill>
                <a:effectLst/>
                <a:uFillTx/>
                <a:latin typeface="Calibri" panose="020F0502020204030204"/>
                <a:ea typeface="Calibri" panose="020F0502020204030204"/>
              </a:rPr>
              <a:t>r = 0.74</a:t>
            </a:r>
            <a:endParaRPr lang="es-ES" sz="2000" b="0" u="none" strike="noStrike">
              <a:solidFill>
                <a:srgbClr val="000000"/>
              </a:solidFill>
              <a:effectLst/>
              <a:uFillTx/>
              <a:latin typeface="Arial" panose="020B0604020202020204"/>
            </a:endParaRPr>
          </a:p>
        </p:txBody>
      </p:sp>
      <p:sp>
        <p:nvSpPr>
          <p:cNvPr id="305" name="Shape 8"/>
          <p:cNvSpPr/>
          <p:nvPr/>
        </p:nvSpPr>
        <p:spPr>
          <a:xfrm>
            <a:off x="6501600" y="3337560"/>
            <a:ext cx="5141160" cy="1206720"/>
          </a:xfrm>
          <a:prstGeom prst="roundRect">
            <a:avLst>
              <a:gd name="adj" fmla="val 5303"/>
            </a:avLst>
          </a:prstGeom>
          <a:solidFill>
            <a:srgbClr val="FFFFFF"/>
          </a:solidFill>
          <a:ln w="0">
            <a:noFill/>
          </a:ln>
          <a:effectLst>
            <a:outerShdw algn="bl" rotWithShape="0">
              <a:srgbClr val="8798AD">
                <a:alpha val="0"/>
              </a:srgbClr>
            </a:outerShdw>
          </a:effectLst>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sp>
        <p:nvSpPr>
          <p:cNvPr id="306" name="Text 9"/>
          <p:cNvSpPr/>
          <p:nvPr/>
        </p:nvSpPr>
        <p:spPr>
          <a:xfrm>
            <a:off x="6702480" y="3465720"/>
            <a:ext cx="4739040" cy="27396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150" b="1" u="none" strike="noStrike">
                <a:solidFill>
                  <a:srgbClr val="E1590F"/>
                </a:solidFill>
                <a:effectLst/>
                <a:uFillTx/>
                <a:latin typeface="Calibri" panose="020F0502020204030204"/>
                <a:ea typeface="Calibri" panose="020F0502020204030204"/>
              </a:rPr>
              <a:t>Contexto de equipo</a:t>
            </a:r>
            <a:endParaRPr lang="es-ES" sz="1150" b="0" u="none" strike="noStrike">
              <a:solidFill>
                <a:srgbClr val="000000"/>
              </a:solidFill>
              <a:effectLst/>
              <a:uFillTx/>
              <a:latin typeface="Arial" panose="020B0604020202020204"/>
            </a:endParaRPr>
          </a:p>
        </p:txBody>
      </p:sp>
      <p:sp>
        <p:nvSpPr>
          <p:cNvPr id="307" name="Text 10"/>
          <p:cNvSpPr/>
          <p:nvPr/>
        </p:nvSpPr>
        <p:spPr>
          <a:xfrm>
            <a:off x="6702480" y="3749040"/>
            <a:ext cx="4739040" cy="36540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5000"/>
              </a:lnSpc>
              <a:tabLst>
                <a:tab pos="0" algn="l"/>
              </a:tabLst>
            </a:pPr>
            <a:r>
              <a:rPr lang="en-US" sz="1100" b="0" u="none" strike="noStrike">
                <a:solidFill>
                  <a:srgbClr val="12203D"/>
                </a:solidFill>
                <a:effectLst/>
                <a:uFillTx/>
                <a:latin typeface="Calibri" panose="020F0502020204030204"/>
                <a:ea typeface="Calibri" panose="020F0502020204030204"/>
              </a:rPr>
              <a:t>masmenos_defensivo ↔ porc_victorias_equipo</a:t>
            </a:r>
            <a:endParaRPr lang="es-ES" sz="1100" b="0" u="none" strike="noStrike">
              <a:solidFill>
                <a:srgbClr val="000000"/>
              </a:solidFill>
              <a:effectLst/>
              <a:uFillTx/>
              <a:latin typeface="Arial" panose="020B0604020202020204"/>
            </a:endParaRPr>
          </a:p>
        </p:txBody>
      </p:sp>
      <p:sp>
        <p:nvSpPr>
          <p:cNvPr id="308" name="Text 11"/>
          <p:cNvSpPr/>
          <p:nvPr/>
        </p:nvSpPr>
        <p:spPr>
          <a:xfrm>
            <a:off x="6702480" y="4087440"/>
            <a:ext cx="4739040" cy="36540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2000" b="1" u="none" strike="noStrike">
                <a:solidFill>
                  <a:srgbClr val="0B1E3D"/>
                </a:solidFill>
                <a:effectLst/>
                <a:uFillTx/>
                <a:latin typeface="Calibri" panose="020F0502020204030204"/>
                <a:ea typeface="Calibri" panose="020F0502020204030204"/>
              </a:rPr>
              <a:t>r = 0.34</a:t>
            </a:r>
            <a:endParaRPr lang="es-ES" sz="2000" b="0" u="none" strike="noStrike">
              <a:solidFill>
                <a:srgbClr val="000000"/>
              </a:solidFill>
              <a:effectLst/>
              <a:uFillTx/>
              <a:latin typeface="Arial" panose="020B0604020202020204"/>
            </a:endParaRPr>
          </a:p>
        </p:txBody>
      </p:sp>
      <p:sp>
        <p:nvSpPr>
          <p:cNvPr id="309" name="Shape 12"/>
          <p:cNvSpPr/>
          <p:nvPr/>
        </p:nvSpPr>
        <p:spPr>
          <a:xfrm>
            <a:off x="6501600" y="4754880"/>
            <a:ext cx="5141160" cy="1206720"/>
          </a:xfrm>
          <a:prstGeom prst="roundRect">
            <a:avLst>
              <a:gd name="adj" fmla="val 5303"/>
            </a:avLst>
          </a:prstGeom>
          <a:solidFill>
            <a:srgbClr val="FFFFFF"/>
          </a:solidFill>
          <a:ln w="0">
            <a:noFill/>
          </a:ln>
          <a:effectLst>
            <a:outerShdw algn="bl" rotWithShape="0">
              <a:srgbClr val="8798AD">
                <a:alpha val="0"/>
              </a:srgbClr>
            </a:outerShdw>
          </a:effectLst>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sp>
        <p:nvSpPr>
          <p:cNvPr id="310" name="Text 13"/>
          <p:cNvSpPr/>
          <p:nvPr/>
        </p:nvSpPr>
        <p:spPr>
          <a:xfrm>
            <a:off x="6702480" y="4883040"/>
            <a:ext cx="4739040" cy="27396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150" b="1" u="none" strike="noStrike">
                <a:solidFill>
                  <a:srgbClr val="E1590F"/>
                </a:solidFill>
                <a:effectLst/>
                <a:uFillTx/>
                <a:latin typeface="Calibri" panose="020F0502020204030204"/>
                <a:ea typeface="Calibri" panose="020F0502020204030204"/>
              </a:rPr>
              <a:t>Independencia</a:t>
            </a:r>
            <a:endParaRPr lang="es-ES" sz="1150" b="0" u="none" strike="noStrike">
              <a:solidFill>
                <a:srgbClr val="000000"/>
              </a:solidFill>
              <a:effectLst/>
              <a:uFillTx/>
              <a:latin typeface="Arial" panose="020B0604020202020204"/>
            </a:endParaRPr>
          </a:p>
        </p:txBody>
      </p:sp>
      <p:sp>
        <p:nvSpPr>
          <p:cNvPr id="311" name="Text 14"/>
          <p:cNvSpPr/>
          <p:nvPr/>
        </p:nvSpPr>
        <p:spPr>
          <a:xfrm>
            <a:off x="6702480" y="5166360"/>
            <a:ext cx="4739040" cy="36540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5000"/>
              </a:lnSpc>
              <a:tabLst>
                <a:tab pos="0" algn="l"/>
              </a:tabLst>
            </a:pPr>
            <a:r>
              <a:rPr lang="en-US" sz="1100" b="0" u="none" strike="noStrike">
                <a:solidFill>
                  <a:srgbClr val="12203D"/>
                </a:solidFill>
                <a:effectLst/>
                <a:uFillTx/>
                <a:latin typeface="Calibri" panose="020F0502020204030204"/>
                <a:ea typeface="Calibri" panose="020F0502020204030204"/>
              </a:rPr>
              <a:t>mediana |r| entre las 10 variables</a:t>
            </a:r>
            <a:endParaRPr lang="es-ES" sz="1100" b="0" u="none" strike="noStrike">
              <a:solidFill>
                <a:srgbClr val="000000"/>
              </a:solidFill>
              <a:effectLst/>
              <a:uFillTx/>
              <a:latin typeface="Arial" panose="020B0604020202020204"/>
            </a:endParaRPr>
          </a:p>
        </p:txBody>
      </p:sp>
      <p:sp>
        <p:nvSpPr>
          <p:cNvPr id="312" name="Text 15"/>
          <p:cNvSpPr/>
          <p:nvPr/>
        </p:nvSpPr>
        <p:spPr>
          <a:xfrm>
            <a:off x="6702480" y="5504760"/>
            <a:ext cx="4739040" cy="36540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2000" b="1" u="none" strike="noStrike">
                <a:solidFill>
                  <a:srgbClr val="0B1E3D"/>
                </a:solidFill>
                <a:effectLst/>
                <a:uFillTx/>
                <a:latin typeface="Calibri" panose="020F0502020204030204"/>
                <a:ea typeface="Calibri" panose="020F0502020204030204"/>
              </a:rPr>
              <a:t>0.174</a:t>
            </a:r>
            <a:endParaRPr lang="es-ES" sz="2000" b="0" u="none" strike="noStrike">
              <a:solidFill>
                <a:srgbClr val="000000"/>
              </a:solidFill>
              <a:effectLst/>
              <a:uFillTx/>
              <a:latin typeface="Arial" panose="020B0604020202020204"/>
            </a:endParaRPr>
          </a:p>
        </p:txBody>
      </p:sp>
      <p:pic>
        <p:nvPicPr>
          <p:cNvPr id="313" name="Image 1" descr="/tmp/claude-0/-home-claude/c0a8783c-8817-5425-bc4f-190e5f64548a/scratchpad/work/icons/basketball_E1590F.png"/>
          <p:cNvPicPr/>
          <p:nvPr/>
        </p:nvPicPr>
        <p:blipFill>
          <a:blip r:embed="rId2"/>
          <a:stretch>
            <a:fillRect/>
          </a:stretch>
        </p:blipFill>
        <p:spPr>
          <a:xfrm>
            <a:off x="548640" y="6546960"/>
            <a:ext cx="145800" cy="145800"/>
          </a:xfrm>
          <a:prstGeom prst="rect">
            <a:avLst/>
          </a:prstGeom>
          <a:noFill/>
          <a:ln w="0">
            <a:noFill/>
          </a:ln>
        </p:spPr>
      </p:pic>
      <p:sp>
        <p:nvSpPr>
          <p:cNvPr id="314" name="Text 16"/>
          <p:cNvSpPr/>
          <p:nvPr/>
        </p:nvSpPr>
        <p:spPr>
          <a:xfrm>
            <a:off x="768240" y="6510600"/>
            <a:ext cx="45716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850" b="0" u="none" strike="noStrike">
                <a:solidFill>
                  <a:srgbClr val="5B6B85"/>
                </a:solidFill>
                <a:effectLst/>
                <a:uFillTx/>
                <a:latin typeface="Calibri" panose="020F0502020204030204"/>
                <a:ea typeface="Calibri" panose="020F0502020204030204"/>
              </a:rPr>
              <a:t>03 · Correlación</a:t>
            </a:r>
            <a:endParaRPr lang="es-ES" sz="850" b="0" u="none" strike="noStrike">
              <a:solidFill>
                <a:srgbClr val="000000"/>
              </a:solidFill>
              <a:effectLst/>
              <a:uFillTx/>
              <a:latin typeface="Arial" panose="020B0604020202020204"/>
            </a:endParaRPr>
          </a:p>
        </p:txBody>
      </p:sp>
      <p:sp>
        <p:nvSpPr>
          <p:cNvPr id="315" name="Text 17"/>
          <p:cNvSpPr/>
          <p:nvPr/>
        </p:nvSpPr>
        <p:spPr>
          <a:xfrm>
            <a:off x="10271520" y="6510600"/>
            <a:ext cx="1371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algn="r" defTabSz="914400">
              <a:lnSpc>
                <a:spcPct val="100000"/>
              </a:lnSpc>
              <a:tabLst>
                <a:tab pos="0" algn="l"/>
              </a:tabLst>
            </a:pPr>
            <a:r>
              <a:rPr lang="en-US" sz="850" b="0" u="none" strike="noStrike">
                <a:solidFill>
                  <a:srgbClr val="5B6B85"/>
                </a:solidFill>
                <a:effectLst/>
                <a:uFillTx/>
                <a:latin typeface="Calibri" panose="020F0502020204030204"/>
                <a:ea typeface="Calibri" panose="020F0502020204030204"/>
              </a:rPr>
              <a:t>11 / 23</a:t>
            </a:r>
            <a:endParaRPr lang="es-ES" sz="850" b="0" u="none" strike="noStrike">
              <a:solidFill>
                <a:srgbClr val="000000"/>
              </a:solidFill>
              <a:effectLst/>
              <a:uFillTx/>
              <a:latin typeface="Arial" panose="020B0604020202020204"/>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4F6F9"/>
        </a:solidFill>
        <a:effectLst/>
      </p:bgPr>
    </p:bg>
    <p:spTree>
      <p:nvGrpSpPr>
        <p:cNvPr id="1" name=""/>
        <p:cNvGrpSpPr/>
        <p:nvPr/>
      </p:nvGrpSpPr>
      <p:grpSpPr>
        <a:xfrm>
          <a:off x="0" y="0"/>
          <a:ext cx="0" cy="0"/>
          <a:chOff x="0" y="0"/>
          <a:chExt cx="0" cy="0"/>
        </a:xfrm>
      </p:grpSpPr>
      <p:sp>
        <p:nvSpPr>
          <p:cNvPr id="316" name="Text 0"/>
          <p:cNvSpPr/>
          <p:nvPr/>
        </p:nvSpPr>
        <p:spPr>
          <a:xfrm>
            <a:off x="548640" y="411480"/>
            <a:ext cx="7314840" cy="2923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1150" b="1" u="none" strike="noStrike" spc="201">
                <a:solidFill>
                  <a:srgbClr val="E1590F"/>
                </a:solidFill>
                <a:effectLst/>
                <a:uFillTx/>
                <a:latin typeface="Calibri" panose="020F0502020204030204"/>
                <a:ea typeface="Calibri" panose="020F0502020204030204"/>
              </a:rPr>
              <a:t>04 · ANÁLISIS BIVARIADO</a:t>
            </a:r>
            <a:endParaRPr lang="es-ES" sz="1150" b="0" u="none" strike="noStrike">
              <a:solidFill>
                <a:srgbClr val="000000"/>
              </a:solidFill>
              <a:effectLst/>
              <a:uFillTx/>
              <a:latin typeface="Arial" panose="020B0604020202020204"/>
            </a:endParaRPr>
          </a:p>
        </p:txBody>
      </p:sp>
      <p:sp>
        <p:nvSpPr>
          <p:cNvPr id="317" name="Text 1"/>
          <p:cNvSpPr/>
          <p:nvPr/>
        </p:nvSpPr>
        <p:spPr>
          <a:xfrm>
            <a:off x="548640" y="749880"/>
            <a:ext cx="11094120" cy="59400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2000"/>
              </a:lnSpc>
              <a:tabLst>
                <a:tab pos="0" algn="l"/>
              </a:tabLst>
            </a:pPr>
            <a:r>
              <a:rPr lang="en-US" sz="2900" b="1" u="none" strike="noStrike">
                <a:solidFill>
                  <a:srgbClr val="0B1E3D"/>
                </a:solidFill>
                <a:effectLst/>
                <a:uFillTx/>
                <a:latin typeface="Calibri" panose="020F0502020204030204"/>
                <a:ea typeface="Calibri" panose="020F0502020204030204"/>
              </a:rPr>
              <a:t>Las relaciones escogidas, y por qué</a:t>
            </a:r>
            <a:endParaRPr lang="es-ES" sz="2900" b="0" u="none" strike="noStrike">
              <a:solidFill>
                <a:srgbClr val="000000"/>
              </a:solidFill>
              <a:effectLst/>
              <a:uFillTx/>
              <a:latin typeface="Arial" panose="020B0604020202020204"/>
            </a:endParaRPr>
          </a:p>
        </p:txBody>
      </p:sp>
      <p:sp>
        <p:nvSpPr>
          <p:cNvPr id="318" name="Text 2"/>
          <p:cNvSpPr/>
          <p:nvPr/>
        </p:nvSpPr>
        <p:spPr>
          <a:xfrm>
            <a:off x="548640" y="1353240"/>
            <a:ext cx="11094120" cy="50256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15000"/>
              </a:lnSpc>
              <a:tabLst>
                <a:tab pos="0" algn="l"/>
              </a:tabLst>
            </a:pPr>
            <a:r>
              <a:rPr lang="en-US" sz="1350" b="0" u="none" strike="noStrike">
                <a:solidFill>
                  <a:srgbClr val="5B6B85"/>
                </a:solidFill>
                <a:effectLst/>
                <a:uFillTx/>
                <a:latin typeface="Calibri" panose="020F0502020204030204"/>
                <a:ea typeface="Calibri" panose="020F0502020204030204"/>
              </a:rPr>
              <a:t>La matriz de correlación responde "¿cuánto se mueven juntas dos variables, en promedio, de forma lineal?". El bivariado cambia la pregunta: ¿es una recta o una curva? ¿es la misma para todos o cambia según la posición?</a:t>
            </a:r>
            <a:endParaRPr lang="es-ES" sz="1350" b="0" u="none" strike="noStrike">
              <a:solidFill>
                <a:srgbClr val="000000"/>
              </a:solidFill>
              <a:effectLst/>
              <a:uFillTx/>
              <a:latin typeface="Arial" panose="020B0604020202020204"/>
            </a:endParaRPr>
          </a:p>
        </p:txBody>
      </p:sp>
      <p:sp>
        <p:nvSpPr>
          <p:cNvPr id="319" name="Text 3"/>
          <p:cNvSpPr/>
          <p:nvPr/>
        </p:nvSpPr>
        <p:spPr>
          <a:xfrm>
            <a:off x="548640" y="2148840"/>
            <a:ext cx="456840" cy="77688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2000" b="1" u="none" strike="noStrike">
                <a:solidFill>
                  <a:srgbClr val="FF7A29"/>
                </a:solidFill>
                <a:effectLst/>
                <a:uFillTx/>
                <a:latin typeface="Calibri" panose="020F0502020204030204"/>
                <a:ea typeface="Calibri" panose="020F0502020204030204"/>
              </a:rPr>
              <a:t>01</a:t>
            </a:r>
            <a:endParaRPr lang="es-ES" sz="2000" b="0" u="none" strike="noStrike">
              <a:solidFill>
                <a:srgbClr val="000000"/>
              </a:solidFill>
              <a:effectLst/>
              <a:uFillTx/>
              <a:latin typeface="Arial" panose="020B0604020202020204"/>
            </a:endParaRPr>
          </a:p>
        </p:txBody>
      </p:sp>
      <p:sp>
        <p:nvSpPr>
          <p:cNvPr id="320" name="Text 4"/>
          <p:cNvSpPr/>
          <p:nvPr/>
        </p:nvSpPr>
        <p:spPr>
          <a:xfrm>
            <a:off x="1051560" y="2148840"/>
            <a:ext cx="4815360" cy="31068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350" b="1" u="none" strike="noStrike">
                <a:solidFill>
                  <a:srgbClr val="0B1E3D"/>
                </a:solidFill>
                <a:effectLst/>
                <a:uFillTx/>
                <a:latin typeface="Calibri" panose="020F0502020204030204"/>
                <a:ea typeface="Calibri" panose="020F0502020204030204"/>
              </a:rPr>
              <a:t>Uso ofensivo vs. eficiencia de tiro</a:t>
            </a:r>
            <a:endParaRPr lang="es-ES" sz="1350" b="0" u="none" strike="noStrike">
              <a:solidFill>
                <a:srgbClr val="000000"/>
              </a:solidFill>
              <a:effectLst/>
              <a:uFillTx/>
              <a:latin typeface="Arial" panose="020B0604020202020204"/>
            </a:endParaRPr>
          </a:p>
        </p:txBody>
      </p:sp>
      <p:sp>
        <p:nvSpPr>
          <p:cNvPr id="321" name="Text 5"/>
          <p:cNvSpPr/>
          <p:nvPr/>
        </p:nvSpPr>
        <p:spPr>
          <a:xfrm>
            <a:off x="1051560" y="2450520"/>
            <a:ext cx="4815360" cy="4111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10000"/>
              </a:lnSpc>
              <a:tabLst>
                <a:tab pos="0" algn="l"/>
              </a:tabLst>
            </a:pPr>
            <a:r>
              <a:rPr lang="en-US" sz="1080" b="0" i="1" u="none" strike="noStrike">
                <a:solidFill>
                  <a:srgbClr val="5B6B85"/>
                </a:solidFill>
                <a:effectLst/>
                <a:uFillTx/>
                <a:latin typeface="Calibri" panose="020F0502020204030204"/>
                <a:ea typeface="Calibri" panose="020F0502020204030204"/>
              </a:rPr>
              <a:t>¿Tomar más volumen de tiro cuesta eficiencia?   </a:t>
            </a:r>
            <a:r>
              <a:rPr lang="en-US" sz="1080" b="1" u="none" strike="noStrike">
                <a:solidFill>
                  <a:srgbClr val="E1590F"/>
                </a:solidFill>
                <a:effectLst/>
                <a:uFillTx/>
                <a:latin typeface="Calibri" panose="020F0502020204030204"/>
                <a:ea typeface="Calibri" panose="020F0502020204030204"/>
              </a:rPr>
              <a:t>r = 0.11</a:t>
            </a:r>
            <a:endParaRPr lang="es-ES" sz="1080" b="0" u="none" strike="noStrike">
              <a:solidFill>
                <a:srgbClr val="000000"/>
              </a:solidFill>
              <a:effectLst/>
              <a:uFillTx/>
              <a:latin typeface="Arial" panose="020B0604020202020204"/>
            </a:endParaRPr>
          </a:p>
        </p:txBody>
      </p:sp>
      <p:sp>
        <p:nvSpPr>
          <p:cNvPr id="322" name="Text 6"/>
          <p:cNvSpPr/>
          <p:nvPr/>
        </p:nvSpPr>
        <p:spPr>
          <a:xfrm>
            <a:off x="548640" y="3081600"/>
            <a:ext cx="456840" cy="77688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2000" b="1" u="none" strike="noStrike">
                <a:solidFill>
                  <a:srgbClr val="FF7A29"/>
                </a:solidFill>
                <a:effectLst/>
                <a:uFillTx/>
                <a:latin typeface="Calibri" panose="020F0502020204030204"/>
                <a:ea typeface="Calibri" panose="020F0502020204030204"/>
              </a:rPr>
              <a:t>02</a:t>
            </a:r>
            <a:endParaRPr lang="es-ES" sz="2000" b="0" u="none" strike="noStrike">
              <a:solidFill>
                <a:srgbClr val="000000"/>
              </a:solidFill>
              <a:effectLst/>
              <a:uFillTx/>
              <a:latin typeface="Arial" panose="020B0604020202020204"/>
            </a:endParaRPr>
          </a:p>
        </p:txBody>
      </p:sp>
      <p:sp>
        <p:nvSpPr>
          <p:cNvPr id="323" name="Text 7"/>
          <p:cNvSpPr/>
          <p:nvPr/>
        </p:nvSpPr>
        <p:spPr>
          <a:xfrm>
            <a:off x="1051560" y="3081600"/>
            <a:ext cx="4815360" cy="31068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350" b="1" u="none" strike="noStrike">
                <a:solidFill>
                  <a:srgbClr val="0B1E3D"/>
                </a:solidFill>
                <a:effectLst/>
                <a:uFillTx/>
                <a:latin typeface="Calibri" panose="020F0502020204030204"/>
                <a:ea typeface="Calibri" panose="020F0502020204030204"/>
              </a:rPr>
              <a:t>Rendimiento vs. edad</a:t>
            </a:r>
            <a:endParaRPr lang="es-ES" sz="1350" b="0" u="none" strike="noStrike">
              <a:solidFill>
                <a:srgbClr val="000000"/>
              </a:solidFill>
              <a:effectLst/>
              <a:uFillTx/>
              <a:latin typeface="Arial" panose="020B0604020202020204"/>
            </a:endParaRPr>
          </a:p>
        </p:txBody>
      </p:sp>
      <p:sp>
        <p:nvSpPr>
          <p:cNvPr id="324" name="Text 8"/>
          <p:cNvSpPr/>
          <p:nvPr/>
        </p:nvSpPr>
        <p:spPr>
          <a:xfrm>
            <a:off x="1051560" y="3383280"/>
            <a:ext cx="4815360" cy="4111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10000"/>
              </a:lnSpc>
              <a:tabLst>
                <a:tab pos="0" algn="l"/>
              </a:tabLst>
            </a:pPr>
            <a:r>
              <a:rPr lang="en-US" sz="1080" b="0" i="1" u="none" strike="noStrike">
                <a:solidFill>
                  <a:srgbClr val="5B6B85"/>
                </a:solidFill>
                <a:effectLst/>
                <a:uFillTx/>
                <a:latin typeface="Calibri" panose="020F0502020204030204"/>
                <a:ea typeface="Calibri" panose="020F0502020204030204"/>
              </a:rPr>
              <a:t>¿Es una recta o una curva?   </a:t>
            </a:r>
            <a:r>
              <a:rPr lang="en-US" sz="1080" b="1" u="none" strike="noStrike">
                <a:solidFill>
                  <a:srgbClr val="E1590F"/>
                </a:solidFill>
                <a:effectLst/>
                <a:uFillTx/>
                <a:latin typeface="Calibri" panose="020F0502020204030204"/>
                <a:ea typeface="Calibri" panose="020F0502020204030204"/>
              </a:rPr>
              <a:t>r ≈ 0</a:t>
            </a:r>
            <a:endParaRPr lang="es-ES" sz="1080" b="0" u="none" strike="noStrike">
              <a:solidFill>
                <a:srgbClr val="000000"/>
              </a:solidFill>
              <a:effectLst/>
              <a:uFillTx/>
              <a:latin typeface="Arial" panose="020B0604020202020204"/>
            </a:endParaRPr>
          </a:p>
        </p:txBody>
      </p:sp>
      <p:sp>
        <p:nvSpPr>
          <p:cNvPr id="325" name="Text 9"/>
          <p:cNvSpPr/>
          <p:nvPr/>
        </p:nvSpPr>
        <p:spPr>
          <a:xfrm>
            <a:off x="548640" y="4014360"/>
            <a:ext cx="456840" cy="77688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2000" b="1" u="none" strike="noStrike">
                <a:solidFill>
                  <a:srgbClr val="FF7A29"/>
                </a:solidFill>
                <a:effectLst/>
                <a:uFillTx/>
                <a:latin typeface="Calibri" panose="020F0502020204030204"/>
                <a:ea typeface="Calibri" panose="020F0502020204030204"/>
              </a:rPr>
              <a:t>03</a:t>
            </a:r>
            <a:endParaRPr lang="es-ES" sz="2000" b="0" u="none" strike="noStrike">
              <a:solidFill>
                <a:srgbClr val="000000"/>
              </a:solidFill>
              <a:effectLst/>
              <a:uFillTx/>
              <a:latin typeface="Arial" panose="020B0604020202020204"/>
            </a:endParaRPr>
          </a:p>
        </p:txBody>
      </p:sp>
      <p:sp>
        <p:nvSpPr>
          <p:cNvPr id="326" name="Text 10"/>
          <p:cNvSpPr/>
          <p:nvPr/>
        </p:nvSpPr>
        <p:spPr>
          <a:xfrm>
            <a:off x="1051560" y="4014360"/>
            <a:ext cx="4815360" cy="31068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350" b="1" u="none" strike="noStrike">
                <a:solidFill>
                  <a:srgbClr val="0B1E3D"/>
                </a:solidFill>
                <a:effectLst/>
                <a:uFillTx/>
                <a:latin typeface="Calibri" panose="020F0502020204030204"/>
                <a:ea typeface="Calibri" panose="020F0502020204030204"/>
              </a:rPr>
              <a:t>% de intentos de triple vs. temporada</a:t>
            </a:r>
            <a:endParaRPr lang="es-ES" sz="1350" b="0" u="none" strike="noStrike">
              <a:solidFill>
                <a:srgbClr val="000000"/>
              </a:solidFill>
              <a:effectLst/>
              <a:uFillTx/>
              <a:latin typeface="Arial" panose="020B0604020202020204"/>
            </a:endParaRPr>
          </a:p>
        </p:txBody>
      </p:sp>
      <p:sp>
        <p:nvSpPr>
          <p:cNvPr id="327" name="Text 11"/>
          <p:cNvSpPr/>
          <p:nvPr/>
        </p:nvSpPr>
        <p:spPr>
          <a:xfrm>
            <a:off x="1051560" y="4316040"/>
            <a:ext cx="4815360" cy="4111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10000"/>
              </a:lnSpc>
              <a:tabLst>
                <a:tab pos="0" algn="l"/>
              </a:tabLst>
            </a:pPr>
            <a:r>
              <a:rPr lang="en-US" sz="1080" b="0" i="1" u="none" strike="noStrike">
                <a:solidFill>
                  <a:srgbClr val="5B6B85"/>
                </a:solidFill>
                <a:effectLst/>
                <a:uFillTx/>
                <a:latin typeface="Calibri" panose="020F0502020204030204"/>
                <a:ea typeface="Calibri" panose="020F0502020204030204"/>
              </a:rPr>
              <a:t>¿Dónde está el punto de quiebre del juego?   </a:t>
            </a:r>
            <a:r>
              <a:rPr lang="en-US" sz="1080" b="1" u="none" strike="noStrike">
                <a:solidFill>
                  <a:srgbClr val="E1590F"/>
                </a:solidFill>
                <a:effectLst/>
                <a:uFillTx/>
                <a:latin typeface="Calibri" panose="020F0502020204030204"/>
                <a:ea typeface="Calibri" panose="020F0502020204030204"/>
              </a:rPr>
              <a:t>r = 0.497</a:t>
            </a:r>
            <a:endParaRPr lang="es-ES" sz="1080" b="0" u="none" strike="noStrike">
              <a:solidFill>
                <a:srgbClr val="000000"/>
              </a:solidFill>
              <a:effectLst/>
              <a:uFillTx/>
              <a:latin typeface="Arial" panose="020B0604020202020204"/>
            </a:endParaRPr>
          </a:p>
        </p:txBody>
      </p:sp>
      <p:sp>
        <p:nvSpPr>
          <p:cNvPr id="328" name="Text 12"/>
          <p:cNvSpPr/>
          <p:nvPr/>
        </p:nvSpPr>
        <p:spPr>
          <a:xfrm>
            <a:off x="548640" y="4946760"/>
            <a:ext cx="456840" cy="77688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2000" b="1" u="none" strike="noStrike">
                <a:solidFill>
                  <a:srgbClr val="FF7A29"/>
                </a:solidFill>
                <a:effectLst/>
                <a:uFillTx/>
                <a:latin typeface="Calibri" panose="020F0502020204030204"/>
                <a:ea typeface="Calibri" panose="020F0502020204030204"/>
              </a:rPr>
              <a:t>04</a:t>
            </a:r>
            <a:endParaRPr lang="es-ES" sz="2000" b="0" u="none" strike="noStrike">
              <a:solidFill>
                <a:srgbClr val="000000"/>
              </a:solidFill>
              <a:effectLst/>
              <a:uFillTx/>
              <a:latin typeface="Arial" panose="020B0604020202020204"/>
            </a:endParaRPr>
          </a:p>
        </p:txBody>
      </p:sp>
      <p:sp>
        <p:nvSpPr>
          <p:cNvPr id="329" name="Text 13"/>
          <p:cNvSpPr/>
          <p:nvPr/>
        </p:nvSpPr>
        <p:spPr>
          <a:xfrm>
            <a:off x="1051560" y="4946760"/>
            <a:ext cx="4815360" cy="31068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350" b="1" u="none" strike="noStrike">
                <a:solidFill>
                  <a:srgbClr val="0B1E3D"/>
                </a:solidFill>
                <a:effectLst/>
                <a:uFillTx/>
                <a:latin typeface="Calibri" panose="020F0502020204030204"/>
                <a:ea typeface="Calibri" panose="020F0502020204030204"/>
              </a:rPr>
              <a:t>Rebote vs. creación de juego</a:t>
            </a:r>
            <a:endParaRPr lang="es-ES" sz="1350" b="0" u="none" strike="noStrike">
              <a:solidFill>
                <a:srgbClr val="000000"/>
              </a:solidFill>
              <a:effectLst/>
              <a:uFillTx/>
              <a:latin typeface="Arial" panose="020B0604020202020204"/>
            </a:endParaRPr>
          </a:p>
        </p:txBody>
      </p:sp>
      <p:sp>
        <p:nvSpPr>
          <p:cNvPr id="330" name="Text 14"/>
          <p:cNvSpPr/>
          <p:nvPr/>
        </p:nvSpPr>
        <p:spPr>
          <a:xfrm>
            <a:off x="1051560" y="5248800"/>
            <a:ext cx="4815360" cy="4111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10000"/>
              </a:lnSpc>
              <a:tabLst>
                <a:tab pos="0" algn="l"/>
              </a:tabLst>
            </a:pPr>
            <a:r>
              <a:rPr lang="en-US" sz="1080" b="0" i="1" u="none" strike="noStrike">
                <a:solidFill>
                  <a:srgbClr val="5B6B85"/>
                </a:solidFill>
                <a:effectLst/>
                <a:uFillTx/>
                <a:latin typeface="Calibri" panose="020F0502020204030204"/>
                <a:ea typeface="Calibri" panose="020F0502020204030204"/>
              </a:rPr>
              <a:t>¿Existe un trade-off posicional?   </a:t>
            </a:r>
            <a:r>
              <a:rPr lang="en-US" sz="1080" b="1" u="none" strike="noStrike">
                <a:solidFill>
                  <a:srgbClr val="E1590F"/>
                </a:solidFill>
                <a:effectLst/>
                <a:uFillTx/>
                <a:latin typeface="Calibri" panose="020F0502020204030204"/>
                <a:ea typeface="Calibri" panose="020F0502020204030204"/>
              </a:rPr>
              <a:t>r = -0.504</a:t>
            </a:r>
            <a:endParaRPr lang="es-ES" sz="1080" b="0" u="none" strike="noStrike">
              <a:solidFill>
                <a:srgbClr val="000000"/>
              </a:solidFill>
              <a:effectLst/>
              <a:uFillTx/>
              <a:latin typeface="Arial" panose="020B0604020202020204"/>
            </a:endParaRPr>
          </a:p>
        </p:txBody>
      </p:sp>
      <p:sp>
        <p:nvSpPr>
          <p:cNvPr id="331" name="Text 15"/>
          <p:cNvSpPr/>
          <p:nvPr/>
        </p:nvSpPr>
        <p:spPr>
          <a:xfrm>
            <a:off x="6324480" y="2148840"/>
            <a:ext cx="456840" cy="77688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2000" b="1" u="none" strike="noStrike">
                <a:solidFill>
                  <a:srgbClr val="FF7A29"/>
                </a:solidFill>
                <a:effectLst/>
                <a:uFillTx/>
                <a:latin typeface="Calibri" panose="020F0502020204030204"/>
                <a:ea typeface="Calibri" panose="020F0502020204030204"/>
              </a:rPr>
              <a:t>05</a:t>
            </a:r>
            <a:endParaRPr lang="es-ES" sz="2000" b="0" u="none" strike="noStrike">
              <a:solidFill>
                <a:srgbClr val="000000"/>
              </a:solidFill>
              <a:effectLst/>
              <a:uFillTx/>
              <a:latin typeface="Arial" panose="020B0604020202020204"/>
            </a:endParaRPr>
          </a:p>
        </p:txBody>
      </p:sp>
      <p:sp>
        <p:nvSpPr>
          <p:cNvPr id="332" name="Text 16"/>
          <p:cNvSpPr/>
          <p:nvPr/>
        </p:nvSpPr>
        <p:spPr>
          <a:xfrm>
            <a:off x="6827400" y="2148840"/>
            <a:ext cx="4815360" cy="31068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350" b="1" u="none" strike="noStrike">
                <a:solidFill>
                  <a:srgbClr val="0B1E3D"/>
                </a:solidFill>
                <a:effectLst/>
                <a:uFillTx/>
                <a:latin typeface="Calibri" panose="020F0502020204030204"/>
                <a:ea typeface="Calibri" panose="020F0502020204030204"/>
              </a:rPr>
              <a:t>Protagonismo vs. producción</a:t>
            </a:r>
            <a:endParaRPr lang="es-ES" sz="1350" b="0" u="none" strike="noStrike">
              <a:solidFill>
                <a:srgbClr val="000000"/>
              </a:solidFill>
              <a:effectLst/>
              <a:uFillTx/>
              <a:latin typeface="Arial" panose="020B0604020202020204"/>
            </a:endParaRPr>
          </a:p>
        </p:txBody>
      </p:sp>
      <p:sp>
        <p:nvSpPr>
          <p:cNvPr id="333" name="Text 17"/>
          <p:cNvSpPr/>
          <p:nvPr/>
        </p:nvSpPr>
        <p:spPr>
          <a:xfrm>
            <a:off x="6827400" y="2450520"/>
            <a:ext cx="4815360" cy="4111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10000"/>
              </a:lnSpc>
              <a:tabLst>
                <a:tab pos="0" algn="l"/>
              </a:tabLst>
            </a:pPr>
            <a:r>
              <a:rPr lang="en-US" sz="1080" b="0" i="1" u="none" strike="noStrike">
                <a:solidFill>
                  <a:srgbClr val="5B6B85"/>
                </a:solidFill>
                <a:effectLst/>
                <a:uFillTx/>
                <a:latin typeface="Calibri" panose="020F0502020204030204"/>
                <a:ea typeface="Calibri" panose="020F0502020204030204"/>
              </a:rPr>
              <a:t>¿Se puede anotar mucho sin ser el protagonista?   </a:t>
            </a:r>
            <a:r>
              <a:rPr lang="en-US" sz="1080" b="1" u="none" strike="noStrike">
                <a:solidFill>
                  <a:srgbClr val="E1590F"/>
                </a:solidFill>
                <a:effectLst/>
                <a:uFillTx/>
                <a:latin typeface="Calibri" panose="020F0502020204030204"/>
                <a:ea typeface="Calibri" panose="020F0502020204030204"/>
              </a:rPr>
              <a:t>r = 0.731</a:t>
            </a:r>
            <a:endParaRPr lang="es-ES" sz="1080" b="0" u="none" strike="noStrike">
              <a:solidFill>
                <a:srgbClr val="000000"/>
              </a:solidFill>
              <a:effectLst/>
              <a:uFillTx/>
              <a:latin typeface="Arial" panose="020B0604020202020204"/>
            </a:endParaRPr>
          </a:p>
        </p:txBody>
      </p:sp>
      <p:sp>
        <p:nvSpPr>
          <p:cNvPr id="334" name="Text 18"/>
          <p:cNvSpPr/>
          <p:nvPr/>
        </p:nvSpPr>
        <p:spPr>
          <a:xfrm>
            <a:off x="6324480" y="3081600"/>
            <a:ext cx="456840" cy="77688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2000" b="1" u="none" strike="noStrike">
                <a:solidFill>
                  <a:srgbClr val="FF7A29"/>
                </a:solidFill>
                <a:effectLst/>
                <a:uFillTx/>
                <a:latin typeface="Calibri" panose="020F0502020204030204"/>
                <a:ea typeface="Calibri" panose="020F0502020204030204"/>
              </a:rPr>
              <a:t>06</a:t>
            </a:r>
            <a:endParaRPr lang="es-ES" sz="2000" b="0" u="none" strike="noStrike">
              <a:solidFill>
                <a:srgbClr val="000000"/>
              </a:solidFill>
              <a:effectLst/>
              <a:uFillTx/>
              <a:latin typeface="Arial" panose="020B0604020202020204"/>
            </a:endParaRPr>
          </a:p>
        </p:txBody>
      </p:sp>
      <p:sp>
        <p:nvSpPr>
          <p:cNvPr id="335" name="Text 19"/>
          <p:cNvSpPr/>
          <p:nvPr/>
        </p:nvSpPr>
        <p:spPr>
          <a:xfrm>
            <a:off x="6827400" y="3081600"/>
            <a:ext cx="4815360" cy="31068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350" b="1" u="none" strike="noStrike">
                <a:solidFill>
                  <a:srgbClr val="0B1E3D"/>
                </a:solidFill>
                <a:effectLst/>
                <a:uFillTx/>
                <a:latin typeface="Calibri" panose="020F0502020204030204"/>
                <a:ea typeface="Calibri" panose="020F0502020204030204"/>
              </a:rPr>
              <a:t>Minutos totales vs. VORP</a:t>
            </a:r>
            <a:endParaRPr lang="es-ES" sz="1350" b="0" u="none" strike="noStrike">
              <a:solidFill>
                <a:srgbClr val="000000"/>
              </a:solidFill>
              <a:effectLst/>
              <a:uFillTx/>
              <a:latin typeface="Arial" panose="020B0604020202020204"/>
            </a:endParaRPr>
          </a:p>
        </p:txBody>
      </p:sp>
      <p:sp>
        <p:nvSpPr>
          <p:cNvPr id="336" name="Text 20"/>
          <p:cNvSpPr/>
          <p:nvPr/>
        </p:nvSpPr>
        <p:spPr>
          <a:xfrm>
            <a:off x="6827400" y="3383280"/>
            <a:ext cx="4815360" cy="4111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10000"/>
              </a:lnSpc>
              <a:tabLst>
                <a:tab pos="0" algn="l"/>
              </a:tabLst>
            </a:pPr>
            <a:r>
              <a:rPr lang="en-US" sz="1080" b="0" i="1" u="none" strike="noStrike">
                <a:solidFill>
                  <a:srgbClr val="5B6B85"/>
                </a:solidFill>
                <a:effectLst/>
                <a:uFillTx/>
                <a:latin typeface="Calibri" panose="020F0502020204030204"/>
                <a:ea typeface="Calibri" panose="020F0502020204030204"/>
              </a:rPr>
              <a:t>¿La oportunidad explica el valor acumulado?   </a:t>
            </a:r>
            <a:r>
              <a:rPr lang="en-US" sz="1080" b="1" u="none" strike="noStrike">
                <a:solidFill>
                  <a:srgbClr val="E1590F"/>
                </a:solidFill>
                <a:effectLst/>
                <a:uFillTx/>
                <a:latin typeface="Calibri" panose="020F0502020204030204"/>
                <a:ea typeface="Calibri" panose="020F0502020204030204"/>
              </a:rPr>
              <a:t>r = 0.662</a:t>
            </a:r>
            <a:endParaRPr lang="es-ES" sz="1080" b="0" u="none" strike="noStrike">
              <a:solidFill>
                <a:srgbClr val="000000"/>
              </a:solidFill>
              <a:effectLst/>
              <a:uFillTx/>
              <a:latin typeface="Arial" panose="020B0604020202020204"/>
            </a:endParaRPr>
          </a:p>
        </p:txBody>
      </p:sp>
      <p:sp>
        <p:nvSpPr>
          <p:cNvPr id="337" name="Text 21"/>
          <p:cNvSpPr/>
          <p:nvPr/>
        </p:nvSpPr>
        <p:spPr>
          <a:xfrm>
            <a:off x="6324480" y="4014360"/>
            <a:ext cx="456840" cy="77688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2000" b="1" u="none" strike="noStrike">
                <a:solidFill>
                  <a:srgbClr val="FF7A29"/>
                </a:solidFill>
                <a:effectLst/>
                <a:uFillTx/>
                <a:latin typeface="Calibri" panose="020F0502020204030204"/>
                <a:ea typeface="Calibri" panose="020F0502020204030204"/>
              </a:rPr>
              <a:t>07</a:t>
            </a:r>
            <a:endParaRPr lang="es-ES" sz="2000" b="0" u="none" strike="noStrike">
              <a:solidFill>
                <a:srgbClr val="000000"/>
              </a:solidFill>
              <a:effectLst/>
              <a:uFillTx/>
              <a:latin typeface="Arial" panose="020B0604020202020204"/>
            </a:endParaRPr>
          </a:p>
        </p:txBody>
      </p:sp>
      <p:sp>
        <p:nvSpPr>
          <p:cNvPr id="338" name="Text 22"/>
          <p:cNvSpPr/>
          <p:nvPr/>
        </p:nvSpPr>
        <p:spPr>
          <a:xfrm>
            <a:off x="6827400" y="4014360"/>
            <a:ext cx="4815360" cy="31068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350" b="1" u="none" strike="noStrike">
                <a:solidFill>
                  <a:srgbClr val="0B1E3D"/>
                </a:solidFill>
                <a:effectLst/>
                <a:uFillTx/>
                <a:latin typeface="Calibri" panose="020F0502020204030204"/>
                <a:ea typeface="Calibri" panose="020F0502020204030204"/>
              </a:rPr>
              <a:t>% de victorias del equipo vs. DBPM</a:t>
            </a:r>
            <a:endParaRPr lang="es-ES" sz="1350" b="0" u="none" strike="noStrike">
              <a:solidFill>
                <a:srgbClr val="000000"/>
              </a:solidFill>
              <a:effectLst/>
              <a:uFillTx/>
              <a:latin typeface="Arial" panose="020B0604020202020204"/>
            </a:endParaRPr>
          </a:p>
        </p:txBody>
      </p:sp>
      <p:sp>
        <p:nvSpPr>
          <p:cNvPr id="339" name="Text 23"/>
          <p:cNvSpPr/>
          <p:nvPr/>
        </p:nvSpPr>
        <p:spPr>
          <a:xfrm>
            <a:off x="6827400" y="4316040"/>
            <a:ext cx="4815360" cy="4111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10000"/>
              </a:lnSpc>
              <a:tabLst>
                <a:tab pos="0" algn="l"/>
              </a:tabLst>
            </a:pPr>
            <a:r>
              <a:rPr lang="en-US" sz="1080" b="0" i="1" u="none" strike="noStrike">
                <a:solidFill>
                  <a:srgbClr val="5B6B85"/>
                </a:solidFill>
                <a:effectLst/>
                <a:uFillTx/>
                <a:latin typeface="Calibri" panose="020F0502020204030204"/>
                <a:ea typeface="Calibri" panose="020F0502020204030204"/>
              </a:rPr>
              <a:t>¿El dato defensivo sobrevive en equipos malos?   </a:t>
            </a:r>
            <a:r>
              <a:rPr lang="en-US" sz="1080" b="1" u="none" strike="noStrike">
                <a:solidFill>
                  <a:srgbClr val="E1590F"/>
                </a:solidFill>
                <a:effectLst/>
                <a:uFillTx/>
                <a:latin typeface="Calibri" panose="020F0502020204030204"/>
                <a:ea typeface="Calibri" panose="020F0502020204030204"/>
              </a:rPr>
              <a:t>r = 0.343</a:t>
            </a:r>
            <a:endParaRPr lang="es-ES" sz="1080" b="0" u="none" strike="noStrike">
              <a:solidFill>
                <a:srgbClr val="000000"/>
              </a:solidFill>
              <a:effectLst/>
              <a:uFillTx/>
              <a:latin typeface="Arial" panose="020B0604020202020204"/>
            </a:endParaRPr>
          </a:p>
        </p:txBody>
      </p:sp>
      <p:sp>
        <p:nvSpPr>
          <p:cNvPr id="340" name="Text 24"/>
          <p:cNvSpPr/>
          <p:nvPr/>
        </p:nvSpPr>
        <p:spPr>
          <a:xfrm>
            <a:off x="6324480" y="4946760"/>
            <a:ext cx="456840" cy="77688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2000" b="1" u="none" strike="noStrike">
                <a:solidFill>
                  <a:srgbClr val="FF7A29"/>
                </a:solidFill>
                <a:effectLst/>
                <a:uFillTx/>
                <a:latin typeface="Calibri" panose="020F0502020204030204"/>
                <a:ea typeface="Calibri" panose="020F0502020204030204"/>
              </a:rPr>
              <a:t>08</a:t>
            </a:r>
            <a:endParaRPr lang="es-ES" sz="2000" b="0" u="none" strike="noStrike">
              <a:solidFill>
                <a:srgbClr val="000000"/>
              </a:solidFill>
              <a:effectLst/>
              <a:uFillTx/>
              <a:latin typeface="Arial" panose="020B0604020202020204"/>
            </a:endParaRPr>
          </a:p>
        </p:txBody>
      </p:sp>
      <p:sp>
        <p:nvSpPr>
          <p:cNvPr id="341" name="Text 25"/>
          <p:cNvSpPr/>
          <p:nvPr/>
        </p:nvSpPr>
        <p:spPr>
          <a:xfrm>
            <a:off x="6827400" y="4946760"/>
            <a:ext cx="4815360" cy="31068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350" b="1" u="none" strike="noStrike">
                <a:solidFill>
                  <a:srgbClr val="0B1E3D"/>
                </a:solidFill>
                <a:effectLst/>
                <a:uFillTx/>
                <a:latin typeface="Calibri" panose="020F0502020204030204"/>
                <a:ea typeface="Calibri" panose="020F0502020204030204"/>
              </a:rPr>
              <a:t>Experiencia vs. eficiencia, por edad de entrada</a:t>
            </a:r>
            <a:endParaRPr lang="es-ES" sz="1350" b="0" u="none" strike="noStrike">
              <a:solidFill>
                <a:srgbClr val="000000"/>
              </a:solidFill>
              <a:effectLst/>
              <a:uFillTx/>
              <a:latin typeface="Arial" panose="020B0604020202020204"/>
            </a:endParaRPr>
          </a:p>
        </p:txBody>
      </p:sp>
      <p:sp>
        <p:nvSpPr>
          <p:cNvPr id="342" name="Text 26"/>
          <p:cNvSpPr/>
          <p:nvPr/>
        </p:nvSpPr>
        <p:spPr>
          <a:xfrm>
            <a:off x="6827400" y="5248800"/>
            <a:ext cx="4815360" cy="4111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10000"/>
              </a:lnSpc>
              <a:tabLst>
                <a:tab pos="0" algn="l"/>
              </a:tabLst>
            </a:pPr>
            <a:r>
              <a:rPr lang="en-US" sz="1080" b="0" i="1" u="none" strike="noStrike">
                <a:solidFill>
                  <a:srgbClr val="5B6B85"/>
                </a:solidFill>
                <a:effectLst/>
                <a:uFillTx/>
                <a:latin typeface="Calibri" panose="020F0502020204030204"/>
                <a:ea typeface="Calibri" panose="020F0502020204030204"/>
              </a:rPr>
              <a:t>¿Desarrollo real o sesgo de selección?   </a:t>
            </a:r>
            <a:endParaRPr lang="es-ES" sz="1080" b="0" u="none" strike="noStrike">
              <a:solidFill>
                <a:srgbClr val="000000"/>
              </a:solidFill>
              <a:effectLst/>
              <a:uFillTx/>
              <a:latin typeface="Arial" panose="020B0604020202020204"/>
            </a:endParaRPr>
          </a:p>
        </p:txBody>
      </p:sp>
      <p:sp>
        <p:nvSpPr>
          <p:cNvPr id="343" name="Text 27"/>
          <p:cNvSpPr/>
          <p:nvPr/>
        </p:nvSpPr>
        <p:spPr>
          <a:xfrm>
            <a:off x="548640" y="5989320"/>
            <a:ext cx="11094120" cy="36540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000" b="0" i="1" u="none" strike="noStrike">
                <a:solidFill>
                  <a:srgbClr val="5B6B85"/>
                </a:solidFill>
                <a:effectLst/>
                <a:uFillTx/>
                <a:latin typeface="Calibri" panose="020F0502020204030204"/>
                <a:ea typeface="Calibri" panose="020F0502020204030204"/>
              </a:rPr>
              <a:t>De las propuestas iniciales se descartaron cuatro por falta de datos: estatura, salario, indicador de playoffs e indicador de franquicia campeona.</a:t>
            </a:r>
            <a:endParaRPr lang="es-ES" sz="1000" b="0" u="none" strike="noStrike">
              <a:solidFill>
                <a:srgbClr val="000000"/>
              </a:solidFill>
              <a:effectLst/>
              <a:uFillTx/>
              <a:latin typeface="Arial" panose="020B0604020202020204"/>
            </a:endParaRPr>
          </a:p>
        </p:txBody>
      </p:sp>
      <p:pic>
        <p:nvPicPr>
          <p:cNvPr id="344" name="Image 0" descr="/tmp/claude-0/-home-claude/c0a8783c-8817-5425-bc4f-190e5f64548a/scratchpad/work/icons/basketball_E1590F.png"/>
          <p:cNvPicPr/>
          <p:nvPr/>
        </p:nvPicPr>
        <p:blipFill>
          <a:blip r:embed="rId1"/>
          <a:stretch>
            <a:fillRect/>
          </a:stretch>
        </p:blipFill>
        <p:spPr>
          <a:xfrm>
            <a:off x="548640" y="6546960"/>
            <a:ext cx="145800" cy="145800"/>
          </a:xfrm>
          <a:prstGeom prst="rect">
            <a:avLst/>
          </a:prstGeom>
          <a:noFill/>
          <a:ln w="0">
            <a:noFill/>
          </a:ln>
        </p:spPr>
      </p:pic>
      <p:sp>
        <p:nvSpPr>
          <p:cNvPr id="345" name="Text 28"/>
          <p:cNvSpPr/>
          <p:nvPr/>
        </p:nvSpPr>
        <p:spPr>
          <a:xfrm>
            <a:off x="768240" y="6510600"/>
            <a:ext cx="45716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850" b="0" u="none" strike="noStrike">
                <a:solidFill>
                  <a:srgbClr val="5B6B85"/>
                </a:solidFill>
                <a:effectLst/>
                <a:uFillTx/>
                <a:latin typeface="Calibri" panose="020F0502020204030204"/>
                <a:ea typeface="Calibri" panose="020F0502020204030204"/>
              </a:rPr>
              <a:t>04 · Análisis bivariado</a:t>
            </a:r>
            <a:endParaRPr lang="es-ES" sz="850" b="0" u="none" strike="noStrike">
              <a:solidFill>
                <a:srgbClr val="000000"/>
              </a:solidFill>
              <a:effectLst/>
              <a:uFillTx/>
              <a:latin typeface="Arial" panose="020B0604020202020204"/>
            </a:endParaRPr>
          </a:p>
        </p:txBody>
      </p:sp>
      <p:sp>
        <p:nvSpPr>
          <p:cNvPr id="346" name="Text 29"/>
          <p:cNvSpPr/>
          <p:nvPr/>
        </p:nvSpPr>
        <p:spPr>
          <a:xfrm>
            <a:off x="10271520" y="6510600"/>
            <a:ext cx="1371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algn="r" defTabSz="914400">
              <a:lnSpc>
                <a:spcPct val="100000"/>
              </a:lnSpc>
              <a:tabLst>
                <a:tab pos="0" algn="l"/>
              </a:tabLst>
            </a:pPr>
            <a:r>
              <a:rPr lang="en-US" sz="850" b="0" u="none" strike="noStrike">
                <a:solidFill>
                  <a:srgbClr val="5B6B85"/>
                </a:solidFill>
                <a:effectLst/>
                <a:uFillTx/>
                <a:latin typeface="Calibri" panose="020F0502020204030204"/>
                <a:ea typeface="Calibri" panose="020F0502020204030204"/>
              </a:rPr>
              <a:t>12 / 23</a:t>
            </a:r>
            <a:endParaRPr lang="es-ES" sz="850" b="0" u="none" strike="noStrike">
              <a:solidFill>
                <a:srgbClr val="000000"/>
              </a:solidFill>
              <a:effectLst/>
              <a:uFillTx/>
              <a:latin typeface="Arial" panose="020B0604020202020204"/>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4F6F9"/>
        </a:solidFill>
        <a:effectLst/>
      </p:bgPr>
    </p:bg>
    <p:spTree>
      <p:nvGrpSpPr>
        <p:cNvPr id="1" name=""/>
        <p:cNvGrpSpPr/>
        <p:nvPr/>
      </p:nvGrpSpPr>
      <p:grpSpPr>
        <a:xfrm>
          <a:off x="0" y="0"/>
          <a:ext cx="0" cy="0"/>
          <a:chOff x="0" y="0"/>
          <a:chExt cx="0" cy="0"/>
        </a:xfrm>
      </p:grpSpPr>
      <p:sp>
        <p:nvSpPr>
          <p:cNvPr id="347" name="Text 0"/>
          <p:cNvSpPr/>
          <p:nvPr/>
        </p:nvSpPr>
        <p:spPr>
          <a:xfrm>
            <a:off x="548640" y="411480"/>
            <a:ext cx="7314840" cy="2923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1150" b="1" u="none" strike="noStrike" spc="201">
                <a:solidFill>
                  <a:srgbClr val="E1590F"/>
                </a:solidFill>
                <a:effectLst/>
                <a:uFillTx/>
                <a:latin typeface="Calibri" panose="020F0502020204030204"/>
                <a:ea typeface="Calibri" panose="020F0502020204030204"/>
              </a:rPr>
              <a:t>04 · ANÁLISIS BIVARIADO</a:t>
            </a:r>
            <a:endParaRPr lang="es-ES" sz="1150" b="0" u="none" strike="noStrike">
              <a:solidFill>
                <a:srgbClr val="000000"/>
              </a:solidFill>
              <a:effectLst/>
              <a:uFillTx/>
              <a:latin typeface="Arial" panose="020B0604020202020204"/>
            </a:endParaRPr>
          </a:p>
        </p:txBody>
      </p:sp>
      <p:sp>
        <p:nvSpPr>
          <p:cNvPr id="348" name="Text 1"/>
          <p:cNvSpPr/>
          <p:nvPr/>
        </p:nvSpPr>
        <p:spPr>
          <a:xfrm>
            <a:off x="548640" y="749880"/>
            <a:ext cx="11094120" cy="77688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2000"/>
              </a:lnSpc>
              <a:tabLst>
                <a:tab pos="0" algn="l"/>
              </a:tabLst>
            </a:pPr>
            <a:r>
              <a:rPr lang="en-US" sz="2400" b="1" u="none" strike="noStrike">
                <a:solidFill>
                  <a:srgbClr val="0B1E3D"/>
                </a:solidFill>
                <a:effectLst/>
                <a:uFillTx/>
                <a:latin typeface="Calibri" panose="020F0502020204030204"/>
                <a:ea typeface="Calibri" panose="020F0502020204030204"/>
              </a:rPr>
              <a:t>Uso ofensivo (USG%) vs. eficiencia de tiro (TS%)</a:t>
            </a:r>
            <a:endParaRPr lang="es-ES" sz="2400" b="0" u="none" strike="noStrike">
              <a:solidFill>
                <a:srgbClr val="000000"/>
              </a:solidFill>
              <a:effectLst/>
              <a:uFillTx/>
              <a:latin typeface="Arial" panose="020B0604020202020204"/>
            </a:endParaRPr>
          </a:p>
        </p:txBody>
      </p:sp>
      <p:sp>
        <p:nvSpPr>
          <p:cNvPr id="349" name="Shape 2"/>
          <p:cNvSpPr/>
          <p:nvPr/>
        </p:nvSpPr>
        <p:spPr>
          <a:xfrm>
            <a:off x="548640" y="1742760"/>
            <a:ext cx="6857640" cy="4331880"/>
          </a:xfrm>
          <a:prstGeom prst="roundRect">
            <a:avLst>
              <a:gd name="adj" fmla="val 1266"/>
            </a:avLst>
          </a:prstGeom>
          <a:solidFill>
            <a:srgbClr val="FFFFFF"/>
          </a:solidFill>
          <a:ln w="0">
            <a:noFill/>
          </a:ln>
          <a:effectLst>
            <a:outerShdw algn="bl" rotWithShape="0">
              <a:srgbClr val="8798AD">
                <a:alpha val="0"/>
              </a:srgbClr>
            </a:outerShdw>
          </a:effectLst>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pic>
        <p:nvPicPr>
          <p:cNvPr id="350" name="Image 0" descr="/tmp/claude-0/-home-claude/c0a8783c-8817-5425-bc4f-190e5f64548a/scratchpad/work/imgs/img_066.png"/>
          <p:cNvPicPr/>
          <p:nvPr/>
        </p:nvPicPr>
        <p:blipFill>
          <a:blip r:embed="rId1"/>
          <a:stretch>
            <a:fillRect/>
          </a:stretch>
        </p:blipFill>
        <p:spPr>
          <a:xfrm>
            <a:off x="658440" y="1852560"/>
            <a:ext cx="6638040" cy="4112640"/>
          </a:xfrm>
          <a:prstGeom prst="rect">
            <a:avLst/>
          </a:prstGeom>
          <a:noFill/>
          <a:ln w="0">
            <a:noFill/>
          </a:ln>
        </p:spPr>
      </p:pic>
      <p:sp>
        <p:nvSpPr>
          <p:cNvPr id="351" name="Shape 3"/>
          <p:cNvSpPr/>
          <p:nvPr/>
        </p:nvSpPr>
        <p:spPr>
          <a:xfrm>
            <a:off x="7772400" y="1600200"/>
            <a:ext cx="1416960" cy="456840"/>
          </a:xfrm>
          <a:prstGeom prst="roundRect">
            <a:avLst>
              <a:gd name="adj" fmla="val 50000"/>
            </a:avLst>
          </a:prstGeom>
          <a:solidFill>
            <a:srgbClr val="FF7A29"/>
          </a:solidFill>
          <a:ln w="0">
            <a:noFill/>
          </a:ln>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sp>
        <p:nvSpPr>
          <p:cNvPr id="352" name="Text 4"/>
          <p:cNvSpPr/>
          <p:nvPr/>
        </p:nvSpPr>
        <p:spPr>
          <a:xfrm>
            <a:off x="7772400" y="1600200"/>
            <a:ext cx="1416960" cy="4568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algn="ctr" defTabSz="914400">
              <a:lnSpc>
                <a:spcPct val="100000"/>
              </a:lnSpc>
              <a:tabLst>
                <a:tab pos="0" algn="l"/>
              </a:tabLst>
            </a:pPr>
            <a:r>
              <a:rPr lang="en-US" sz="1700" b="1" u="none" strike="noStrike">
                <a:solidFill>
                  <a:srgbClr val="FFFFFF"/>
                </a:solidFill>
                <a:effectLst/>
                <a:uFillTx/>
                <a:latin typeface="Calibri" panose="020F0502020204030204"/>
                <a:ea typeface="Calibri" panose="020F0502020204030204"/>
              </a:rPr>
              <a:t>r = 0.11</a:t>
            </a:r>
            <a:endParaRPr lang="es-ES" sz="1700" b="0" u="none" strike="noStrike">
              <a:solidFill>
                <a:srgbClr val="000000"/>
              </a:solidFill>
              <a:effectLst/>
              <a:uFillTx/>
              <a:latin typeface="Arial" panose="020B0604020202020204"/>
            </a:endParaRPr>
          </a:p>
        </p:txBody>
      </p:sp>
      <p:sp>
        <p:nvSpPr>
          <p:cNvPr id="353" name="Text 5"/>
          <p:cNvSpPr/>
          <p:nvPr/>
        </p:nvSpPr>
        <p:spPr>
          <a:xfrm>
            <a:off x="7772400" y="2221920"/>
            <a:ext cx="3870360" cy="17827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20000"/>
              </a:lnSpc>
              <a:tabLst>
                <a:tab pos="0" algn="l"/>
              </a:tabLst>
            </a:pPr>
            <a:r>
              <a:rPr lang="en-US" sz="1150" b="0" u="none" strike="noStrike">
                <a:solidFill>
                  <a:srgbClr val="12203D"/>
                </a:solidFill>
                <a:effectLst/>
                <a:uFillTx/>
                <a:latin typeface="Calibri" panose="020F0502020204030204"/>
                <a:ea typeface="Calibri" panose="020F0502020204030204"/>
              </a:rPr>
              <a:t>Tomar más volumen de tiro casi no cuesta eficiencia. Un pequeño grupo de "estrellas eficientes" combina alto uso Y alta eficiencia a la vez — rompen el patrón general de la liga.</a:t>
            </a:r>
            <a:endParaRPr lang="es-ES" sz="1150" b="0" u="none" strike="noStrike">
              <a:solidFill>
                <a:srgbClr val="000000"/>
              </a:solidFill>
              <a:effectLst/>
              <a:uFillTx/>
              <a:latin typeface="Arial" panose="020B0604020202020204"/>
            </a:endParaRPr>
          </a:p>
        </p:txBody>
      </p:sp>
      <p:graphicFrame>
        <p:nvGraphicFramePr>
          <p:cNvPr id="354" name="Table 0"/>
          <p:cNvGraphicFramePr/>
          <p:nvPr/>
        </p:nvGraphicFramePr>
        <p:xfrm>
          <a:off x="7772400" y="4050720"/>
          <a:ext cx="3870360" cy="1444320"/>
        </p:xfrm>
        <a:graphic>
          <a:graphicData uri="http://schemas.openxmlformats.org/drawingml/2006/table">
            <a:tbl>
              <a:tblPr/>
              <a:tblGrid>
                <a:gridCol w="1315800"/>
                <a:gridCol w="638640"/>
                <a:gridCol w="638640"/>
                <a:gridCol w="638640"/>
                <a:gridCol w="638640"/>
              </a:tblGrid>
              <a:tr h="255960">
                <a:tc>
                  <a:txBody>
                    <a:bodyPr>
                      <a:spAutoFit/>
                    </a:bodyPr>
                    <a:p>
                      <a:pPr defTabSz="914400">
                        <a:lnSpc>
                          <a:spcPct val="100000"/>
                        </a:lnSpc>
                        <a:tabLst>
                          <a:tab pos="0" algn="l"/>
                        </a:tabLst>
                      </a:pPr>
                      <a:r>
                        <a:rPr lang="en-US" sz="850" b="1" u="none" strike="noStrike">
                          <a:solidFill>
                            <a:srgbClr val="FFFFFF"/>
                          </a:solidFill>
                          <a:effectLst/>
                          <a:uFillTx/>
                          <a:latin typeface="Calibri" panose="020F0502020204030204"/>
                          <a:ea typeface="Calibri" panose="020F0502020204030204"/>
                        </a:rPr>
                        <a:t>Jugador</a:t>
                      </a:r>
                      <a:endParaRPr lang="es-ES" sz="8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c>
                  <a:txBody>
                    <a:bodyPr>
                      <a:spAutoFit/>
                    </a:bodyPr>
                    <a:p>
                      <a:pPr defTabSz="914400">
                        <a:lnSpc>
                          <a:spcPct val="100000"/>
                        </a:lnSpc>
                        <a:tabLst>
                          <a:tab pos="0" algn="l"/>
                        </a:tabLst>
                      </a:pPr>
                      <a:r>
                        <a:rPr lang="en-US" sz="850" b="1" u="none" strike="noStrike">
                          <a:solidFill>
                            <a:srgbClr val="FFFFFF"/>
                          </a:solidFill>
                          <a:effectLst/>
                          <a:uFillTx/>
                          <a:latin typeface="Calibri" panose="020F0502020204030204"/>
                          <a:ea typeface="Calibri" panose="020F0502020204030204"/>
                        </a:rPr>
                        <a:t>Temp.</a:t>
                      </a:r>
                      <a:endParaRPr lang="es-ES" sz="8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c>
                  <a:txBody>
                    <a:bodyPr>
                      <a:spAutoFit/>
                    </a:bodyPr>
                    <a:p>
                      <a:pPr defTabSz="914400">
                        <a:lnSpc>
                          <a:spcPct val="100000"/>
                        </a:lnSpc>
                        <a:tabLst>
                          <a:tab pos="0" algn="l"/>
                        </a:tabLst>
                      </a:pPr>
                      <a:r>
                        <a:rPr lang="en-US" sz="850" b="1" u="none" strike="noStrike">
                          <a:solidFill>
                            <a:srgbClr val="FFFFFF"/>
                          </a:solidFill>
                          <a:effectLst/>
                          <a:uFillTx/>
                          <a:latin typeface="Calibri" panose="020F0502020204030204"/>
                          <a:ea typeface="Calibri" panose="020F0502020204030204"/>
                        </a:rPr>
                        <a:t>USG%</a:t>
                      </a:r>
                      <a:endParaRPr lang="es-ES" sz="8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c>
                  <a:txBody>
                    <a:bodyPr>
                      <a:spAutoFit/>
                    </a:bodyPr>
                    <a:p>
                      <a:pPr defTabSz="914400">
                        <a:lnSpc>
                          <a:spcPct val="100000"/>
                        </a:lnSpc>
                        <a:tabLst>
                          <a:tab pos="0" algn="l"/>
                        </a:tabLst>
                      </a:pPr>
                      <a:r>
                        <a:rPr lang="en-US" sz="850" b="1" u="none" strike="noStrike">
                          <a:solidFill>
                            <a:srgbClr val="FFFFFF"/>
                          </a:solidFill>
                          <a:effectLst/>
                          <a:uFillTx/>
                          <a:latin typeface="Calibri" panose="020F0502020204030204"/>
                          <a:ea typeface="Calibri" panose="020F0502020204030204"/>
                        </a:rPr>
                        <a:t>TS%</a:t>
                      </a:r>
                      <a:endParaRPr lang="es-ES" sz="8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c>
                  <a:txBody>
                    <a:bodyPr>
                      <a:spAutoFit/>
                    </a:bodyPr>
                    <a:p>
                      <a:pPr defTabSz="914400">
                        <a:lnSpc>
                          <a:spcPct val="100000"/>
                        </a:lnSpc>
                        <a:tabLst>
                          <a:tab pos="0" algn="l"/>
                        </a:tabLst>
                      </a:pPr>
                      <a:r>
                        <a:rPr lang="en-US" sz="850" b="1" u="none" strike="noStrike">
                          <a:solidFill>
                            <a:srgbClr val="FFFFFF"/>
                          </a:solidFill>
                          <a:effectLst/>
                          <a:uFillTx/>
                          <a:latin typeface="Calibri" panose="020F0502020204030204"/>
                          <a:ea typeface="Calibri" panose="020F0502020204030204"/>
                        </a:rPr>
                        <a:t>VORP</a:t>
                      </a:r>
                      <a:endParaRPr lang="es-ES" sz="8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Michael Jordan</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1988</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34.1</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0.603</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12.5</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LeBron James</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2009</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33.8</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0.591</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11.8</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Michael Jordan</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1989</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32.1</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0.614</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11.4</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David Robinson</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1994</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32.0</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0.577</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11.4</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Michael Jordan</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1991</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32.9</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0.605</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10.8</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r>
            </a:tbl>
          </a:graphicData>
        </a:graphic>
      </p:graphicFrame>
      <p:pic>
        <p:nvPicPr>
          <p:cNvPr id="355" name="Image 1" descr="/tmp/claude-0/-home-claude/c0a8783c-8817-5425-bc4f-190e5f64548a/scratchpad/work/icons/basketball_E1590F.png"/>
          <p:cNvPicPr/>
          <p:nvPr/>
        </p:nvPicPr>
        <p:blipFill>
          <a:blip r:embed="rId2"/>
          <a:stretch>
            <a:fillRect/>
          </a:stretch>
        </p:blipFill>
        <p:spPr>
          <a:xfrm>
            <a:off x="548640" y="6546960"/>
            <a:ext cx="145800" cy="145800"/>
          </a:xfrm>
          <a:prstGeom prst="rect">
            <a:avLst/>
          </a:prstGeom>
          <a:noFill/>
          <a:ln w="0">
            <a:noFill/>
          </a:ln>
        </p:spPr>
      </p:pic>
      <p:sp>
        <p:nvSpPr>
          <p:cNvPr id="356" name="Text 6"/>
          <p:cNvSpPr/>
          <p:nvPr/>
        </p:nvSpPr>
        <p:spPr>
          <a:xfrm>
            <a:off x="768240" y="6510600"/>
            <a:ext cx="45716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850" b="0" u="none" strike="noStrike">
                <a:solidFill>
                  <a:srgbClr val="5B6B85"/>
                </a:solidFill>
                <a:effectLst/>
                <a:uFillTx/>
                <a:latin typeface="Calibri" panose="020F0502020204030204"/>
                <a:ea typeface="Calibri" panose="020F0502020204030204"/>
              </a:rPr>
              <a:t>04 · Bivariado · 1/8</a:t>
            </a:r>
            <a:endParaRPr lang="es-ES" sz="850" b="0" u="none" strike="noStrike">
              <a:solidFill>
                <a:srgbClr val="000000"/>
              </a:solidFill>
              <a:effectLst/>
              <a:uFillTx/>
              <a:latin typeface="Arial" panose="020B0604020202020204"/>
            </a:endParaRPr>
          </a:p>
        </p:txBody>
      </p:sp>
      <p:sp>
        <p:nvSpPr>
          <p:cNvPr id="357" name="Text 7"/>
          <p:cNvSpPr/>
          <p:nvPr/>
        </p:nvSpPr>
        <p:spPr>
          <a:xfrm>
            <a:off x="10271520" y="6510600"/>
            <a:ext cx="1371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algn="r" defTabSz="914400">
              <a:lnSpc>
                <a:spcPct val="100000"/>
              </a:lnSpc>
              <a:tabLst>
                <a:tab pos="0" algn="l"/>
              </a:tabLst>
            </a:pPr>
            <a:r>
              <a:rPr lang="en-US" sz="850" b="0" u="none" strike="noStrike">
                <a:solidFill>
                  <a:srgbClr val="5B6B85"/>
                </a:solidFill>
                <a:effectLst/>
                <a:uFillTx/>
                <a:latin typeface="Calibri" panose="020F0502020204030204"/>
                <a:ea typeface="Calibri" panose="020F0502020204030204"/>
              </a:rPr>
              <a:t>13 / 23</a:t>
            </a:r>
            <a:endParaRPr lang="es-ES" sz="850" b="0" u="none" strike="noStrike">
              <a:solidFill>
                <a:srgbClr val="000000"/>
              </a:solidFill>
              <a:effectLst/>
              <a:uFillTx/>
              <a:latin typeface="Arial" panose="020B0604020202020204"/>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4F6F9"/>
        </a:solidFill>
        <a:effectLst/>
      </p:bgPr>
    </p:bg>
    <p:spTree>
      <p:nvGrpSpPr>
        <p:cNvPr id="1" name=""/>
        <p:cNvGrpSpPr/>
        <p:nvPr/>
      </p:nvGrpSpPr>
      <p:grpSpPr>
        <a:xfrm>
          <a:off x="0" y="0"/>
          <a:ext cx="0" cy="0"/>
          <a:chOff x="0" y="0"/>
          <a:chExt cx="0" cy="0"/>
        </a:xfrm>
      </p:grpSpPr>
      <p:sp>
        <p:nvSpPr>
          <p:cNvPr id="358" name="Text 0"/>
          <p:cNvSpPr/>
          <p:nvPr/>
        </p:nvSpPr>
        <p:spPr>
          <a:xfrm>
            <a:off x="548640" y="411480"/>
            <a:ext cx="7314840" cy="2923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1150" b="1" u="none" strike="noStrike" spc="201">
                <a:solidFill>
                  <a:srgbClr val="E1590F"/>
                </a:solidFill>
                <a:effectLst/>
                <a:uFillTx/>
                <a:latin typeface="Calibri" panose="020F0502020204030204"/>
                <a:ea typeface="Calibri" panose="020F0502020204030204"/>
              </a:rPr>
              <a:t>04 · ANÁLISIS BIVARIADO</a:t>
            </a:r>
            <a:endParaRPr lang="es-ES" sz="1150" b="0" u="none" strike="noStrike">
              <a:solidFill>
                <a:srgbClr val="000000"/>
              </a:solidFill>
              <a:effectLst/>
              <a:uFillTx/>
              <a:latin typeface="Arial" panose="020B0604020202020204"/>
            </a:endParaRPr>
          </a:p>
        </p:txBody>
      </p:sp>
      <p:sp>
        <p:nvSpPr>
          <p:cNvPr id="359" name="Text 1"/>
          <p:cNvSpPr/>
          <p:nvPr/>
        </p:nvSpPr>
        <p:spPr>
          <a:xfrm>
            <a:off x="548640" y="749880"/>
            <a:ext cx="11094120" cy="77688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2000"/>
              </a:lnSpc>
              <a:tabLst>
                <a:tab pos="0" algn="l"/>
              </a:tabLst>
            </a:pPr>
            <a:r>
              <a:rPr lang="en-US" sz="2400" b="1" u="none" strike="noStrike">
                <a:solidFill>
                  <a:srgbClr val="0B1E3D"/>
                </a:solidFill>
                <a:effectLst/>
                <a:uFillTx/>
                <a:latin typeface="Calibri" panose="020F0502020204030204"/>
                <a:ea typeface="Calibri" panose="020F0502020204030204"/>
              </a:rPr>
              <a:t>Rendimiento vs. edad, como curva y no como correlación</a:t>
            </a:r>
            <a:endParaRPr lang="es-ES" sz="2400" b="0" u="none" strike="noStrike">
              <a:solidFill>
                <a:srgbClr val="000000"/>
              </a:solidFill>
              <a:effectLst/>
              <a:uFillTx/>
              <a:latin typeface="Arial" panose="020B0604020202020204"/>
            </a:endParaRPr>
          </a:p>
        </p:txBody>
      </p:sp>
      <p:sp>
        <p:nvSpPr>
          <p:cNvPr id="360" name="Shape 2"/>
          <p:cNvSpPr/>
          <p:nvPr/>
        </p:nvSpPr>
        <p:spPr>
          <a:xfrm>
            <a:off x="548640" y="1600200"/>
            <a:ext cx="4875840" cy="4617360"/>
          </a:xfrm>
          <a:prstGeom prst="roundRect">
            <a:avLst>
              <a:gd name="adj" fmla="val 1188"/>
            </a:avLst>
          </a:prstGeom>
          <a:solidFill>
            <a:srgbClr val="FFFFFF"/>
          </a:solidFill>
          <a:ln w="0">
            <a:noFill/>
          </a:ln>
          <a:effectLst>
            <a:outerShdw algn="bl" rotWithShape="0">
              <a:srgbClr val="8798AD">
                <a:alpha val="0"/>
              </a:srgbClr>
            </a:outerShdw>
          </a:effectLst>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pic>
        <p:nvPicPr>
          <p:cNvPr id="361" name="Image 0" descr="/tmp/claude-0/-home-claude/c0a8783c-8817-5425-bc4f-190e5f64548a/scratchpad/work/imgs/img_067.png"/>
          <p:cNvPicPr/>
          <p:nvPr/>
        </p:nvPicPr>
        <p:blipFill>
          <a:blip r:embed="rId1"/>
          <a:stretch>
            <a:fillRect/>
          </a:stretch>
        </p:blipFill>
        <p:spPr>
          <a:xfrm>
            <a:off x="658440" y="1710000"/>
            <a:ext cx="4656600" cy="4397760"/>
          </a:xfrm>
          <a:prstGeom prst="rect">
            <a:avLst/>
          </a:prstGeom>
          <a:noFill/>
          <a:ln w="0">
            <a:noFill/>
          </a:ln>
        </p:spPr>
      </p:pic>
      <p:sp>
        <p:nvSpPr>
          <p:cNvPr id="362" name="Shape 3"/>
          <p:cNvSpPr/>
          <p:nvPr/>
        </p:nvSpPr>
        <p:spPr>
          <a:xfrm>
            <a:off x="5790600" y="1600200"/>
            <a:ext cx="1416960" cy="456840"/>
          </a:xfrm>
          <a:prstGeom prst="roundRect">
            <a:avLst>
              <a:gd name="adj" fmla="val 50000"/>
            </a:avLst>
          </a:prstGeom>
          <a:solidFill>
            <a:srgbClr val="FF7A29"/>
          </a:solidFill>
          <a:ln w="0">
            <a:noFill/>
          </a:ln>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sp>
        <p:nvSpPr>
          <p:cNvPr id="363" name="Text 4"/>
          <p:cNvSpPr/>
          <p:nvPr/>
        </p:nvSpPr>
        <p:spPr>
          <a:xfrm>
            <a:off x="5790600" y="1600200"/>
            <a:ext cx="1416960" cy="4568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algn="ctr" defTabSz="914400">
              <a:lnSpc>
                <a:spcPct val="100000"/>
              </a:lnSpc>
              <a:tabLst>
                <a:tab pos="0" algn="l"/>
              </a:tabLst>
            </a:pPr>
            <a:r>
              <a:rPr lang="en-US" sz="1700" b="1" u="none" strike="noStrike">
                <a:solidFill>
                  <a:srgbClr val="FFFFFF"/>
                </a:solidFill>
                <a:effectLst/>
                <a:uFillTx/>
                <a:latin typeface="Calibri" panose="020F0502020204030204"/>
                <a:ea typeface="Calibri" panose="020F0502020204030204"/>
              </a:rPr>
              <a:t>r ≈ 0</a:t>
            </a:r>
            <a:endParaRPr lang="es-ES" sz="1700" b="0" u="none" strike="noStrike">
              <a:solidFill>
                <a:srgbClr val="000000"/>
              </a:solidFill>
              <a:effectLst/>
              <a:uFillTx/>
              <a:latin typeface="Arial" panose="020B0604020202020204"/>
            </a:endParaRPr>
          </a:p>
        </p:txBody>
      </p:sp>
      <p:sp>
        <p:nvSpPr>
          <p:cNvPr id="364" name="Text 5"/>
          <p:cNvSpPr/>
          <p:nvPr/>
        </p:nvSpPr>
        <p:spPr>
          <a:xfrm>
            <a:off x="5790600" y="2221920"/>
            <a:ext cx="5852160" cy="17827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20000"/>
              </a:lnSpc>
              <a:tabLst>
                <a:tab pos="0" algn="l"/>
              </a:tabLst>
            </a:pPr>
            <a:r>
              <a:rPr lang="en-US" sz="1150" b="0" u="none" strike="noStrike">
                <a:solidFill>
                  <a:srgbClr val="12203D"/>
                </a:solidFill>
                <a:effectLst/>
                <a:uFillTx/>
                <a:latin typeface="Calibri" panose="020F0502020204030204"/>
                <a:ea typeface="Calibri" panose="020F0502020204030204"/>
              </a:rPr>
              <a:t>El PER promedio alcanza su pico entre los 27-28 años (14.3) y después declina gradualmente: una curva con techo, no una correlación lineal. Los minutos por partido siguen el mismo patrón de arco.</a:t>
            </a:r>
            <a:endParaRPr lang="es-ES" sz="1150" b="0" u="none" strike="noStrike">
              <a:solidFill>
                <a:srgbClr val="000000"/>
              </a:solidFill>
              <a:effectLst/>
              <a:uFillTx/>
              <a:latin typeface="Arial" panose="020B0604020202020204"/>
            </a:endParaRPr>
          </a:p>
        </p:txBody>
      </p:sp>
      <p:graphicFrame>
        <p:nvGraphicFramePr>
          <p:cNvPr id="365" name="Table 0"/>
          <p:cNvGraphicFramePr/>
          <p:nvPr/>
        </p:nvGraphicFramePr>
        <p:xfrm>
          <a:off x="5790600" y="4050720"/>
          <a:ext cx="5852160" cy="1444320"/>
        </p:xfrm>
        <a:graphic>
          <a:graphicData uri="http://schemas.openxmlformats.org/drawingml/2006/table">
            <a:tbl>
              <a:tblPr/>
              <a:tblGrid>
                <a:gridCol w="1989720"/>
                <a:gridCol w="965520"/>
                <a:gridCol w="965520"/>
                <a:gridCol w="965520"/>
                <a:gridCol w="965520"/>
              </a:tblGrid>
              <a:tr h="255960">
                <a:tc>
                  <a:txBody>
                    <a:bodyPr>
                      <a:spAutoFit/>
                    </a:bodyPr>
                    <a:p>
                      <a:pPr defTabSz="914400">
                        <a:lnSpc>
                          <a:spcPct val="100000"/>
                        </a:lnSpc>
                        <a:tabLst>
                          <a:tab pos="0" algn="l"/>
                        </a:tabLst>
                      </a:pPr>
                      <a:r>
                        <a:rPr lang="en-US" sz="850" b="1" u="none" strike="noStrike">
                          <a:solidFill>
                            <a:srgbClr val="FFFFFF"/>
                          </a:solidFill>
                          <a:effectLst/>
                          <a:uFillTx/>
                          <a:latin typeface="Calibri" panose="020F0502020204030204"/>
                          <a:ea typeface="Calibri" panose="020F0502020204030204"/>
                        </a:rPr>
                        <a:t>Edad</a:t>
                      </a:r>
                      <a:endParaRPr lang="es-ES" sz="8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c>
                  <a:txBody>
                    <a:bodyPr>
                      <a:spAutoFit/>
                    </a:bodyPr>
                    <a:p>
                      <a:pPr defTabSz="914400">
                        <a:lnSpc>
                          <a:spcPct val="100000"/>
                        </a:lnSpc>
                        <a:tabLst>
                          <a:tab pos="0" algn="l"/>
                        </a:tabLst>
                      </a:pPr>
                      <a:r>
                        <a:rPr lang="en-US" sz="850" b="1" u="none" strike="noStrike">
                          <a:solidFill>
                            <a:srgbClr val="FFFFFF"/>
                          </a:solidFill>
                          <a:effectLst/>
                          <a:uFillTx/>
                          <a:latin typeface="Calibri" panose="020F0502020204030204"/>
                          <a:ea typeface="Calibri" panose="020F0502020204030204"/>
                        </a:rPr>
                        <a:t>PER</a:t>
                      </a:r>
                      <a:endParaRPr lang="es-ES" sz="8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c>
                  <a:txBody>
                    <a:bodyPr>
                      <a:spAutoFit/>
                    </a:bodyPr>
                    <a:p>
                      <a:pPr defTabSz="914400">
                        <a:lnSpc>
                          <a:spcPct val="100000"/>
                        </a:lnSpc>
                        <a:tabLst>
                          <a:tab pos="0" algn="l"/>
                        </a:tabLst>
                      </a:pPr>
                      <a:r>
                        <a:rPr lang="en-US" sz="850" b="1" u="none" strike="noStrike">
                          <a:solidFill>
                            <a:srgbClr val="FFFFFF"/>
                          </a:solidFill>
                          <a:effectLst/>
                          <a:uFillTx/>
                          <a:latin typeface="Calibri" panose="020F0502020204030204"/>
                          <a:ea typeface="Calibri" panose="020F0502020204030204"/>
                        </a:rPr>
                        <a:t>TS%</a:t>
                      </a:r>
                      <a:endParaRPr lang="es-ES" sz="8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c>
                  <a:txBody>
                    <a:bodyPr>
                      <a:spAutoFit/>
                    </a:bodyPr>
                    <a:p>
                      <a:pPr defTabSz="914400">
                        <a:lnSpc>
                          <a:spcPct val="100000"/>
                        </a:lnSpc>
                        <a:tabLst>
                          <a:tab pos="0" algn="l"/>
                        </a:tabLst>
                      </a:pPr>
                      <a:r>
                        <a:rPr lang="en-US" sz="850" b="1" u="none" strike="noStrike">
                          <a:solidFill>
                            <a:srgbClr val="FFFFFF"/>
                          </a:solidFill>
                          <a:effectLst/>
                          <a:uFillTx/>
                          <a:latin typeface="Calibri" panose="020F0502020204030204"/>
                          <a:ea typeface="Calibri" panose="020F0502020204030204"/>
                        </a:rPr>
                        <a:t>Min/pp</a:t>
                      </a:r>
                      <a:endParaRPr lang="es-ES" sz="8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c>
                  <a:txBody>
                    <a:bodyPr>
                      <a:spAutoFit/>
                    </a:bodyPr>
                    <a:p>
                      <a:pPr defTabSz="914400">
                        <a:lnSpc>
                          <a:spcPct val="100000"/>
                        </a:lnSpc>
                        <a:tabLst>
                          <a:tab pos="0" algn="l"/>
                        </a:tabLst>
                      </a:pPr>
                      <a:r>
                        <a:rPr lang="en-US" sz="850" b="1" u="none" strike="noStrike">
                          <a:solidFill>
                            <a:srgbClr val="FFFFFF"/>
                          </a:solidFill>
                          <a:effectLst/>
                          <a:uFillTx/>
                          <a:latin typeface="Calibri" panose="020F0502020204030204"/>
                          <a:ea typeface="Calibri" panose="020F0502020204030204"/>
                        </a:rPr>
                        <a:t>n</a:t>
                      </a:r>
                      <a:endParaRPr lang="es-ES" sz="8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19</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12.1</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0.506</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19.9</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130</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25</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14.1</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0.530</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23.1</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1316</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28</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14.3</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0.534</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24.7</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1004</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34</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12.8</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0.521</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21.6</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326</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38</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12.0</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0.493</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18.0</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68</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r>
            </a:tbl>
          </a:graphicData>
        </a:graphic>
      </p:graphicFrame>
      <p:pic>
        <p:nvPicPr>
          <p:cNvPr id="366" name="Image 1" descr="/tmp/claude-0/-home-claude/c0a8783c-8817-5425-bc4f-190e5f64548a/scratchpad/work/icons/basketball_E1590F.png"/>
          <p:cNvPicPr/>
          <p:nvPr/>
        </p:nvPicPr>
        <p:blipFill>
          <a:blip r:embed="rId2"/>
          <a:stretch>
            <a:fillRect/>
          </a:stretch>
        </p:blipFill>
        <p:spPr>
          <a:xfrm>
            <a:off x="548640" y="6546960"/>
            <a:ext cx="145800" cy="145800"/>
          </a:xfrm>
          <a:prstGeom prst="rect">
            <a:avLst/>
          </a:prstGeom>
          <a:noFill/>
          <a:ln w="0">
            <a:noFill/>
          </a:ln>
        </p:spPr>
      </p:pic>
      <p:sp>
        <p:nvSpPr>
          <p:cNvPr id="367" name="Text 6"/>
          <p:cNvSpPr/>
          <p:nvPr/>
        </p:nvSpPr>
        <p:spPr>
          <a:xfrm>
            <a:off x="768240" y="6510600"/>
            <a:ext cx="45716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850" b="0" u="none" strike="noStrike">
                <a:solidFill>
                  <a:srgbClr val="5B6B85"/>
                </a:solidFill>
                <a:effectLst/>
                <a:uFillTx/>
                <a:latin typeface="Calibri" panose="020F0502020204030204"/>
                <a:ea typeface="Calibri" panose="020F0502020204030204"/>
              </a:rPr>
              <a:t>04 · Bivariado · 2/8</a:t>
            </a:r>
            <a:endParaRPr lang="es-ES" sz="850" b="0" u="none" strike="noStrike">
              <a:solidFill>
                <a:srgbClr val="000000"/>
              </a:solidFill>
              <a:effectLst/>
              <a:uFillTx/>
              <a:latin typeface="Arial" panose="020B0604020202020204"/>
            </a:endParaRPr>
          </a:p>
        </p:txBody>
      </p:sp>
      <p:sp>
        <p:nvSpPr>
          <p:cNvPr id="368" name="Text 7"/>
          <p:cNvSpPr/>
          <p:nvPr/>
        </p:nvSpPr>
        <p:spPr>
          <a:xfrm>
            <a:off x="10271520" y="6510600"/>
            <a:ext cx="1371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algn="r" defTabSz="914400">
              <a:lnSpc>
                <a:spcPct val="100000"/>
              </a:lnSpc>
              <a:tabLst>
                <a:tab pos="0" algn="l"/>
              </a:tabLst>
            </a:pPr>
            <a:r>
              <a:rPr lang="en-US" sz="850" b="0" u="none" strike="noStrike">
                <a:solidFill>
                  <a:srgbClr val="5B6B85"/>
                </a:solidFill>
                <a:effectLst/>
                <a:uFillTx/>
                <a:latin typeface="Calibri" panose="020F0502020204030204"/>
                <a:ea typeface="Calibri" panose="020F0502020204030204"/>
              </a:rPr>
              <a:t>14 / 23</a:t>
            </a:r>
            <a:endParaRPr lang="es-ES" sz="850" b="0" u="none" strike="noStrike">
              <a:solidFill>
                <a:srgbClr val="000000"/>
              </a:solidFill>
              <a:effectLst/>
              <a:uFillTx/>
              <a:latin typeface="Arial" panose="020B0604020202020204"/>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4F6F9"/>
        </a:solidFill>
        <a:effectLst/>
      </p:bgPr>
    </p:bg>
    <p:spTree>
      <p:nvGrpSpPr>
        <p:cNvPr id="1" name=""/>
        <p:cNvGrpSpPr/>
        <p:nvPr/>
      </p:nvGrpSpPr>
      <p:grpSpPr>
        <a:xfrm>
          <a:off x="0" y="0"/>
          <a:ext cx="0" cy="0"/>
          <a:chOff x="0" y="0"/>
          <a:chExt cx="0" cy="0"/>
        </a:xfrm>
      </p:grpSpPr>
      <p:sp>
        <p:nvSpPr>
          <p:cNvPr id="369" name="Text 0"/>
          <p:cNvSpPr/>
          <p:nvPr/>
        </p:nvSpPr>
        <p:spPr>
          <a:xfrm>
            <a:off x="548640" y="411480"/>
            <a:ext cx="7314840" cy="2923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1150" b="1" u="none" strike="noStrike" spc="201">
                <a:solidFill>
                  <a:srgbClr val="E1590F"/>
                </a:solidFill>
                <a:effectLst/>
                <a:uFillTx/>
                <a:latin typeface="Calibri" panose="020F0502020204030204"/>
                <a:ea typeface="Calibri" panose="020F0502020204030204"/>
              </a:rPr>
              <a:t>04 · ANÁLISIS BIVARIADO</a:t>
            </a:r>
            <a:endParaRPr lang="es-ES" sz="1150" b="0" u="none" strike="noStrike">
              <a:solidFill>
                <a:srgbClr val="000000"/>
              </a:solidFill>
              <a:effectLst/>
              <a:uFillTx/>
              <a:latin typeface="Arial" panose="020B0604020202020204"/>
            </a:endParaRPr>
          </a:p>
        </p:txBody>
      </p:sp>
      <p:sp>
        <p:nvSpPr>
          <p:cNvPr id="370" name="Text 1"/>
          <p:cNvSpPr/>
          <p:nvPr/>
        </p:nvSpPr>
        <p:spPr>
          <a:xfrm>
            <a:off x="548640" y="749880"/>
            <a:ext cx="11094120" cy="77688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2000"/>
              </a:lnSpc>
              <a:tabLst>
                <a:tab pos="0" algn="l"/>
              </a:tabLst>
            </a:pPr>
            <a:r>
              <a:rPr lang="en-US" sz="2400" b="1" u="none" strike="noStrike">
                <a:solidFill>
                  <a:srgbClr val="0B1E3D"/>
                </a:solidFill>
                <a:effectLst/>
                <a:uFillTx/>
                <a:latin typeface="Calibri" panose="020F0502020204030204"/>
                <a:ea typeface="Calibri" panose="020F0502020204030204"/>
              </a:rPr>
              <a:t>% de intentos de triple vs. temporada</a:t>
            </a:r>
            <a:endParaRPr lang="es-ES" sz="2400" b="0" u="none" strike="noStrike">
              <a:solidFill>
                <a:srgbClr val="000000"/>
              </a:solidFill>
              <a:effectLst/>
              <a:uFillTx/>
              <a:latin typeface="Arial" panose="020B0604020202020204"/>
            </a:endParaRPr>
          </a:p>
        </p:txBody>
      </p:sp>
      <p:sp>
        <p:nvSpPr>
          <p:cNvPr id="371" name="Shape 2"/>
          <p:cNvSpPr/>
          <p:nvPr/>
        </p:nvSpPr>
        <p:spPr>
          <a:xfrm>
            <a:off x="548640" y="1742760"/>
            <a:ext cx="6857640" cy="4331880"/>
          </a:xfrm>
          <a:prstGeom prst="roundRect">
            <a:avLst>
              <a:gd name="adj" fmla="val 1266"/>
            </a:avLst>
          </a:prstGeom>
          <a:solidFill>
            <a:srgbClr val="FFFFFF"/>
          </a:solidFill>
          <a:ln w="0">
            <a:noFill/>
          </a:ln>
          <a:effectLst>
            <a:outerShdw algn="bl" rotWithShape="0">
              <a:srgbClr val="8798AD">
                <a:alpha val="0"/>
              </a:srgbClr>
            </a:outerShdw>
          </a:effectLst>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pic>
        <p:nvPicPr>
          <p:cNvPr id="372" name="Image 0" descr="/tmp/claude-0/-home-claude/c0a8783c-8817-5425-bc4f-190e5f64548a/scratchpad/work/imgs/img_069.png"/>
          <p:cNvPicPr/>
          <p:nvPr/>
        </p:nvPicPr>
        <p:blipFill>
          <a:blip r:embed="rId1"/>
          <a:stretch>
            <a:fillRect/>
          </a:stretch>
        </p:blipFill>
        <p:spPr>
          <a:xfrm>
            <a:off x="658440" y="1852560"/>
            <a:ext cx="6638040" cy="4112640"/>
          </a:xfrm>
          <a:prstGeom prst="rect">
            <a:avLst/>
          </a:prstGeom>
          <a:noFill/>
          <a:ln w="0">
            <a:noFill/>
          </a:ln>
        </p:spPr>
      </p:pic>
      <p:sp>
        <p:nvSpPr>
          <p:cNvPr id="373" name="Shape 3"/>
          <p:cNvSpPr/>
          <p:nvPr/>
        </p:nvSpPr>
        <p:spPr>
          <a:xfrm>
            <a:off x="7772400" y="1600200"/>
            <a:ext cx="1416960" cy="456840"/>
          </a:xfrm>
          <a:prstGeom prst="roundRect">
            <a:avLst>
              <a:gd name="adj" fmla="val 50000"/>
            </a:avLst>
          </a:prstGeom>
          <a:solidFill>
            <a:srgbClr val="FF7A29"/>
          </a:solidFill>
          <a:ln w="0">
            <a:noFill/>
          </a:ln>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sp>
        <p:nvSpPr>
          <p:cNvPr id="374" name="Text 4"/>
          <p:cNvSpPr/>
          <p:nvPr/>
        </p:nvSpPr>
        <p:spPr>
          <a:xfrm>
            <a:off x="7772400" y="1600200"/>
            <a:ext cx="1416960" cy="4568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algn="ctr" defTabSz="914400">
              <a:lnSpc>
                <a:spcPct val="100000"/>
              </a:lnSpc>
              <a:tabLst>
                <a:tab pos="0" algn="l"/>
              </a:tabLst>
            </a:pPr>
            <a:r>
              <a:rPr lang="en-US" sz="1700" b="1" u="none" strike="noStrike">
                <a:solidFill>
                  <a:srgbClr val="FFFFFF"/>
                </a:solidFill>
                <a:effectLst/>
                <a:uFillTx/>
                <a:latin typeface="Calibri" panose="020F0502020204030204"/>
                <a:ea typeface="Calibri" panose="020F0502020204030204"/>
              </a:rPr>
              <a:t>r = 0.497</a:t>
            </a:r>
            <a:endParaRPr lang="es-ES" sz="1700" b="0" u="none" strike="noStrike">
              <a:solidFill>
                <a:srgbClr val="000000"/>
              </a:solidFill>
              <a:effectLst/>
              <a:uFillTx/>
              <a:latin typeface="Arial" panose="020B0604020202020204"/>
            </a:endParaRPr>
          </a:p>
        </p:txBody>
      </p:sp>
      <p:sp>
        <p:nvSpPr>
          <p:cNvPr id="375" name="Text 5"/>
          <p:cNvSpPr/>
          <p:nvPr/>
        </p:nvSpPr>
        <p:spPr>
          <a:xfrm>
            <a:off x="7772400" y="2221920"/>
            <a:ext cx="3870360" cy="17827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20000"/>
              </a:lnSpc>
              <a:tabLst>
                <a:tab pos="0" algn="l"/>
              </a:tabLst>
            </a:pPr>
            <a:r>
              <a:rPr lang="en-US" sz="1150" b="0" u="none" strike="noStrike">
                <a:solidFill>
                  <a:srgbClr val="12203D"/>
                </a:solidFill>
                <a:effectLst/>
                <a:uFillTx/>
                <a:latin typeface="Calibri" panose="020F0502020204030204"/>
                <a:ea typeface="Calibri" panose="020F0502020204030204"/>
              </a:rPr>
              <a:t>El triple pasó de ser un recurso marginal a casi 4 de cada 10 intentos de campo. El cambio de estilo ocurre por quiebres identificables entre eras, no de forma gradual y suave.</a:t>
            </a:r>
            <a:endParaRPr lang="es-ES" sz="1150" b="0" u="none" strike="noStrike">
              <a:solidFill>
                <a:srgbClr val="000000"/>
              </a:solidFill>
              <a:effectLst/>
              <a:uFillTx/>
              <a:latin typeface="Arial" panose="020B0604020202020204"/>
            </a:endParaRPr>
          </a:p>
        </p:txBody>
      </p:sp>
      <p:graphicFrame>
        <p:nvGraphicFramePr>
          <p:cNvPr id="376" name="Table 0"/>
          <p:cNvGraphicFramePr/>
          <p:nvPr/>
        </p:nvGraphicFramePr>
        <p:xfrm>
          <a:off x="7772400" y="4050720"/>
          <a:ext cx="3870360" cy="1444320"/>
        </p:xfrm>
        <a:graphic>
          <a:graphicData uri="http://schemas.openxmlformats.org/drawingml/2006/table">
            <a:tbl>
              <a:tblPr/>
              <a:tblGrid>
                <a:gridCol w="1315800"/>
                <a:gridCol w="2554560"/>
              </a:tblGrid>
              <a:tr h="255960">
                <a:tc>
                  <a:txBody>
                    <a:bodyPr>
                      <a:spAutoFit/>
                    </a:bodyPr>
                    <a:p>
                      <a:pPr defTabSz="914400">
                        <a:lnSpc>
                          <a:spcPct val="100000"/>
                        </a:lnSpc>
                        <a:tabLst>
                          <a:tab pos="0" algn="l"/>
                        </a:tabLst>
                      </a:pPr>
                      <a:r>
                        <a:rPr lang="en-US" sz="850" b="1" u="none" strike="noStrike">
                          <a:solidFill>
                            <a:srgbClr val="FFFFFF"/>
                          </a:solidFill>
                          <a:effectLst/>
                          <a:uFillTx/>
                          <a:latin typeface="Calibri" panose="020F0502020204030204"/>
                          <a:ea typeface="Calibri" panose="020F0502020204030204"/>
                        </a:rPr>
                        <a:t>Temp.</a:t>
                      </a:r>
                      <a:endParaRPr lang="es-ES" sz="8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c>
                  <a:txBody>
                    <a:bodyPr>
                      <a:spAutoFit/>
                    </a:bodyPr>
                    <a:p>
                      <a:pPr defTabSz="914400">
                        <a:lnSpc>
                          <a:spcPct val="100000"/>
                        </a:lnSpc>
                        <a:tabLst>
                          <a:tab pos="0" algn="l"/>
                        </a:tabLst>
                      </a:pPr>
                      <a:r>
                        <a:rPr lang="en-US" sz="850" b="1" u="none" strike="noStrike">
                          <a:solidFill>
                            <a:srgbClr val="FFFFFF"/>
                          </a:solidFill>
                          <a:effectLst/>
                          <a:uFillTx/>
                          <a:latin typeface="Calibri" panose="020F0502020204030204"/>
                          <a:ea typeface="Calibri" panose="020F0502020204030204"/>
                        </a:rPr>
                        <a:t>Prop. media de intentos de triple</a:t>
                      </a:r>
                      <a:endParaRPr lang="es-ES" sz="8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1982</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0.027</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1995</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0.165</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2005</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0.172</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2014</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0.267</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2022</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0.397</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r>
            </a:tbl>
          </a:graphicData>
        </a:graphic>
      </p:graphicFrame>
      <p:pic>
        <p:nvPicPr>
          <p:cNvPr id="377" name="Image 1" descr="/tmp/claude-0/-home-claude/c0a8783c-8817-5425-bc4f-190e5f64548a/scratchpad/work/icons/basketball_E1590F.png"/>
          <p:cNvPicPr/>
          <p:nvPr/>
        </p:nvPicPr>
        <p:blipFill>
          <a:blip r:embed="rId2"/>
          <a:stretch>
            <a:fillRect/>
          </a:stretch>
        </p:blipFill>
        <p:spPr>
          <a:xfrm>
            <a:off x="548640" y="6546960"/>
            <a:ext cx="145800" cy="145800"/>
          </a:xfrm>
          <a:prstGeom prst="rect">
            <a:avLst/>
          </a:prstGeom>
          <a:noFill/>
          <a:ln w="0">
            <a:noFill/>
          </a:ln>
        </p:spPr>
      </p:pic>
      <p:sp>
        <p:nvSpPr>
          <p:cNvPr id="378" name="Text 6"/>
          <p:cNvSpPr/>
          <p:nvPr/>
        </p:nvSpPr>
        <p:spPr>
          <a:xfrm>
            <a:off x="768240" y="6510600"/>
            <a:ext cx="45716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850" b="0" u="none" strike="noStrike">
                <a:solidFill>
                  <a:srgbClr val="5B6B85"/>
                </a:solidFill>
                <a:effectLst/>
                <a:uFillTx/>
                <a:latin typeface="Calibri" panose="020F0502020204030204"/>
                <a:ea typeface="Calibri" panose="020F0502020204030204"/>
              </a:rPr>
              <a:t>04 · Bivariado · 3/8</a:t>
            </a:r>
            <a:endParaRPr lang="es-ES" sz="850" b="0" u="none" strike="noStrike">
              <a:solidFill>
                <a:srgbClr val="000000"/>
              </a:solidFill>
              <a:effectLst/>
              <a:uFillTx/>
              <a:latin typeface="Arial" panose="020B0604020202020204"/>
            </a:endParaRPr>
          </a:p>
        </p:txBody>
      </p:sp>
      <p:sp>
        <p:nvSpPr>
          <p:cNvPr id="379" name="Text 7"/>
          <p:cNvSpPr/>
          <p:nvPr/>
        </p:nvSpPr>
        <p:spPr>
          <a:xfrm>
            <a:off x="10271520" y="6510600"/>
            <a:ext cx="1371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algn="r" defTabSz="914400">
              <a:lnSpc>
                <a:spcPct val="100000"/>
              </a:lnSpc>
              <a:tabLst>
                <a:tab pos="0" algn="l"/>
              </a:tabLst>
            </a:pPr>
            <a:r>
              <a:rPr lang="en-US" sz="850" b="0" u="none" strike="noStrike">
                <a:solidFill>
                  <a:srgbClr val="5B6B85"/>
                </a:solidFill>
                <a:effectLst/>
                <a:uFillTx/>
                <a:latin typeface="Calibri" panose="020F0502020204030204"/>
                <a:ea typeface="Calibri" panose="020F0502020204030204"/>
              </a:rPr>
              <a:t>15 / 23</a:t>
            </a:r>
            <a:endParaRPr lang="es-ES" sz="850" b="0" u="none" strike="noStrike">
              <a:solidFill>
                <a:srgbClr val="000000"/>
              </a:solidFill>
              <a:effectLst/>
              <a:uFillTx/>
              <a:latin typeface="Arial" panose="020B0604020202020204"/>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4F6F9"/>
        </a:solidFill>
        <a:effectLst/>
      </p:bgPr>
    </p:bg>
    <p:spTree>
      <p:nvGrpSpPr>
        <p:cNvPr id="1" name=""/>
        <p:cNvGrpSpPr/>
        <p:nvPr/>
      </p:nvGrpSpPr>
      <p:grpSpPr>
        <a:xfrm>
          <a:off x="0" y="0"/>
          <a:ext cx="0" cy="0"/>
          <a:chOff x="0" y="0"/>
          <a:chExt cx="0" cy="0"/>
        </a:xfrm>
      </p:grpSpPr>
      <p:sp>
        <p:nvSpPr>
          <p:cNvPr id="380" name="Text 0"/>
          <p:cNvSpPr/>
          <p:nvPr/>
        </p:nvSpPr>
        <p:spPr>
          <a:xfrm>
            <a:off x="548640" y="411480"/>
            <a:ext cx="7314840" cy="2923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1150" b="1" u="none" strike="noStrike" spc="201">
                <a:solidFill>
                  <a:srgbClr val="E1590F"/>
                </a:solidFill>
                <a:effectLst/>
                <a:uFillTx/>
                <a:latin typeface="Calibri" panose="020F0502020204030204"/>
                <a:ea typeface="Calibri" panose="020F0502020204030204"/>
              </a:rPr>
              <a:t>04 · ANÁLISIS BIVARIADO</a:t>
            </a:r>
            <a:endParaRPr lang="es-ES" sz="1150" b="0" u="none" strike="noStrike">
              <a:solidFill>
                <a:srgbClr val="000000"/>
              </a:solidFill>
              <a:effectLst/>
              <a:uFillTx/>
              <a:latin typeface="Arial" panose="020B0604020202020204"/>
            </a:endParaRPr>
          </a:p>
        </p:txBody>
      </p:sp>
      <p:sp>
        <p:nvSpPr>
          <p:cNvPr id="381" name="Text 1"/>
          <p:cNvSpPr/>
          <p:nvPr/>
        </p:nvSpPr>
        <p:spPr>
          <a:xfrm>
            <a:off x="548640" y="749880"/>
            <a:ext cx="11094120" cy="77688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2000"/>
              </a:lnSpc>
              <a:tabLst>
                <a:tab pos="0" algn="l"/>
              </a:tabLst>
            </a:pPr>
            <a:r>
              <a:rPr lang="en-US" sz="2400" b="1" u="none" strike="noStrike">
                <a:solidFill>
                  <a:srgbClr val="0B1E3D"/>
                </a:solidFill>
                <a:effectLst/>
                <a:uFillTx/>
                <a:latin typeface="Calibri" panose="020F0502020204030204"/>
                <a:ea typeface="Calibri" panose="020F0502020204030204"/>
              </a:rPr>
              <a:t>Rebote (TRB%) vs. creación de juego (AST%)</a:t>
            </a:r>
            <a:endParaRPr lang="es-ES" sz="2400" b="0" u="none" strike="noStrike">
              <a:solidFill>
                <a:srgbClr val="000000"/>
              </a:solidFill>
              <a:effectLst/>
              <a:uFillTx/>
              <a:latin typeface="Arial" panose="020B0604020202020204"/>
            </a:endParaRPr>
          </a:p>
        </p:txBody>
      </p:sp>
      <p:sp>
        <p:nvSpPr>
          <p:cNvPr id="382" name="Shape 2"/>
          <p:cNvSpPr/>
          <p:nvPr/>
        </p:nvSpPr>
        <p:spPr>
          <a:xfrm>
            <a:off x="548640" y="2004120"/>
            <a:ext cx="6857640" cy="3809520"/>
          </a:xfrm>
          <a:prstGeom prst="roundRect">
            <a:avLst>
              <a:gd name="adj" fmla="val 1440"/>
            </a:avLst>
          </a:prstGeom>
          <a:solidFill>
            <a:srgbClr val="FFFFFF"/>
          </a:solidFill>
          <a:ln w="0">
            <a:noFill/>
          </a:ln>
          <a:effectLst>
            <a:outerShdw algn="bl" rotWithShape="0">
              <a:srgbClr val="8798AD">
                <a:alpha val="0"/>
              </a:srgbClr>
            </a:outerShdw>
          </a:effectLst>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pic>
        <p:nvPicPr>
          <p:cNvPr id="383" name="Image 0" descr="/tmp/claude-0/-home-claude/c0a8783c-8817-5425-bc4f-190e5f64548a/scratchpad/work/imgs/img_rebote_westbrook.png"/>
          <p:cNvPicPr/>
          <p:nvPr/>
        </p:nvPicPr>
        <p:blipFill>
          <a:blip r:embed="rId1"/>
          <a:stretch>
            <a:fillRect/>
          </a:stretch>
        </p:blipFill>
        <p:spPr>
          <a:xfrm>
            <a:off x="658440" y="2113920"/>
            <a:ext cx="6638040" cy="3590280"/>
          </a:xfrm>
          <a:prstGeom prst="rect">
            <a:avLst/>
          </a:prstGeom>
          <a:noFill/>
          <a:ln w="0">
            <a:noFill/>
          </a:ln>
        </p:spPr>
      </p:pic>
      <p:sp>
        <p:nvSpPr>
          <p:cNvPr id="384" name="Shape 3"/>
          <p:cNvSpPr/>
          <p:nvPr/>
        </p:nvSpPr>
        <p:spPr>
          <a:xfrm>
            <a:off x="7772400" y="1600200"/>
            <a:ext cx="1416960" cy="456840"/>
          </a:xfrm>
          <a:prstGeom prst="roundRect">
            <a:avLst>
              <a:gd name="adj" fmla="val 50000"/>
            </a:avLst>
          </a:prstGeom>
          <a:solidFill>
            <a:srgbClr val="FF7A29"/>
          </a:solidFill>
          <a:ln w="0">
            <a:noFill/>
          </a:ln>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sp>
        <p:nvSpPr>
          <p:cNvPr id="385" name="Text 4"/>
          <p:cNvSpPr/>
          <p:nvPr/>
        </p:nvSpPr>
        <p:spPr>
          <a:xfrm>
            <a:off x="7772400" y="1600200"/>
            <a:ext cx="1416960" cy="4568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algn="ctr" defTabSz="914400">
              <a:lnSpc>
                <a:spcPct val="100000"/>
              </a:lnSpc>
              <a:tabLst>
                <a:tab pos="0" algn="l"/>
              </a:tabLst>
            </a:pPr>
            <a:r>
              <a:rPr lang="en-US" sz="1700" b="1" u="none" strike="noStrike">
                <a:solidFill>
                  <a:srgbClr val="FFFFFF"/>
                </a:solidFill>
                <a:effectLst/>
                <a:uFillTx/>
                <a:latin typeface="Calibri" panose="020F0502020204030204"/>
                <a:ea typeface="Calibri" panose="020F0502020204030204"/>
              </a:rPr>
              <a:t>r = -0.504</a:t>
            </a:r>
            <a:endParaRPr lang="es-ES" sz="1700" b="0" u="none" strike="noStrike">
              <a:solidFill>
                <a:srgbClr val="000000"/>
              </a:solidFill>
              <a:effectLst/>
              <a:uFillTx/>
              <a:latin typeface="Arial" panose="020B0604020202020204"/>
            </a:endParaRPr>
          </a:p>
        </p:txBody>
      </p:sp>
      <p:sp>
        <p:nvSpPr>
          <p:cNvPr id="386" name="Text 5"/>
          <p:cNvSpPr/>
          <p:nvPr/>
        </p:nvSpPr>
        <p:spPr>
          <a:xfrm>
            <a:off x="7772400" y="2221920"/>
            <a:ext cx="3870360" cy="17827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20000"/>
              </a:lnSpc>
              <a:tabLst>
                <a:tab pos="0" algn="l"/>
              </a:tabLst>
            </a:pPr>
            <a:r>
              <a:rPr lang="en-US" sz="1150" b="0" u="none" strike="noStrike">
                <a:solidFill>
                  <a:srgbClr val="12203D"/>
                </a:solidFill>
                <a:effectLst/>
                <a:uFillTx/>
                <a:latin typeface="Calibri" panose="020F0502020204030204"/>
                <a:ea typeface="Calibri" panose="020F0502020204030204"/>
              </a:rPr>
              <a:t>Un trade-off posicional claro: a más rebote, menos asistencias, en promedio. La temporada señalada en el gráfico —Russell Westbrook, 2017— es el mayor outlier del dataset: 57,3% de AST% con 17,1% de TRB%, un base que rebota como interior sin dejar de repartir.</a:t>
            </a:r>
            <a:endParaRPr lang="es-ES" sz="1150" b="0" u="none" strike="noStrike">
              <a:solidFill>
                <a:srgbClr val="000000"/>
              </a:solidFill>
              <a:effectLst/>
              <a:uFillTx/>
              <a:latin typeface="Arial" panose="020B0604020202020204"/>
            </a:endParaRPr>
          </a:p>
        </p:txBody>
      </p:sp>
      <p:graphicFrame>
        <p:nvGraphicFramePr>
          <p:cNvPr id="387" name="Table 0"/>
          <p:cNvGraphicFramePr/>
          <p:nvPr/>
        </p:nvGraphicFramePr>
        <p:xfrm>
          <a:off x="7772400" y="4050720"/>
          <a:ext cx="3870360" cy="1444320"/>
        </p:xfrm>
        <a:graphic>
          <a:graphicData uri="http://schemas.openxmlformats.org/drawingml/2006/table">
            <a:tbl>
              <a:tblPr/>
              <a:tblGrid>
                <a:gridCol w="1315800"/>
                <a:gridCol w="638640"/>
                <a:gridCol w="638640"/>
                <a:gridCol w="638640"/>
                <a:gridCol w="638640"/>
              </a:tblGrid>
              <a:tr h="255960">
                <a:tc>
                  <a:txBody>
                    <a:bodyPr>
                      <a:spAutoFit/>
                    </a:bodyPr>
                    <a:p>
                      <a:pPr defTabSz="914400">
                        <a:lnSpc>
                          <a:spcPct val="100000"/>
                        </a:lnSpc>
                        <a:tabLst>
                          <a:tab pos="0" algn="l"/>
                        </a:tabLst>
                      </a:pPr>
                      <a:r>
                        <a:rPr lang="en-US" sz="850" b="1" u="none" strike="noStrike">
                          <a:solidFill>
                            <a:srgbClr val="FFFFFF"/>
                          </a:solidFill>
                          <a:effectLst/>
                          <a:uFillTx/>
                          <a:latin typeface="Calibri" panose="020F0502020204030204"/>
                          <a:ea typeface="Calibri" panose="020F0502020204030204"/>
                        </a:rPr>
                        <a:t>Jugador</a:t>
                      </a:r>
                      <a:endParaRPr lang="es-ES" sz="8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c>
                  <a:txBody>
                    <a:bodyPr>
                      <a:spAutoFit/>
                    </a:bodyPr>
                    <a:p>
                      <a:pPr defTabSz="914400">
                        <a:lnSpc>
                          <a:spcPct val="100000"/>
                        </a:lnSpc>
                        <a:tabLst>
                          <a:tab pos="0" algn="l"/>
                        </a:tabLst>
                      </a:pPr>
                      <a:r>
                        <a:rPr lang="en-US" sz="850" b="1" u="none" strike="noStrike">
                          <a:solidFill>
                            <a:srgbClr val="FFFFFF"/>
                          </a:solidFill>
                          <a:effectLst/>
                          <a:uFillTx/>
                          <a:latin typeface="Calibri" panose="020F0502020204030204"/>
                          <a:ea typeface="Calibri" panose="020F0502020204030204"/>
                        </a:rPr>
                        <a:t>Temp.</a:t>
                      </a:r>
                      <a:endParaRPr lang="es-ES" sz="8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c>
                  <a:txBody>
                    <a:bodyPr>
                      <a:spAutoFit/>
                    </a:bodyPr>
                    <a:p>
                      <a:pPr defTabSz="914400">
                        <a:lnSpc>
                          <a:spcPct val="100000"/>
                        </a:lnSpc>
                        <a:tabLst>
                          <a:tab pos="0" algn="l"/>
                        </a:tabLst>
                      </a:pPr>
                      <a:r>
                        <a:rPr lang="en-US" sz="850" b="1" u="none" strike="noStrike">
                          <a:solidFill>
                            <a:srgbClr val="FFFFFF"/>
                          </a:solidFill>
                          <a:effectLst/>
                          <a:uFillTx/>
                          <a:latin typeface="Calibri" panose="020F0502020204030204"/>
                          <a:ea typeface="Calibri" panose="020F0502020204030204"/>
                        </a:rPr>
                        <a:t>Pos.</a:t>
                      </a:r>
                      <a:endParaRPr lang="es-ES" sz="8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c>
                  <a:txBody>
                    <a:bodyPr>
                      <a:spAutoFit/>
                    </a:bodyPr>
                    <a:p>
                      <a:pPr defTabSz="914400">
                        <a:lnSpc>
                          <a:spcPct val="100000"/>
                        </a:lnSpc>
                        <a:tabLst>
                          <a:tab pos="0" algn="l"/>
                        </a:tabLst>
                      </a:pPr>
                      <a:r>
                        <a:rPr lang="en-US" sz="850" b="1" u="none" strike="noStrike">
                          <a:solidFill>
                            <a:srgbClr val="FFFFFF"/>
                          </a:solidFill>
                          <a:effectLst/>
                          <a:uFillTx/>
                          <a:latin typeface="Calibri" panose="020F0502020204030204"/>
                          <a:ea typeface="Calibri" panose="020F0502020204030204"/>
                        </a:rPr>
                        <a:t>TRB%</a:t>
                      </a:r>
                      <a:endParaRPr lang="es-ES" sz="8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c>
                  <a:txBody>
                    <a:bodyPr>
                      <a:spAutoFit/>
                    </a:bodyPr>
                    <a:p>
                      <a:pPr defTabSz="914400">
                        <a:lnSpc>
                          <a:spcPct val="100000"/>
                        </a:lnSpc>
                        <a:tabLst>
                          <a:tab pos="0" algn="l"/>
                        </a:tabLst>
                      </a:pPr>
                      <a:r>
                        <a:rPr lang="en-US" sz="850" b="1" u="none" strike="noStrike">
                          <a:solidFill>
                            <a:srgbClr val="FFFFFF"/>
                          </a:solidFill>
                          <a:effectLst/>
                          <a:uFillTx/>
                          <a:latin typeface="Calibri" panose="020F0502020204030204"/>
                          <a:ea typeface="Calibri" panose="020F0502020204030204"/>
                        </a:rPr>
                        <a:t>AST%</a:t>
                      </a:r>
                      <a:endParaRPr lang="es-ES" sz="8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David Robinson</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1994</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C</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14.8</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21.6</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Kevin Garnett</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2004</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PF</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20.1</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24.4</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Nikola Jokić</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2022</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C</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23.0</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42.6</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Russell Westbrook</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2017</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PG</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17.1</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57.3</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Kevin Garnett</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2005</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PF</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20.3</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27.1</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r>
            </a:tbl>
          </a:graphicData>
        </a:graphic>
      </p:graphicFrame>
      <p:pic>
        <p:nvPicPr>
          <p:cNvPr id="388" name="Image 1" descr="/tmp/claude-0/-home-claude/c0a8783c-8817-5425-bc4f-190e5f64548a/scratchpad/work/icons/basketball_E1590F.png"/>
          <p:cNvPicPr/>
          <p:nvPr/>
        </p:nvPicPr>
        <p:blipFill>
          <a:blip r:embed="rId2"/>
          <a:stretch>
            <a:fillRect/>
          </a:stretch>
        </p:blipFill>
        <p:spPr>
          <a:xfrm>
            <a:off x="548640" y="6546960"/>
            <a:ext cx="145800" cy="145800"/>
          </a:xfrm>
          <a:prstGeom prst="rect">
            <a:avLst/>
          </a:prstGeom>
          <a:noFill/>
          <a:ln w="0">
            <a:noFill/>
          </a:ln>
        </p:spPr>
      </p:pic>
      <p:sp>
        <p:nvSpPr>
          <p:cNvPr id="389" name="Text 6"/>
          <p:cNvSpPr/>
          <p:nvPr/>
        </p:nvSpPr>
        <p:spPr>
          <a:xfrm>
            <a:off x="768240" y="6510600"/>
            <a:ext cx="45716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850" b="0" u="none" strike="noStrike">
                <a:solidFill>
                  <a:srgbClr val="5B6B85"/>
                </a:solidFill>
                <a:effectLst/>
                <a:uFillTx/>
                <a:latin typeface="Calibri" panose="020F0502020204030204"/>
                <a:ea typeface="Calibri" panose="020F0502020204030204"/>
              </a:rPr>
              <a:t>04 · Bivariado · 4/8</a:t>
            </a:r>
            <a:endParaRPr lang="es-ES" sz="850" b="0" u="none" strike="noStrike">
              <a:solidFill>
                <a:srgbClr val="000000"/>
              </a:solidFill>
              <a:effectLst/>
              <a:uFillTx/>
              <a:latin typeface="Arial" panose="020B0604020202020204"/>
            </a:endParaRPr>
          </a:p>
        </p:txBody>
      </p:sp>
      <p:sp>
        <p:nvSpPr>
          <p:cNvPr id="390" name="Text 7"/>
          <p:cNvSpPr/>
          <p:nvPr/>
        </p:nvSpPr>
        <p:spPr>
          <a:xfrm>
            <a:off x="10271520" y="6510600"/>
            <a:ext cx="1371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algn="r" defTabSz="914400">
              <a:lnSpc>
                <a:spcPct val="100000"/>
              </a:lnSpc>
              <a:tabLst>
                <a:tab pos="0" algn="l"/>
              </a:tabLst>
            </a:pPr>
            <a:r>
              <a:rPr lang="en-US" sz="850" b="0" u="none" strike="noStrike">
                <a:solidFill>
                  <a:srgbClr val="5B6B85"/>
                </a:solidFill>
                <a:effectLst/>
                <a:uFillTx/>
                <a:latin typeface="Calibri" panose="020F0502020204030204"/>
                <a:ea typeface="Calibri" panose="020F0502020204030204"/>
              </a:rPr>
              <a:t>16 / 23</a:t>
            </a:r>
            <a:endParaRPr lang="es-ES" sz="850" b="0" u="none" strike="noStrike">
              <a:solidFill>
                <a:srgbClr val="000000"/>
              </a:solidFill>
              <a:effectLst/>
              <a:uFillTx/>
              <a:latin typeface="Arial" panose="020B0604020202020204"/>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4F6F9"/>
        </a:solidFill>
        <a:effectLst/>
      </p:bgPr>
    </p:bg>
    <p:spTree>
      <p:nvGrpSpPr>
        <p:cNvPr id="1" name=""/>
        <p:cNvGrpSpPr/>
        <p:nvPr/>
      </p:nvGrpSpPr>
      <p:grpSpPr>
        <a:xfrm>
          <a:off x="0" y="0"/>
          <a:ext cx="0" cy="0"/>
          <a:chOff x="0" y="0"/>
          <a:chExt cx="0" cy="0"/>
        </a:xfrm>
      </p:grpSpPr>
      <p:sp>
        <p:nvSpPr>
          <p:cNvPr id="380" name="Text 0"/>
          <p:cNvSpPr/>
          <p:nvPr/>
        </p:nvSpPr>
        <p:spPr>
          <a:xfrm>
            <a:off x="548640" y="411480"/>
            <a:ext cx="7314840" cy="2923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1150" b="1" u="none" strike="noStrike" spc="201">
                <a:solidFill>
                  <a:srgbClr val="E1590F"/>
                </a:solidFill>
                <a:effectLst/>
                <a:uFillTx/>
                <a:latin typeface="Calibri" panose="020F0502020204030204"/>
                <a:ea typeface="Calibri" panose="020F0502020204030204"/>
              </a:rPr>
              <a:t>04 · ANÁLISIS BIVARIADO</a:t>
            </a:r>
            <a:endParaRPr lang="es-ES" sz="1150" b="0" u="none" strike="noStrike">
              <a:solidFill>
                <a:srgbClr val="000000"/>
              </a:solidFill>
              <a:effectLst/>
              <a:uFillTx/>
              <a:latin typeface="Arial" panose="020B0604020202020204"/>
            </a:endParaRPr>
          </a:p>
        </p:txBody>
      </p:sp>
      <p:sp>
        <p:nvSpPr>
          <p:cNvPr id="381" name="Text 1"/>
          <p:cNvSpPr/>
          <p:nvPr/>
        </p:nvSpPr>
        <p:spPr>
          <a:xfrm>
            <a:off x="548640" y="749880"/>
            <a:ext cx="11094120" cy="77688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2000"/>
              </a:lnSpc>
              <a:tabLst>
                <a:tab pos="0" algn="l"/>
              </a:tabLst>
            </a:pPr>
            <a:r>
              <a:rPr lang="en-US" sz="2400" b="1" u="none" strike="noStrike">
                <a:solidFill>
                  <a:srgbClr val="0B1E3D"/>
                </a:solidFill>
                <a:effectLst/>
                <a:uFillTx/>
                <a:latin typeface="Calibri" panose="020F0502020204030204"/>
                <a:ea typeface="Calibri" panose="020F0502020204030204"/>
              </a:rPr>
              <a:t>Rebote (TRB%) vs. creación de juego (AST%)</a:t>
            </a:r>
            <a:endParaRPr lang="es-ES" sz="2400" b="0" u="none" strike="noStrike">
              <a:solidFill>
                <a:srgbClr val="000000"/>
              </a:solidFill>
              <a:effectLst/>
              <a:uFillTx/>
              <a:latin typeface="Arial" panose="020B0604020202020204"/>
            </a:endParaRPr>
          </a:p>
        </p:txBody>
      </p:sp>
      <p:sp>
        <p:nvSpPr>
          <p:cNvPr id="384" name="Shape 3"/>
          <p:cNvSpPr/>
          <p:nvPr/>
        </p:nvSpPr>
        <p:spPr>
          <a:xfrm>
            <a:off x="7772400" y="1600200"/>
            <a:ext cx="1416960" cy="456840"/>
          </a:xfrm>
          <a:prstGeom prst="roundRect">
            <a:avLst>
              <a:gd name="adj" fmla="val 50000"/>
            </a:avLst>
          </a:prstGeom>
          <a:solidFill>
            <a:srgbClr val="FF7A29"/>
          </a:solidFill>
          <a:ln w="0">
            <a:noFill/>
          </a:ln>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sp>
        <p:nvSpPr>
          <p:cNvPr id="385" name="Text 4"/>
          <p:cNvSpPr/>
          <p:nvPr/>
        </p:nvSpPr>
        <p:spPr>
          <a:xfrm>
            <a:off x="7772400" y="1600200"/>
            <a:ext cx="1416960" cy="4568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algn="ctr" defTabSz="914400">
              <a:lnSpc>
                <a:spcPct val="100000"/>
              </a:lnSpc>
              <a:tabLst>
                <a:tab pos="0" algn="l"/>
              </a:tabLst>
            </a:pPr>
            <a:r>
              <a:rPr lang="en-US" sz="1700" b="1" u="none" strike="noStrike">
                <a:solidFill>
                  <a:srgbClr val="FFFFFF"/>
                </a:solidFill>
                <a:effectLst/>
                <a:uFillTx/>
                <a:latin typeface="Calibri" panose="020F0502020204030204"/>
                <a:ea typeface="Calibri" panose="020F0502020204030204"/>
              </a:rPr>
              <a:t>r = -0.504</a:t>
            </a:r>
            <a:endParaRPr lang="es-ES" sz="1700" b="0" u="none" strike="noStrike">
              <a:solidFill>
                <a:srgbClr val="000000"/>
              </a:solidFill>
              <a:effectLst/>
              <a:uFillTx/>
              <a:latin typeface="Arial" panose="020B0604020202020204"/>
            </a:endParaRPr>
          </a:p>
        </p:txBody>
      </p:sp>
      <p:sp>
        <p:nvSpPr>
          <p:cNvPr id="386" name="Text 5"/>
          <p:cNvSpPr/>
          <p:nvPr/>
        </p:nvSpPr>
        <p:spPr>
          <a:xfrm>
            <a:off x="7772400" y="2221920"/>
            <a:ext cx="3870360" cy="17827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20000"/>
              </a:lnSpc>
              <a:tabLst>
                <a:tab pos="0" algn="l"/>
              </a:tabLst>
            </a:pPr>
            <a:r>
              <a:rPr lang="en-US" sz="1150" b="0" u="none" strike="noStrike">
                <a:solidFill>
                  <a:srgbClr val="12203D"/>
                </a:solidFill>
                <a:effectLst/>
                <a:uFillTx/>
                <a:latin typeface="Calibri" panose="020F0502020204030204"/>
                <a:ea typeface="Calibri" panose="020F0502020204030204"/>
              </a:rPr>
              <a:t>Un trade-off posicional claro: a más rebote, menos asistencias, en promedio. La temporada señalada en el gráfico —Russell Westbrook, 2017— es el mayor outlier del dataset: 57,3% de AST% con 17,1% de TRB%, un base que rebota como interior sin dejar de repartir.</a:t>
            </a:r>
            <a:endParaRPr lang="es-ES" sz="1150" b="0" u="none" strike="noStrike">
              <a:solidFill>
                <a:srgbClr val="000000"/>
              </a:solidFill>
              <a:effectLst/>
              <a:uFillTx/>
              <a:latin typeface="Arial" panose="020B0604020202020204"/>
            </a:endParaRPr>
          </a:p>
        </p:txBody>
      </p:sp>
      <p:graphicFrame>
        <p:nvGraphicFramePr>
          <p:cNvPr id="387" name="Table 0"/>
          <p:cNvGraphicFramePr/>
          <p:nvPr/>
        </p:nvGraphicFramePr>
        <p:xfrm>
          <a:off x="7772400" y="4050720"/>
          <a:ext cx="3870360" cy="1444320"/>
        </p:xfrm>
        <a:graphic>
          <a:graphicData uri="http://schemas.openxmlformats.org/drawingml/2006/table">
            <a:tbl>
              <a:tblPr/>
              <a:tblGrid>
                <a:gridCol w="1315800"/>
                <a:gridCol w="638640"/>
                <a:gridCol w="638640"/>
                <a:gridCol w="638640"/>
                <a:gridCol w="638640"/>
              </a:tblGrid>
              <a:tr h="255960">
                <a:tc>
                  <a:txBody>
                    <a:bodyPr>
                      <a:spAutoFit/>
                    </a:bodyPr>
                    <a:p>
                      <a:pPr defTabSz="914400">
                        <a:lnSpc>
                          <a:spcPct val="100000"/>
                        </a:lnSpc>
                        <a:tabLst>
                          <a:tab pos="0" algn="l"/>
                        </a:tabLst>
                      </a:pPr>
                      <a:r>
                        <a:rPr lang="en-US" sz="850" b="1" u="none" strike="noStrike">
                          <a:solidFill>
                            <a:srgbClr val="FFFFFF"/>
                          </a:solidFill>
                          <a:effectLst/>
                          <a:uFillTx/>
                          <a:latin typeface="Calibri" panose="020F0502020204030204"/>
                          <a:ea typeface="Calibri" panose="020F0502020204030204"/>
                        </a:rPr>
                        <a:t>Jugador</a:t>
                      </a:r>
                      <a:endParaRPr lang="es-ES" sz="8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c>
                  <a:txBody>
                    <a:bodyPr>
                      <a:spAutoFit/>
                    </a:bodyPr>
                    <a:p>
                      <a:pPr defTabSz="914400">
                        <a:lnSpc>
                          <a:spcPct val="100000"/>
                        </a:lnSpc>
                        <a:tabLst>
                          <a:tab pos="0" algn="l"/>
                        </a:tabLst>
                      </a:pPr>
                      <a:r>
                        <a:rPr lang="en-US" sz="850" b="1" u="none" strike="noStrike">
                          <a:solidFill>
                            <a:srgbClr val="FFFFFF"/>
                          </a:solidFill>
                          <a:effectLst/>
                          <a:uFillTx/>
                          <a:latin typeface="Calibri" panose="020F0502020204030204"/>
                          <a:ea typeface="Calibri" panose="020F0502020204030204"/>
                        </a:rPr>
                        <a:t>Temp.</a:t>
                      </a:r>
                      <a:endParaRPr lang="es-ES" sz="8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c>
                  <a:txBody>
                    <a:bodyPr>
                      <a:spAutoFit/>
                    </a:bodyPr>
                    <a:p>
                      <a:pPr defTabSz="914400">
                        <a:lnSpc>
                          <a:spcPct val="100000"/>
                        </a:lnSpc>
                        <a:tabLst>
                          <a:tab pos="0" algn="l"/>
                        </a:tabLst>
                      </a:pPr>
                      <a:r>
                        <a:rPr lang="en-US" sz="850" b="1" u="none" strike="noStrike">
                          <a:solidFill>
                            <a:srgbClr val="FFFFFF"/>
                          </a:solidFill>
                          <a:effectLst/>
                          <a:uFillTx/>
                          <a:latin typeface="Calibri" panose="020F0502020204030204"/>
                          <a:ea typeface="Calibri" panose="020F0502020204030204"/>
                        </a:rPr>
                        <a:t>Pos.</a:t>
                      </a:r>
                      <a:endParaRPr lang="es-ES" sz="8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c>
                  <a:txBody>
                    <a:bodyPr>
                      <a:spAutoFit/>
                    </a:bodyPr>
                    <a:p>
                      <a:pPr defTabSz="914400">
                        <a:lnSpc>
                          <a:spcPct val="100000"/>
                        </a:lnSpc>
                        <a:tabLst>
                          <a:tab pos="0" algn="l"/>
                        </a:tabLst>
                      </a:pPr>
                      <a:r>
                        <a:rPr lang="en-US" sz="850" b="1" u="none" strike="noStrike">
                          <a:solidFill>
                            <a:srgbClr val="FFFFFF"/>
                          </a:solidFill>
                          <a:effectLst/>
                          <a:uFillTx/>
                          <a:latin typeface="Calibri" panose="020F0502020204030204"/>
                          <a:ea typeface="Calibri" panose="020F0502020204030204"/>
                        </a:rPr>
                        <a:t>TRB%</a:t>
                      </a:r>
                      <a:endParaRPr lang="es-ES" sz="8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c>
                  <a:txBody>
                    <a:bodyPr>
                      <a:spAutoFit/>
                    </a:bodyPr>
                    <a:p>
                      <a:pPr defTabSz="914400">
                        <a:lnSpc>
                          <a:spcPct val="100000"/>
                        </a:lnSpc>
                        <a:tabLst>
                          <a:tab pos="0" algn="l"/>
                        </a:tabLst>
                      </a:pPr>
                      <a:r>
                        <a:rPr lang="en-US" sz="850" b="1" u="none" strike="noStrike">
                          <a:solidFill>
                            <a:srgbClr val="FFFFFF"/>
                          </a:solidFill>
                          <a:effectLst/>
                          <a:uFillTx/>
                          <a:latin typeface="Calibri" panose="020F0502020204030204"/>
                          <a:ea typeface="Calibri" panose="020F0502020204030204"/>
                        </a:rPr>
                        <a:t>AST%</a:t>
                      </a:r>
                      <a:endParaRPr lang="es-ES" sz="8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David Robinson</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1994</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C</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14.8</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21.6</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Kevin Garnett</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2004</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PF</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20.1</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24.4</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Nikola Jokić</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2022</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C</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23.0</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42.6</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Russell Westbrook</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2017</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PG</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17.1</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57.3</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Kevin Garnett</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2005</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PF</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20.3</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27.1</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r>
            </a:tbl>
          </a:graphicData>
        </a:graphic>
      </p:graphicFrame>
      <p:pic>
        <p:nvPicPr>
          <p:cNvPr id="388" name="Image 1" descr="/tmp/claude-0/-home-claude/c0a8783c-8817-5425-bc4f-190e5f64548a/scratchpad/work/icons/basketball_E1590F.png"/>
          <p:cNvPicPr/>
          <p:nvPr/>
        </p:nvPicPr>
        <p:blipFill>
          <a:blip r:embed="rId1"/>
          <a:stretch>
            <a:fillRect/>
          </a:stretch>
        </p:blipFill>
        <p:spPr>
          <a:xfrm>
            <a:off x="548640" y="6546960"/>
            <a:ext cx="145800" cy="145800"/>
          </a:xfrm>
          <a:prstGeom prst="rect">
            <a:avLst/>
          </a:prstGeom>
          <a:noFill/>
          <a:ln w="0">
            <a:noFill/>
          </a:ln>
        </p:spPr>
      </p:pic>
      <p:sp>
        <p:nvSpPr>
          <p:cNvPr id="389" name="Text 6"/>
          <p:cNvSpPr/>
          <p:nvPr/>
        </p:nvSpPr>
        <p:spPr>
          <a:xfrm>
            <a:off x="768240" y="6510600"/>
            <a:ext cx="45716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850" b="0" u="none" strike="noStrike">
                <a:solidFill>
                  <a:srgbClr val="5B6B85"/>
                </a:solidFill>
                <a:effectLst/>
                <a:uFillTx/>
                <a:latin typeface="Calibri" panose="020F0502020204030204"/>
                <a:ea typeface="Calibri" panose="020F0502020204030204"/>
              </a:rPr>
              <a:t>04 · Bivariado · 4/8</a:t>
            </a:r>
            <a:endParaRPr lang="es-ES" sz="850" b="0" u="none" strike="noStrike">
              <a:solidFill>
                <a:srgbClr val="000000"/>
              </a:solidFill>
              <a:effectLst/>
              <a:uFillTx/>
              <a:latin typeface="Arial" panose="020B0604020202020204"/>
            </a:endParaRPr>
          </a:p>
        </p:txBody>
      </p:sp>
      <p:sp>
        <p:nvSpPr>
          <p:cNvPr id="390" name="Text 7"/>
          <p:cNvSpPr/>
          <p:nvPr/>
        </p:nvSpPr>
        <p:spPr>
          <a:xfrm>
            <a:off x="10271520" y="6510600"/>
            <a:ext cx="1371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algn="r" defTabSz="914400">
              <a:lnSpc>
                <a:spcPct val="100000"/>
              </a:lnSpc>
              <a:tabLst>
                <a:tab pos="0" algn="l"/>
              </a:tabLst>
            </a:pPr>
            <a:r>
              <a:rPr lang="en-US" sz="850" b="0" u="none" strike="noStrike">
                <a:solidFill>
                  <a:srgbClr val="5B6B85"/>
                </a:solidFill>
                <a:effectLst/>
                <a:uFillTx/>
                <a:latin typeface="Calibri" panose="020F0502020204030204"/>
                <a:ea typeface="Calibri" panose="020F0502020204030204"/>
              </a:rPr>
              <a:t>16 / 23</a:t>
            </a:r>
            <a:endParaRPr lang="es-ES" sz="850" b="0" u="none" strike="noStrike">
              <a:solidFill>
                <a:srgbClr val="000000"/>
              </a:solidFill>
              <a:effectLst/>
              <a:uFillTx/>
              <a:latin typeface="Arial" panose="020B0604020202020204"/>
            </a:endParaRPr>
          </a:p>
        </p:txBody>
      </p:sp>
      <p:pic>
        <p:nvPicPr>
          <p:cNvPr id="2" name="Imagen 1"/>
          <p:cNvPicPr>
            <a:picLocks noChangeAspect="1"/>
          </p:cNvPicPr>
          <p:nvPr/>
        </p:nvPicPr>
        <p:blipFill>
          <a:blip r:embed="rId2"/>
          <a:stretch>
            <a:fillRect/>
          </a:stretch>
        </p:blipFill>
        <p:spPr>
          <a:xfrm>
            <a:off x="551180" y="2636520"/>
            <a:ext cx="6553200" cy="22479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4F6F9"/>
        </a:solidFill>
        <a:effectLst/>
      </p:bgPr>
    </p:bg>
    <p:spTree>
      <p:nvGrpSpPr>
        <p:cNvPr id="1" name=""/>
        <p:cNvGrpSpPr/>
        <p:nvPr/>
      </p:nvGrpSpPr>
      <p:grpSpPr>
        <a:xfrm>
          <a:off x="0" y="0"/>
          <a:ext cx="0" cy="0"/>
          <a:chOff x="0" y="0"/>
          <a:chExt cx="0" cy="0"/>
        </a:xfrm>
      </p:grpSpPr>
      <p:sp>
        <p:nvSpPr>
          <p:cNvPr id="391" name="Text 0"/>
          <p:cNvSpPr/>
          <p:nvPr/>
        </p:nvSpPr>
        <p:spPr>
          <a:xfrm>
            <a:off x="548640" y="411480"/>
            <a:ext cx="7314840" cy="2923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1150" b="1" u="none" strike="noStrike" spc="201">
                <a:solidFill>
                  <a:srgbClr val="E1590F"/>
                </a:solidFill>
                <a:effectLst/>
                <a:uFillTx/>
                <a:latin typeface="Calibri" panose="020F0502020204030204"/>
                <a:ea typeface="Calibri" panose="020F0502020204030204"/>
              </a:rPr>
              <a:t>04 · ANÁLISIS BIVARIADO</a:t>
            </a:r>
            <a:endParaRPr lang="es-ES" sz="1150" b="0" u="none" strike="noStrike">
              <a:solidFill>
                <a:srgbClr val="000000"/>
              </a:solidFill>
              <a:effectLst/>
              <a:uFillTx/>
              <a:latin typeface="Arial" panose="020B0604020202020204"/>
            </a:endParaRPr>
          </a:p>
        </p:txBody>
      </p:sp>
      <p:sp>
        <p:nvSpPr>
          <p:cNvPr id="392" name="Text 1"/>
          <p:cNvSpPr/>
          <p:nvPr/>
        </p:nvSpPr>
        <p:spPr>
          <a:xfrm>
            <a:off x="548640" y="749880"/>
            <a:ext cx="11094120" cy="77688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2000"/>
              </a:lnSpc>
              <a:tabLst>
                <a:tab pos="0" algn="l"/>
              </a:tabLst>
            </a:pPr>
            <a:r>
              <a:rPr lang="en-US" sz="2400" b="1" u="none" strike="noStrike">
                <a:solidFill>
                  <a:srgbClr val="0B1E3D"/>
                </a:solidFill>
                <a:effectLst/>
                <a:uFillTx/>
                <a:latin typeface="Calibri" panose="020F0502020204030204"/>
                <a:ea typeface="Calibri" panose="020F0502020204030204"/>
              </a:rPr>
              <a:t>Protagonismo (USG%) vs. producción (puntos por partido)</a:t>
            </a:r>
            <a:endParaRPr lang="es-ES" sz="2400" b="0" u="none" strike="noStrike">
              <a:solidFill>
                <a:srgbClr val="000000"/>
              </a:solidFill>
              <a:effectLst/>
              <a:uFillTx/>
              <a:latin typeface="Arial" panose="020B0604020202020204"/>
            </a:endParaRPr>
          </a:p>
        </p:txBody>
      </p:sp>
      <p:sp>
        <p:nvSpPr>
          <p:cNvPr id="393" name="Shape 2"/>
          <p:cNvSpPr/>
          <p:nvPr/>
        </p:nvSpPr>
        <p:spPr>
          <a:xfrm>
            <a:off x="548640" y="1742760"/>
            <a:ext cx="6857640" cy="4331880"/>
          </a:xfrm>
          <a:prstGeom prst="roundRect">
            <a:avLst>
              <a:gd name="adj" fmla="val 1266"/>
            </a:avLst>
          </a:prstGeom>
          <a:solidFill>
            <a:srgbClr val="FFFFFF"/>
          </a:solidFill>
          <a:ln w="0">
            <a:noFill/>
          </a:ln>
          <a:effectLst>
            <a:outerShdw algn="bl" rotWithShape="0">
              <a:srgbClr val="8798AD">
                <a:alpha val="0"/>
              </a:srgbClr>
            </a:outerShdw>
          </a:effectLst>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pic>
        <p:nvPicPr>
          <p:cNvPr id="394" name="Image 0" descr="/tmp/claude-0/-home-claude/c0a8783c-8817-5425-bc4f-190e5f64548a/scratchpad/work/imgs/img_071.png"/>
          <p:cNvPicPr/>
          <p:nvPr/>
        </p:nvPicPr>
        <p:blipFill>
          <a:blip r:embed="rId1"/>
          <a:stretch>
            <a:fillRect/>
          </a:stretch>
        </p:blipFill>
        <p:spPr>
          <a:xfrm>
            <a:off x="658440" y="1852560"/>
            <a:ext cx="6638040" cy="4112640"/>
          </a:xfrm>
          <a:prstGeom prst="rect">
            <a:avLst/>
          </a:prstGeom>
          <a:noFill/>
          <a:ln w="0">
            <a:noFill/>
          </a:ln>
        </p:spPr>
      </p:pic>
      <p:sp>
        <p:nvSpPr>
          <p:cNvPr id="395" name="Shape 3"/>
          <p:cNvSpPr/>
          <p:nvPr/>
        </p:nvSpPr>
        <p:spPr>
          <a:xfrm>
            <a:off x="7772400" y="1600200"/>
            <a:ext cx="1416960" cy="456840"/>
          </a:xfrm>
          <a:prstGeom prst="roundRect">
            <a:avLst>
              <a:gd name="adj" fmla="val 50000"/>
            </a:avLst>
          </a:prstGeom>
          <a:solidFill>
            <a:srgbClr val="FF7A29"/>
          </a:solidFill>
          <a:ln w="0">
            <a:noFill/>
          </a:ln>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sp>
        <p:nvSpPr>
          <p:cNvPr id="396" name="Text 4"/>
          <p:cNvSpPr/>
          <p:nvPr/>
        </p:nvSpPr>
        <p:spPr>
          <a:xfrm>
            <a:off x="7772400" y="1600200"/>
            <a:ext cx="1416960" cy="4568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algn="ctr" defTabSz="914400">
              <a:lnSpc>
                <a:spcPct val="100000"/>
              </a:lnSpc>
              <a:tabLst>
                <a:tab pos="0" algn="l"/>
              </a:tabLst>
            </a:pPr>
            <a:r>
              <a:rPr lang="en-US" sz="1700" b="1" u="none" strike="noStrike">
                <a:solidFill>
                  <a:srgbClr val="FFFFFF"/>
                </a:solidFill>
                <a:effectLst/>
                <a:uFillTx/>
                <a:latin typeface="Calibri" panose="020F0502020204030204"/>
                <a:ea typeface="Calibri" panose="020F0502020204030204"/>
              </a:rPr>
              <a:t>r = 0.731</a:t>
            </a:r>
            <a:endParaRPr lang="es-ES" sz="1700" b="0" u="none" strike="noStrike">
              <a:solidFill>
                <a:srgbClr val="000000"/>
              </a:solidFill>
              <a:effectLst/>
              <a:uFillTx/>
              <a:latin typeface="Arial" panose="020B0604020202020204"/>
            </a:endParaRPr>
          </a:p>
        </p:txBody>
      </p:sp>
      <p:sp>
        <p:nvSpPr>
          <p:cNvPr id="397" name="Text 5"/>
          <p:cNvSpPr/>
          <p:nvPr/>
        </p:nvSpPr>
        <p:spPr>
          <a:xfrm>
            <a:off x="7772400" y="2221920"/>
            <a:ext cx="3870360" cy="17827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20000"/>
              </a:lnSpc>
              <a:tabLst>
                <a:tab pos="0" algn="l"/>
              </a:tabLst>
            </a:pPr>
            <a:r>
              <a:rPr lang="en-US" sz="1150" b="0" u="none" strike="noStrike">
                <a:solidFill>
                  <a:srgbClr val="12203D"/>
                </a:solidFill>
                <a:effectLst/>
                <a:uFillTx/>
                <a:latin typeface="Calibri" panose="020F0502020204030204"/>
                <a:ea typeface="Calibri" panose="020F0502020204030204"/>
              </a:rPr>
              <a:t>La correlación más fuerte del panel bivariado: a más protagonismo ofensivo, más puntos. Pero existen excepciones — jugadores que anotan mucho sin ser el protagonista ofensivo de su equipo.</a:t>
            </a:r>
            <a:endParaRPr lang="es-ES" sz="1150" b="0" u="none" strike="noStrike">
              <a:solidFill>
                <a:srgbClr val="000000"/>
              </a:solidFill>
              <a:effectLst/>
              <a:uFillTx/>
              <a:latin typeface="Arial" panose="020B0604020202020204"/>
            </a:endParaRPr>
          </a:p>
        </p:txBody>
      </p:sp>
      <p:graphicFrame>
        <p:nvGraphicFramePr>
          <p:cNvPr id="398" name="Table 0"/>
          <p:cNvGraphicFramePr/>
          <p:nvPr/>
        </p:nvGraphicFramePr>
        <p:xfrm>
          <a:off x="7772400" y="4050720"/>
          <a:ext cx="3870360" cy="1444320"/>
        </p:xfrm>
        <a:graphic>
          <a:graphicData uri="http://schemas.openxmlformats.org/drawingml/2006/table">
            <a:tbl>
              <a:tblPr/>
              <a:tblGrid>
                <a:gridCol w="1315800"/>
                <a:gridCol w="638640"/>
                <a:gridCol w="638640"/>
                <a:gridCol w="638640"/>
                <a:gridCol w="638640"/>
              </a:tblGrid>
              <a:tr h="255960">
                <a:tc>
                  <a:txBody>
                    <a:bodyPr>
                      <a:spAutoFit/>
                    </a:bodyPr>
                    <a:p>
                      <a:pPr defTabSz="914400">
                        <a:lnSpc>
                          <a:spcPct val="100000"/>
                        </a:lnSpc>
                        <a:tabLst>
                          <a:tab pos="0" algn="l"/>
                        </a:tabLst>
                      </a:pPr>
                      <a:r>
                        <a:rPr lang="en-US" sz="850" b="1" u="none" strike="noStrike">
                          <a:solidFill>
                            <a:srgbClr val="FFFFFF"/>
                          </a:solidFill>
                          <a:effectLst/>
                          <a:uFillTx/>
                          <a:latin typeface="Calibri" panose="020F0502020204030204"/>
                          <a:ea typeface="Calibri" panose="020F0502020204030204"/>
                        </a:rPr>
                        <a:t>Jugador</a:t>
                      </a:r>
                      <a:endParaRPr lang="es-ES" sz="8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c>
                  <a:txBody>
                    <a:bodyPr>
                      <a:spAutoFit/>
                    </a:bodyPr>
                    <a:p>
                      <a:pPr defTabSz="914400">
                        <a:lnSpc>
                          <a:spcPct val="100000"/>
                        </a:lnSpc>
                        <a:tabLst>
                          <a:tab pos="0" algn="l"/>
                        </a:tabLst>
                      </a:pPr>
                      <a:r>
                        <a:rPr lang="en-US" sz="850" b="1" u="none" strike="noStrike">
                          <a:solidFill>
                            <a:srgbClr val="FFFFFF"/>
                          </a:solidFill>
                          <a:effectLst/>
                          <a:uFillTx/>
                          <a:latin typeface="Calibri" panose="020F0502020204030204"/>
                          <a:ea typeface="Calibri" panose="020F0502020204030204"/>
                        </a:rPr>
                        <a:t>Temp.</a:t>
                      </a:r>
                      <a:endParaRPr lang="es-ES" sz="8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c>
                  <a:txBody>
                    <a:bodyPr>
                      <a:spAutoFit/>
                    </a:bodyPr>
                    <a:p>
                      <a:pPr defTabSz="914400">
                        <a:lnSpc>
                          <a:spcPct val="100000"/>
                        </a:lnSpc>
                        <a:tabLst>
                          <a:tab pos="0" algn="l"/>
                        </a:tabLst>
                      </a:pPr>
                      <a:r>
                        <a:rPr lang="en-US" sz="850" b="1" u="none" strike="noStrike">
                          <a:solidFill>
                            <a:srgbClr val="FFFFFF"/>
                          </a:solidFill>
                          <a:effectLst/>
                          <a:uFillTx/>
                          <a:latin typeface="Calibri" panose="020F0502020204030204"/>
                          <a:ea typeface="Calibri" panose="020F0502020204030204"/>
                        </a:rPr>
                        <a:t>USG%</a:t>
                      </a:r>
                      <a:endParaRPr lang="es-ES" sz="8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c>
                  <a:txBody>
                    <a:bodyPr>
                      <a:spAutoFit/>
                    </a:bodyPr>
                    <a:p>
                      <a:pPr defTabSz="914400">
                        <a:lnSpc>
                          <a:spcPct val="100000"/>
                        </a:lnSpc>
                        <a:tabLst>
                          <a:tab pos="0" algn="l"/>
                        </a:tabLst>
                      </a:pPr>
                      <a:r>
                        <a:rPr lang="en-US" sz="850" b="1" u="none" strike="noStrike">
                          <a:solidFill>
                            <a:srgbClr val="FFFFFF"/>
                          </a:solidFill>
                          <a:effectLst/>
                          <a:uFillTx/>
                          <a:latin typeface="Calibri" panose="020F0502020204030204"/>
                          <a:ea typeface="Calibri" panose="020F0502020204030204"/>
                        </a:rPr>
                        <a:t>Pts/p</a:t>
                      </a:r>
                      <a:endParaRPr lang="es-ES" sz="8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c>
                  <a:txBody>
                    <a:bodyPr>
                      <a:spAutoFit/>
                    </a:bodyPr>
                    <a:p>
                      <a:pPr defTabSz="914400">
                        <a:lnSpc>
                          <a:spcPct val="100000"/>
                        </a:lnSpc>
                        <a:tabLst>
                          <a:tab pos="0" algn="l"/>
                        </a:tabLst>
                      </a:pPr>
                      <a:r>
                        <a:rPr lang="en-US" sz="850" b="1" u="none" strike="noStrike">
                          <a:solidFill>
                            <a:srgbClr val="FFFFFF"/>
                          </a:solidFill>
                          <a:effectLst/>
                          <a:uFillTx/>
                          <a:latin typeface="Calibri" panose="020F0502020204030204"/>
                          <a:ea typeface="Calibri" panose="020F0502020204030204"/>
                        </a:rPr>
                        <a:t>TS%</a:t>
                      </a:r>
                      <a:endParaRPr lang="es-ES" sz="8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Dan Majerle</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1993</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17.3</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16.9</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0.573</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Harrison Barnes</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2021</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17.2</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16.1</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0.626</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Michael Cage</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1987</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17.1</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15.7</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0.579</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Danny Ainge</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1988</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17.3</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15.7</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0.598</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Rudy Gobert</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2022</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16.9</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15.6</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0.732</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r>
            </a:tbl>
          </a:graphicData>
        </a:graphic>
      </p:graphicFrame>
      <p:pic>
        <p:nvPicPr>
          <p:cNvPr id="399" name="Image 1" descr="/tmp/claude-0/-home-claude/c0a8783c-8817-5425-bc4f-190e5f64548a/scratchpad/work/icons/basketball_E1590F.png"/>
          <p:cNvPicPr/>
          <p:nvPr/>
        </p:nvPicPr>
        <p:blipFill>
          <a:blip r:embed="rId2"/>
          <a:stretch>
            <a:fillRect/>
          </a:stretch>
        </p:blipFill>
        <p:spPr>
          <a:xfrm>
            <a:off x="548640" y="6546960"/>
            <a:ext cx="145800" cy="145800"/>
          </a:xfrm>
          <a:prstGeom prst="rect">
            <a:avLst/>
          </a:prstGeom>
          <a:noFill/>
          <a:ln w="0">
            <a:noFill/>
          </a:ln>
        </p:spPr>
      </p:pic>
      <p:sp>
        <p:nvSpPr>
          <p:cNvPr id="400" name="Text 6"/>
          <p:cNvSpPr/>
          <p:nvPr/>
        </p:nvSpPr>
        <p:spPr>
          <a:xfrm>
            <a:off x="768240" y="6510600"/>
            <a:ext cx="45716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850" b="0" u="none" strike="noStrike">
                <a:solidFill>
                  <a:srgbClr val="5B6B85"/>
                </a:solidFill>
                <a:effectLst/>
                <a:uFillTx/>
                <a:latin typeface="Calibri" panose="020F0502020204030204"/>
                <a:ea typeface="Calibri" panose="020F0502020204030204"/>
              </a:rPr>
              <a:t>04 · Bivariado · 5/8</a:t>
            </a:r>
            <a:endParaRPr lang="es-ES" sz="850" b="0" u="none" strike="noStrike">
              <a:solidFill>
                <a:srgbClr val="000000"/>
              </a:solidFill>
              <a:effectLst/>
              <a:uFillTx/>
              <a:latin typeface="Arial" panose="020B0604020202020204"/>
            </a:endParaRPr>
          </a:p>
        </p:txBody>
      </p:sp>
      <p:sp>
        <p:nvSpPr>
          <p:cNvPr id="401" name="Text 7"/>
          <p:cNvSpPr/>
          <p:nvPr/>
        </p:nvSpPr>
        <p:spPr>
          <a:xfrm>
            <a:off x="10271520" y="6510600"/>
            <a:ext cx="1371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algn="r" defTabSz="914400">
              <a:lnSpc>
                <a:spcPct val="100000"/>
              </a:lnSpc>
              <a:tabLst>
                <a:tab pos="0" algn="l"/>
              </a:tabLst>
            </a:pPr>
            <a:r>
              <a:rPr lang="en-US" sz="850" b="0" u="none" strike="noStrike">
                <a:solidFill>
                  <a:srgbClr val="5B6B85"/>
                </a:solidFill>
                <a:effectLst/>
                <a:uFillTx/>
                <a:latin typeface="Calibri" panose="020F0502020204030204"/>
                <a:ea typeface="Calibri" panose="020F0502020204030204"/>
              </a:rPr>
              <a:t>17 / 23</a:t>
            </a:r>
            <a:endParaRPr lang="es-ES" sz="850" b="0" u="none" strike="noStrike">
              <a:solidFill>
                <a:srgbClr val="000000"/>
              </a:solidFill>
              <a:effectLst/>
              <a:uFillTx/>
              <a:latin typeface="Arial" panose="020B0604020202020204"/>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4F6F9"/>
        </a:solidFill>
        <a:effectLst/>
      </p:bgPr>
    </p:bg>
    <p:spTree>
      <p:nvGrpSpPr>
        <p:cNvPr id="1" name=""/>
        <p:cNvGrpSpPr/>
        <p:nvPr/>
      </p:nvGrpSpPr>
      <p:grpSpPr>
        <a:xfrm>
          <a:off x="0" y="0"/>
          <a:ext cx="0" cy="0"/>
          <a:chOff x="0" y="0"/>
          <a:chExt cx="0" cy="0"/>
        </a:xfrm>
      </p:grpSpPr>
      <p:sp>
        <p:nvSpPr>
          <p:cNvPr id="402" name="Text 0"/>
          <p:cNvSpPr/>
          <p:nvPr/>
        </p:nvSpPr>
        <p:spPr>
          <a:xfrm>
            <a:off x="548640" y="411480"/>
            <a:ext cx="7314840" cy="2923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1150" b="1" u="none" strike="noStrike" spc="201">
                <a:solidFill>
                  <a:srgbClr val="E1590F"/>
                </a:solidFill>
                <a:effectLst/>
                <a:uFillTx/>
                <a:latin typeface="Calibri" panose="020F0502020204030204"/>
                <a:ea typeface="Calibri" panose="020F0502020204030204"/>
              </a:rPr>
              <a:t>04 · ANÁLISIS BIVARIADO</a:t>
            </a:r>
            <a:endParaRPr lang="es-ES" sz="1150" b="0" u="none" strike="noStrike">
              <a:solidFill>
                <a:srgbClr val="000000"/>
              </a:solidFill>
              <a:effectLst/>
              <a:uFillTx/>
              <a:latin typeface="Arial" panose="020B0604020202020204"/>
            </a:endParaRPr>
          </a:p>
        </p:txBody>
      </p:sp>
      <p:sp>
        <p:nvSpPr>
          <p:cNvPr id="403" name="Text 1"/>
          <p:cNvSpPr/>
          <p:nvPr/>
        </p:nvSpPr>
        <p:spPr>
          <a:xfrm>
            <a:off x="548640" y="749880"/>
            <a:ext cx="11094120" cy="77688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2000"/>
              </a:lnSpc>
              <a:tabLst>
                <a:tab pos="0" algn="l"/>
              </a:tabLst>
            </a:pPr>
            <a:r>
              <a:rPr lang="en-US" sz="2400" b="1" u="none" strike="noStrike">
                <a:solidFill>
                  <a:srgbClr val="0B1E3D"/>
                </a:solidFill>
                <a:effectLst/>
                <a:uFillTx/>
                <a:latin typeface="Calibri" panose="020F0502020204030204"/>
                <a:ea typeface="Calibri" panose="020F0502020204030204"/>
              </a:rPr>
              <a:t>Minutos totales vs. valor sobre el reemplazo (VORP)</a:t>
            </a:r>
            <a:endParaRPr lang="es-ES" sz="2400" b="0" u="none" strike="noStrike">
              <a:solidFill>
                <a:srgbClr val="000000"/>
              </a:solidFill>
              <a:effectLst/>
              <a:uFillTx/>
              <a:latin typeface="Arial" panose="020B0604020202020204"/>
            </a:endParaRPr>
          </a:p>
        </p:txBody>
      </p:sp>
      <p:sp>
        <p:nvSpPr>
          <p:cNvPr id="404" name="Shape 2"/>
          <p:cNvSpPr/>
          <p:nvPr/>
        </p:nvSpPr>
        <p:spPr>
          <a:xfrm>
            <a:off x="548640" y="1742760"/>
            <a:ext cx="6857640" cy="4331880"/>
          </a:xfrm>
          <a:prstGeom prst="roundRect">
            <a:avLst>
              <a:gd name="adj" fmla="val 1266"/>
            </a:avLst>
          </a:prstGeom>
          <a:solidFill>
            <a:srgbClr val="FFFFFF"/>
          </a:solidFill>
          <a:ln w="0">
            <a:noFill/>
          </a:ln>
          <a:effectLst>
            <a:outerShdw algn="bl" rotWithShape="0">
              <a:srgbClr val="8798AD">
                <a:alpha val="0"/>
              </a:srgbClr>
            </a:outerShdw>
          </a:effectLst>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pic>
        <p:nvPicPr>
          <p:cNvPr id="405" name="Image 0" descr="/tmp/claude-0/-home-claude/c0a8783c-8817-5425-bc4f-190e5f64548a/scratchpad/work/imgs/img_072.png"/>
          <p:cNvPicPr/>
          <p:nvPr/>
        </p:nvPicPr>
        <p:blipFill>
          <a:blip r:embed="rId1"/>
          <a:stretch>
            <a:fillRect/>
          </a:stretch>
        </p:blipFill>
        <p:spPr>
          <a:xfrm>
            <a:off x="658440" y="1852560"/>
            <a:ext cx="6638040" cy="4112640"/>
          </a:xfrm>
          <a:prstGeom prst="rect">
            <a:avLst/>
          </a:prstGeom>
          <a:noFill/>
          <a:ln w="0">
            <a:noFill/>
          </a:ln>
        </p:spPr>
      </p:pic>
      <p:sp>
        <p:nvSpPr>
          <p:cNvPr id="406" name="Shape 3"/>
          <p:cNvSpPr/>
          <p:nvPr/>
        </p:nvSpPr>
        <p:spPr>
          <a:xfrm>
            <a:off x="7772400" y="1600200"/>
            <a:ext cx="1416960" cy="456840"/>
          </a:xfrm>
          <a:prstGeom prst="roundRect">
            <a:avLst>
              <a:gd name="adj" fmla="val 50000"/>
            </a:avLst>
          </a:prstGeom>
          <a:solidFill>
            <a:srgbClr val="FF7A29"/>
          </a:solidFill>
          <a:ln w="0">
            <a:noFill/>
          </a:ln>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sp>
        <p:nvSpPr>
          <p:cNvPr id="407" name="Text 4"/>
          <p:cNvSpPr/>
          <p:nvPr/>
        </p:nvSpPr>
        <p:spPr>
          <a:xfrm>
            <a:off x="7772400" y="1600200"/>
            <a:ext cx="1416960" cy="4568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algn="ctr" defTabSz="914400">
              <a:lnSpc>
                <a:spcPct val="100000"/>
              </a:lnSpc>
              <a:tabLst>
                <a:tab pos="0" algn="l"/>
              </a:tabLst>
            </a:pPr>
            <a:r>
              <a:rPr lang="en-US" sz="1700" b="1" u="none" strike="noStrike">
                <a:solidFill>
                  <a:srgbClr val="FFFFFF"/>
                </a:solidFill>
                <a:effectLst/>
                <a:uFillTx/>
                <a:latin typeface="Calibri" panose="020F0502020204030204"/>
                <a:ea typeface="Calibri" panose="020F0502020204030204"/>
              </a:rPr>
              <a:t>r = 0.662</a:t>
            </a:r>
            <a:endParaRPr lang="es-ES" sz="1700" b="0" u="none" strike="noStrike">
              <a:solidFill>
                <a:srgbClr val="000000"/>
              </a:solidFill>
              <a:effectLst/>
              <a:uFillTx/>
              <a:latin typeface="Arial" panose="020B0604020202020204"/>
            </a:endParaRPr>
          </a:p>
        </p:txBody>
      </p:sp>
      <p:sp>
        <p:nvSpPr>
          <p:cNvPr id="408" name="Text 5"/>
          <p:cNvSpPr/>
          <p:nvPr/>
        </p:nvSpPr>
        <p:spPr>
          <a:xfrm>
            <a:off x="7772400" y="2221920"/>
            <a:ext cx="3870360" cy="17827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20000"/>
              </a:lnSpc>
              <a:tabLst>
                <a:tab pos="0" algn="l"/>
              </a:tabLst>
            </a:pPr>
            <a:r>
              <a:rPr lang="en-US" sz="1150" b="0" u="none" strike="noStrike">
                <a:solidFill>
                  <a:srgbClr val="12203D"/>
                </a:solidFill>
                <a:effectLst/>
                <a:uFillTx/>
                <a:latin typeface="Calibri" panose="020F0502020204030204"/>
                <a:ea typeface="Calibri" panose="020F0502020204030204"/>
              </a:rPr>
              <a:t>La correlación es fuerte, pero el boxplot por decil de minutos muestra que la relación no es lineal: el VORP se acelera de forma notoria en el último decil de oportunidad.</a:t>
            </a:r>
            <a:endParaRPr lang="es-ES" sz="1150" b="0" u="none" strike="noStrike">
              <a:solidFill>
                <a:srgbClr val="000000"/>
              </a:solidFill>
              <a:effectLst/>
              <a:uFillTx/>
              <a:latin typeface="Arial" panose="020B0604020202020204"/>
            </a:endParaRPr>
          </a:p>
        </p:txBody>
      </p:sp>
      <p:graphicFrame>
        <p:nvGraphicFramePr>
          <p:cNvPr id="409" name="Table 0"/>
          <p:cNvGraphicFramePr/>
          <p:nvPr/>
        </p:nvGraphicFramePr>
        <p:xfrm>
          <a:off x="7772400" y="4050720"/>
          <a:ext cx="3870360" cy="1444320"/>
        </p:xfrm>
        <a:graphic>
          <a:graphicData uri="http://schemas.openxmlformats.org/drawingml/2006/table">
            <a:tbl>
              <a:tblPr/>
              <a:tblGrid>
                <a:gridCol w="1315800"/>
                <a:gridCol w="1277280"/>
                <a:gridCol w="1277280"/>
              </a:tblGrid>
              <a:tr h="255960">
                <a:tc>
                  <a:txBody>
                    <a:bodyPr>
                      <a:spAutoFit/>
                    </a:bodyPr>
                    <a:p>
                      <a:pPr defTabSz="914400">
                        <a:lnSpc>
                          <a:spcPct val="100000"/>
                        </a:lnSpc>
                        <a:tabLst>
                          <a:tab pos="0" algn="l"/>
                        </a:tabLst>
                      </a:pPr>
                      <a:r>
                        <a:rPr lang="en-US" sz="850" b="1" u="none" strike="noStrike">
                          <a:solidFill>
                            <a:srgbClr val="FFFFFF"/>
                          </a:solidFill>
                          <a:effectLst/>
                          <a:uFillTx/>
                          <a:latin typeface="Calibri" panose="020F0502020204030204"/>
                          <a:ea typeface="Calibri" panose="020F0502020204030204"/>
                        </a:rPr>
                        <a:t>Decil</a:t>
                      </a:r>
                      <a:endParaRPr lang="es-ES" sz="8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c>
                  <a:txBody>
                    <a:bodyPr>
                      <a:spAutoFit/>
                    </a:bodyPr>
                    <a:p>
                      <a:pPr defTabSz="914400">
                        <a:lnSpc>
                          <a:spcPct val="100000"/>
                        </a:lnSpc>
                        <a:tabLst>
                          <a:tab pos="0" algn="l"/>
                        </a:tabLst>
                      </a:pPr>
                      <a:r>
                        <a:rPr lang="en-US" sz="850" b="1" u="none" strike="noStrike">
                          <a:solidFill>
                            <a:srgbClr val="FFFFFF"/>
                          </a:solidFill>
                          <a:effectLst/>
                          <a:uFillTx/>
                          <a:latin typeface="Calibri" panose="020F0502020204030204"/>
                          <a:ea typeface="Calibri" panose="020F0502020204030204"/>
                        </a:rPr>
                        <a:t>Min. prom.</a:t>
                      </a:r>
                      <a:endParaRPr lang="es-ES" sz="8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c>
                  <a:txBody>
                    <a:bodyPr>
                      <a:spAutoFit/>
                    </a:bodyPr>
                    <a:p>
                      <a:pPr defTabSz="914400">
                        <a:lnSpc>
                          <a:spcPct val="100000"/>
                        </a:lnSpc>
                        <a:tabLst>
                          <a:tab pos="0" algn="l"/>
                        </a:tabLst>
                      </a:pPr>
                      <a:r>
                        <a:rPr lang="en-US" sz="850" b="1" u="none" strike="noStrike">
                          <a:solidFill>
                            <a:srgbClr val="FFFFFF"/>
                          </a:solidFill>
                          <a:effectLst/>
                          <a:uFillTx/>
                          <a:latin typeface="Calibri" panose="020F0502020204030204"/>
                          <a:ea typeface="Calibri" panose="020F0502020204030204"/>
                        </a:rPr>
                        <a:t>VORP prom.</a:t>
                      </a:r>
                      <a:endParaRPr lang="es-ES" sz="8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182</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-0.09</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4</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968</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0.05</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7</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1838</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0.85</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9</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2482</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1.87</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10</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2920</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3.30</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r>
            </a:tbl>
          </a:graphicData>
        </a:graphic>
      </p:graphicFrame>
      <p:pic>
        <p:nvPicPr>
          <p:cNvPr id="410" name="Image 1" descr="/tmp/claude-0/-home-claude/c0a8783c-8817-5425-bc4f-190e5f64548a/scratchpad/work/icons/basketball_E1590F.png"/>
          <p:cNvPicPr/>
          <p:nvPr/>
        </p:nvPicPr>
        <p:blipFill>
          <a:blip r:embed="rId2"/>
          <a:stretch>
            <a:fillRect/>
          </a:stretch>
        </p:blipFill>
        <p:spPr>
          <a:xfrm>
            <a:off x="548640" y="6546960"/>
            <a:ext cx="145800" cy="145800"/>
          </a:xfrm>
          <a:prstGeom prst="rect">
            <a:avLst/>
          </a:prstGeom>
          <a:noFill/>
          <a:ln w="0">
            <a:noFill/>
          </a:ln>
        </p:spPr>
      </p:pic>
      <p:sp>
        <p:nvSpPr>
          <p:cNvPr id="411" name="Text 6"/>
          <p:cNvSpPr/>
          <p:nvPr/>
        </p:nvSpPr>
        <p:spPr>
          <a:xfrm>
            <a:off x="768240" y="6510600"/>
            <a:ext cx="45716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850" b="0" u="none" strike="noStrike">
                <a:solidFill>
                  <a:srgbClr val="5B6B85"/>
                </a:solidFill>
                <a:effectLst/>
                <a:uFillTx/>
                <a:latin typeface="Calibri" panose="020F0502020204030204"/>
                <a:ea typeface="Calibri" panose="020F0502020204030204"/>
              </a:rPr>
              <a:t>04 · Bivariado · 6/8</a:t>
            </a:r>
            <a:endParaRPr lang="es-ES" sz="850" b="0" u="none" strike="noStrike">
              <a:solidFill>
                <a:srgbClr val="000000"/>
              </a:solidFill>
              <a:effectLst/>
              <a:uFillTx/>
              <a:latin typeface="Arial" panose="020B0604020202020204"/>
            </a:endParaRPr>
          </a:p>
        </p:txBody>
      </p:sp>
      <p:sp>
        <p:nvSpPr>
          <p:cNvPr id="412" name="Text 7"/>
          <p:cNvSpPr/>
          <p:nvPr/>
        </p:nvSpPr>
        <p:spPr>
          <a:xfrm>
            <a:off x="10271520" y="6510600"/>
            <a:ext cx="1371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algn="r" defTabSz="914400">
              <a:lnSpc>
                <a:spcPct val="100000"/>
              </a:lnSpc>
              <a:tabLst>
                <a:tab pos="0" algn="l"/>
              </a:tabLst>
            </a:pPr>
            <a:r>
              <a:rPr lang="en-US" sz="850" b="0" u="none" strike="noStrike">
                <a:solidFill>
                  <a:srgbClr val="5B6B85"/>
                </a:solidFill>
                <a:effectLst/>
                <a:uFillTx/>
                <a:latin typeface="Calibri" panose="020F0502020204030204"/>
                <a:ea typeface="Calibri" panose="020F0502020204030204"/>
              </a:rPr>
              <a:t>18 / 23</a:t>
            </a:r>
            <a:endParaRPr lang="es-ES" sz="850" b="0" u="none" strike="noStrike">
              <a:solidFill>
                <a:srgbClr val="000000"/>
              </a:solidFill>
              <a:effectLst/>
              <a:uFillTx/>
              <a:latin typeface="Arial" panose="020B0604020202020204"/>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4F6F9"/>
        </a:solidFill>
        <a:effectLst/>
      </p:bgPr>
    </p:bg>
    <p:spTree>
      <p:nvGrpSpPr>
        <p:cNvPr id="1" name=""/>
        <p:cNvGrpSpPr/>
        <p:nvPr/>
      </p:nvGrpSpPr>
      <p:grpSpPr>
        <a:xfrm>
          <a:off x="0" y="0"/>
          <a:ext cx="0" cy="0"/>
          <a:chOff x="0" y="0"/>
          <a:chExt cx="0" cy="0"/>
        </a:xfrm>
      </p:grpSpPr>
      <p:sp>
        <p:nvSpPr>
          <p:cNvPr id="413" name="Text 0"/>
          <p:cNvSpPr/>
          <p:nvPr/>
        </p:nvSpPr>
        <p:spPr>
          <a:xfrm>
            <a:off x="548640" y="411480"/>
            <a:ext cx="7314840" cy="2923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1150" b="1" u="none" strike="noStrike" spc="201">
                <a:solidFill>
                  <a:srgbClr val="E1590F"/>
                </a:solidFill>
                <a:effectLst/>
                <a:uFillTx/>
                <a:latin typeface="Calibri" panose="020F0502020204030204"/>
                <a:ea typeface="Calibri" panose="020F0502020204030204"/>
              </a:rPr>
              <a:t>04 · ANÁLISIS BIVARIADO</a:t>
            </a:r>
            <a:endParaRPr lang="es-ES" sz="1150" b="0" u="none" strike="noStrike">
              <a:solidFill>
                <a:srgbClr val="000000"/>
              </a:solidFill>
              <a:effectLst/>
              <a:uFillTx/>
              <a:latin typeface="Arial" panose="020B0604020202020204"/>
            </a:endParaRPr>
          </a:p>
        </p:txBody>
      </p:sp>
      <p:sp>
        <p:nvSpPr>
          <p:cNvPr id="414" name="Text 1"/>
          <p:cNvSpPr/>
          <p:nvPr/>
        </p:nvSpPr>
        <p:spPr>
          <a:xfrm>
            <a:off x="548640" y="749880"/>
            <a:ext cx="11094120" cy="77688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2000"/>
              </a:lnSpc>
              <a:tabLst>
                <a:tab pos="0" algn="l"/>
              </a:tabLst>
            </a:pPr>
            <a:r>
              <a:rPr lang="en-US" sz="2400" b="1" u="none" strike="noStrike">
                <a:solidFill>
                  <a:srgbClr val="0B1E3D"/>
                </a:solidFill>
                <a:effectLst/>
                <a:uFillTx/>
                <a:latin typeface="Calibri" panose="020F0502020204030204"/>
                <a:ea typeface="Calibri" panose="020F0502020204030204"/>
              </a:rPr>
              <a:t>% de victorias del equipo vs. impacto defensivo (DBPM)</a:t>
            </a:r>
            <a:endParaRPr lang="es-ES" sz="2400" b="0" u="none" strike="noStrike">
              <a:solidFill>
                <a:srgbClr val="000000"/>
              </a:solidFill>
              <a:effectLst/>
              <a:uFillTx/>
              <a:latin typeface="Arial" panose="020B0604020202020204"/>
            </a:endParaRPr>
          </a:p>
        </p:txBody>
      </p:sp>
      <p:sp>
        <p:nvSpPr>
          <p:cNvPr id="415" name="Shape 2"/>
          <p:cNvSpPr/>
          <p:nvPr/>
        </p:nvSpPr>
        <p:spPr>
          <a:xfrm>
            <a:off x="548640" y="1742760"/>
            <a:ext cx="6857640" cy="4331880"/>
          </a:xfrm>
          <a:prstGeom prst="roundRect">
            <a:avLst>
              <a:gd name="adj" fmla="val 1266"/>
            </a:avLst>
          </a:prstGeom>
          <a:solidFill>
            <a:srgbClr val="FFFFFF"/>
          </a:solidFill>
          <a:ln w="0">
            <a:noFill/>
          </a:ln>
          <a:effectLst>
            <a:outerShdw algn="bl" rotWithShape="0">
              <a:srgbClr val="8798AD">
                <a:alpha val="0"/>
              </a:srgbClr>
            </a:outerShdw>
          </a:effectLst>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pic>
        <p:nvPicPr>
          <p:cNvPr id="416" name="Image 0" descr="/tmp/claude-0/-home-claude/c0a8783c-8817-5425-bc4f-190e5f64548a/scratchpad/work/imgs/img_074.png"/>
          <p:cNvPicPr/>
          <p:nvPr/>
        </p:nvPicPr>
        <p:blipFill>
          <a:blip r:embed="rId1"/>
          <a:stretch>
            <a:fillRect/>
          </a:stretch>
        </p:blipFill>
        <p:spPr>
          <a:xfrm>
            <a:off x="658440" y="1852560"/>
            <a:ext cx="6638040" cy="4112640"/>
          </a:xfrm>
          <a:prstGeom prst="rect">
            <a:avLst/>
          </a:prstGeom>
          <a:noFill/>
          <a:ln w="0">
            <a:noFill/>
          </a:ln>
        </p:spPr>
      </p:pic>
      <p:sp>
        <p:nvSpPr>
          <p:cNvPr id="417" name="Shape 3"/>
          <p:cNvSpPr/>
          <p:nvPr/>
        </p:nvSpPr>
        <p:spPr>
          <a:xfrm>
            <a:off x="7772400" y="1600200"/>
            <a:ext cx="1416960" cy="456840"/>
          </a:xfrm>
          <a:prstGeom prst="roundRect">
            <a:avLst>
              <a:gd name="adj" fmla="val 50000"/>
            </a:avLst>
          </a:prstGeom>
          <a:solidFill>
            <a:srgbClr val="FF7A29"/>
          </a:solidFill>
          <a:ln w="0">
            <a:noFill/>
          </a:ln>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sp>
        <p:nvSpPr>
          <p:cNvPr id="418" name="Text 4"/>
          <p:cNvSpPr/>
          <p:nvPr/>
        </p:nvSpPr>
        <p:spPr>
          <a:xfrm>
            <a:off x="7772400" y="1600200"/>
            <a:ext cx="1416960" cy="4568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algn="ctr" defTabSz="914400">
              <a:lnSpc>
                <a:spcPct val="100000"/>
              </a:lnSpc>
              <a:tabLst>
                <a:tab pos="0" algn="l"/>
              </a:tabLst>
            </a:pPr>
            <a:r>
              <a:rPr lang="en-US" sz="1700" b="1" u="none" strike="noStrike">
                <a:solidFill>
                  <a:srgbClr val="FFFFFF"/>
                </a:solidFill>
                <a:effectLst/>
                <a:uFillTx/>
                <a:latin typeface="Calibri" panose="020F0502020204030204"/>
                <a:ea typeface="Calibri" panose="020F0502020204030204"/>
              </a:rPr>
              <a:t>r = 0.343</a:t>
            </a:r>
            <a:endParaRPr lang="es-ES" sz="1700" b="0" u="none" strike="noStrike">
              <a:solidFill>
                <a:srgbClr val="000000"/>
              </a:solidFill>
              <a:effectLst/>
              <a:uFillTx/>
              <a:latin typeface="Arial" panose="020B0604020202020204"/>
            </a:endParaRPr>
          </a:p>
        </p:txBody>
      </p:sp>
      <p:sp>
        <p:nvSpPr>
          <p:cNvPr id="419" name="Text 5"/>
          <p:cNvSpPr/>
          <p:nvPr/>
        </p:nvSpPr>
        <p:spPr>
          <a:xfrm>
            <a:off x="7772400" y="2221920"/>
            <a:ext cx="3870360" cy="17827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20000"/>
              </a:lnSpc>
              <a:tabLst>
                <a:tab pos="0" algn="l"/>
              </a:tabLst>
            </a:pPr>
            <a:r>
              <a:rPr lang="en-US" sz="1150" b="0" u="none" strike="noStrike">
                <a:solidFill>
                  <a:srgbClr val="12203D"/>
                </a:solidFill>
                <a:effectLst/>
                <a:uFillTx/>
                <a:latin typeface="Calibri" panose="020F0502020204030204"/>
                <a:ea typeface="Calibri" panose="020F0502020204030204"/>
              </a:rPr>
              <a:t>Las métricas defensivas individuales son las menos fiables porque dependen del sistema del equipo. Existen "defensores escondidos": DBPM alto que sobrevive incluso en equipos con pocas victorias.</a:t>
            </a:r>
            <a:endParaRPr lang="es-ES" sz="1150" b="0" u="none" strike="noStrike">
              <a:solidFill>
                <a:srgbClr val="000000"/>
              </a:solidFill>
              <a:effectLst/>
              <a:uFillTx/>
              <a:latin typeface="Arial" panose="020B0604020202020204"/>
            </a:endParaRPr>
          </a:p>
        </p:txBody>
      </p:sp>
      <p:graphicFrame>
        <p:nvGraphicFramePr>
          <p:cNvPr id="420" name="Table 0"/>
          <p:cNvGraphicFramePr/>
          <p:nvPr/>
        </p:nvGraphicFramePr>
        <p:xfrm>
          <a:off x="7772400" y="4050720"/>
          <a:ext cx="3870360" cy="1444320"/>
        </p:xfrm>
        <a:graphic>
          <a:graphicData uri="http://schemas.openxmlformats.org/drawingml/2006/table">
            <a:tbl>
              <a:tblPr/>
              <a:tblGrid>
                <a:gridCol w="1315800"/>
                <a:gridCol w="638640"/>
                <a:gridCol w="638640"/>
                <a:gridCol w="638640"/>
                <a:gridCol w="638640"/>
              </a:tblGrid>
              <a:tr h="255960">
                <a:tc>
                  <a:txBody>
                    <a:bodyPr>
                      <a:spAutoFit/>
                    </a:bodyPr>
                    <a:p>
                      <a:pPr defTabSz="914400">
                        <a:lnSpc>
                          <a:spcPct val="100000"/>
                        </a:lnSpc>
                        <a:tabLst>
                          <a:tab pos="0" algn="l"/>
                        </a:tabLst>
                      </a:pPr>
                      <a:r>
                        <a:rPr lang="en-US" sz="850" b="1" u="none" strike="noStrike">
                          <a:solidFill>
                            <a:srgbClr val="FFFFFF"/>
                          </a:solidFill>
                          <a:effectLst/>
                          <a:uFillTx/>
                          <a:latin typeface="Calibri" panose="020F0502020204030204"/>
                          <a:ea typeface="Calibri" panose="020F0502020204030204"/>
                        </a:rPr>
                        <a:t>Jugador</a:t>
                      </a:r>
                      <a:endParaRPr lang="es-ES" sz="8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c>
                  <a:txBody>
                    <a:bodyPr>
                      <a:spAutoFit/>
                    </a:bodyPr>
                    <a:p>
                      <a:pPr defTabSz="914400">
                        <a:lnSpc>
                          <a:spcPct val="100000"/>
                        </a:lnSpc>
                        <a:tabLst>
                          <a:tab pos="0" algn="l"/>
                        </a:tabLst>
                      </a:pPr>
                      <a:r>
                        <a:rPr lang="en-US" sz="850" b="1" u="none" strike="noStrike">
                          <a:solidFill>
                            <a:srgbClr val="FFFFFF"/>
                          </a:solidFill>
                          <a:effectLst/>
                          <a:uFillTx/>
                          <a:latin typeface="Calibri" panose="020F0502020204030204"/>
                          <a:ea typeface="Calibri" panose="020F0502020204030204"/>
                        </a:rPr>
                        <a:t>Temp.</a:t>
                      </a:r>
                      <a:endParaRPr lang="es-ES" sz="8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c>
                  <a:txBody>
                    <a:bodyPr>
                      <a:spAutoFit/>
                    </a:bodyPr>
                    <a:p>
                      <a:pPr defTabSz="914400">
                        <a:lnSpc>
                          <a:spcPct val="100000"/>
                        </a:lnSpc>
                        <a:tabLst>
                          <a:tab pos="0" algn="l"/>
                        </a:tabLst>
                      </a:pPr>
                      <a:r>
                        <a:rPr lang="en-US" sz="850" b="1" u="none" strike="noStrike">
                          <a:solidFill>
                            <a:srgbClr val="FFFFFF"/>
                          </a:solidFill>
                          <a:effectLst/>
                          <a:uFillTx/>
                          <a:latin typeface="Calibri" panose="020F0502020204030204"/>
                          <a:ea typeface="Calibri" panose="020F0502020204030204"/>
                        </a:rPr>
                        <a:t>Equipo</a:t>
                      </a:r>
                      <a:endParaRPr lang="es-ES" sz="8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c>
                  <a:txBody>
                    <a:bodyPr>
                      <a:spAutoFit/>
                    </a:bodyPr>
                    <a:p>
                      <a:pPr defTabSz="914400">
                        <a:lnSpc>
                          <a:spcPct val="100000"/>
                        </a:lnSpc>
                        <a:tabLst>
                          <a:tab pos="0" algn="l"/>
                        </a:tabLst>
                      </a:pPr>
                      <a:r>
                        <a:rPr lang="en-US" sz="850" b="1" u="none" strike="noStrike">
                          <a:solidFill>
                            <a:srgbClr val="FFFFFF"/>
                          </a:solidFill>
                          <a:effectLst/>
                          <a:uFillTx/>
                          <a:latin typeface="Calibri" panose="020F0502020204030204"/>
                          <a:ea typeface="Calibri" panose="020F0502020204030204"/>
                        </a:rPr>
                        <a:t>DBPM</a:t>
                      </a:r>
                      <a:endParaRPr lang="es-ES" sz="8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c>
                  <a:txBody>
                    <a:bodyPr>
                      <a:spAutoFit/>
                    </a:bodyPr>
                    <a:p>
                      <a:pPr defTabSz="914400">
                        <a:lnSpc>
                          <a:spcPct val="100000"/>
                        </a:lnSpc>
                        <a:tabLst>
                          <a:tab pos="0" algn="l"/>
                        </a:tabLst>
                      </a:pPr>
                      <a:r>
                        <a:rPr lang="en-US" sz="850" b="1" u="none" strike="noStrike">
                          <a:solidFill>
                            <a:srgbClr val="FFFFFF"/>
                          </a:solidFill>
                          <a:effectLst/>
                          <a:uFillTx/>
                          <a:latin typeface="Calibri" panose="020F0502020204030204"/>
                          <a:ea typeface="Calibri" panose="020F0502020204030204"/>
                        </a:rPr>
                        <a:t>% Vict.</a:t>
                      </a:r>
                      <a:endParaRPr lang="es-ES" sz="8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Mark Eaton</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1983</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UTA</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4.3</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0.366</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Eric Murdock</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1997</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DEN</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3.7</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0.256</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Andrei Kirilenko</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2005</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UTA</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3.7</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0.317</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Kyle Lowry</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2007</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MEM</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3.5</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0.268</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Quinn Buckner</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1986</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IND</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3.4</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0.317</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r>
            </a:tbl>
          </a:graphicData>
        </a:graphic>
      </p:graphicFrame>
      <p:pic>
        <p:nvPicPr>
          <p:cNvPr id="421" name="Image 1" descr="/tmp/claude-0/-home-claude/c0a8783c-8817-5425-bc4f-190e5f64548a/scratchpad/work/icons/basketball_E1590F.png"/>
          <p:cNvPicPr/>
          <p:nvPr/>
        </p:nvPicPr>
        <p:blipFill>
          <a:blip r:embed="rId2"/>
          <a:stretch>
            <a:fillRect/>
          </a:stretch>
        </p:blipFill>
        <p:spPr>
          <a:xfrm>
            <a:off x="548640" y="6546960"/>
            <a:ext cx="145800" cy="145800"/>
          </a:xfrm>
          <a:prstGeom prst="rect">
            <a:avLst/>
          </a:prstGeom>
          <a:noFill/>
          <a:ln w="0">
            <a:noFill/>
          </a:ln>
        </p:spPr>
      </p:pic>
      <p:sp>
        <p:nvSpPr>
          <p:cNvPr id="422" name="Text 6"/>
          <p:cNvSpPr/>
          <p:nvPr/>
        </p:nvSpPr>
        <p:spPr>
          <a:xfrm>
            <a:off x="768240" y="6510600"/>
            <a:ext cx="45716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850" b="0" u="none" strike="noStrike">
                <a:solidFill>
                  <a:srgbClr val="5B6B85"/>
                </a:solidFill>
                <a:effectLst/>
                <a:uFillTx/>
                <a:latin typeface="Calibri" panose="020F0502020204030204"/>
                <a:ea typeface="Calibri" panose="020F0502020204030204"/>
              </a:rPr>
              <a:t>04 · Bivariado · 7/8</a:t>
            </a:r>
            <a:endParaRPr lang="es-ES" sz="850" b="0" u="none" strike="noStrike">
              <a:solidFill>
                <a:srgbClr val="000000"/>
              </a:solidFill>
              <a:effectLst/>
              <a:uFillTx/>
              <a:latin typeface="Arial" panose="020B0604020202020204"/>
            </a:endParaRPr>
          </a:p>
        </p:txBody>
      </p:sp>
      <p:sp>
        <p:nvSpPr>
          <p:cNvPr id="423" name="Text 7"/>
          <p:cNvSpPr/>
          <p:nvPr/>
        </p:nvSpPr>
        <p:spPr>
          <a:xfrm>
            <a:off x="10271520" y="6510600"/>
            <a:ext cx="1371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algn="r" defTabSz="914400">
              <a:lnSpc>
                <a:spcPct val="100000"/>
              </a:lnSpc>
              <a:tabLst>
                <a:tab pos="0" algn="l"/>
              </a:tabLst>
            </a:pPr>
            <a:r>
              <a:rPr lang="en-US" sz="850" b="0" u="none" strike="noStrike">
                <a:solidFill>
                  <a:srgbClr val="5B6B85"/>
                </a:solidFill>
                <a:effectLst/>
                <a:uFillTx/>
                <a:latin typeface="Calibri" panose="020F0502020204030204"/>
                <a:ea typeface="Calibri" panose="020F0502020204030204"/>
              </a:rPr>
              <a:t>19 / 23</a:t>
            </a:r>
            <a:endParaRPr lang="es-ES" sz="850" b="0" u="none" strike="noStrike">
              <a:solidFill>
                <a:srgbClr val="000000"/>
              </a:solidFill>
              <a:effectLst/>
              <a:uFillTx/>
              <a:latin typeface="Arial" panose="020B0604020202020204"/>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4F6F9"/>
        </a:solidFill>
        <a:effectLst/>
      </p:bgPr>
    </p:bg>
    <p:spTree>
      <p:nvGrpSpPr>
        <p:cNvPr id="1" name=""/>
        <p:cNvGrpSpPr/>
        <p:nvPr/>
      </p:nvGrpSpPr>
      <p:grpSpPr>
        <a:xfrm>
          <a:off x="0" y="0"/>
          <a:ext cx="0" cy="0"/>
          <a:chOff x="0" y="0"/>
          <a:chExt cx="0" cy="0"/>
        </a:xfrm>
      </p:grpSpPr>
      <p:sp>
        <p:nvSpPr>
          <p:cNvPr id="424" name="Text 0"/>
          <p:cNvSpPr/>
          <p:nvPr/>
        </p:nvSpPr>
        <p:spPr>
          <a:xfrm>
            <a:off x="548640" y="411480"/>
            <a:ext cx="7314840" cy="2923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1150" b="1" u="none" strike="noStrike" spc="201">
                <a:solidFill>
                  <a:srgbClr val="E1590F"/>
                </a:solidFill>
                <a:effectLst/>
                <a:uFillTx/>
                <a:latin typeface="Calibri" panose="020F0502020204030204"/>
                <a:ea typeface="Calibri" panose="020F0502020204030204"/>
              </a:rPr>
              <a:t>04 · ANÁLISIS BIVARIADO</a:t>
            </a:r>
            <a:endParaRPr lang="es-ES" sz="1150" b="0" u="none" strike="noStrike">
              <a:solidFill>
                <a:srgbClr val="000000"/>
              </a:solidFill>
              <a:effectLst/>
              <a:uFillTx/>
              <a:latin typeface="Arial" panose="020B0604020202020204"/>
            </a:endParaRPr>
          </a:p>
        </p:txBody>
      </p:sp>
      <p:sp>
        <p:nvSpPr>
          <p:cNvPr id="425" name="Text 1"/>
          <p:cNvSpPr/>
          <p:nvPr/>
        </p:nvSpPr>
        <p:spPr>
          <a:xfrm>
            <a:off x="548640" y="749880"/>
            <a:ext cx="11094120" cy="77688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2000"/>
              </a:lnSpc>
              <a:tabLst>
                <a:tab pos="0" algn="l"/>
              </a:tabLst>
            </a:pPr>
            <a:r>
              <a:rPr lang="en-US" sz="2400" b="1" u="none" strike="noStrike">
                <a:solidFill>
                  <a:srgbClr val="0B1E3D"/>
                </a:solidFill>
                <a:effectLst/>
                <a:uFillTx/>
                <a:latin typeface="Calibri" panose="020F0502020204030204"/>
                <a:ea typeface="Calibri" panose="020F0502020204030204"/>
              </a:rPr>
              <a:t>Años de experiencia vs. eficiencia, por edad de entrada</a:t>
            </a:r>
            <a:endParaRPr lang="es-ES" sz="2400" b="0" u="none" strike="noStrike">
              <a:solidFill>
                <a:srgbClr val="000000"/>
              </a:solidFill>
              <a:effectLst/>
              <a:uFillTx/>
              <a:latin typeface="Arial" panose="020B0604020202020204"/>
            </a:endParaRPr>
          </a:p>
        </p:txBody>
      </p:sp>
      <p:sp>
        <p:nvSpPr>
          <p:cNvPr id="426" name="Shape 2"/>
          <p:cNvSpPr/>
          <p:nvPr/>
        </p:nvSpPr>
        <p:spPr>
          <a:xfrm>
            <a:off x="548640" y="1742760"/>
            <a:ext cx="6857640" cy="4331880"/>
          </a:xfrm>
          <a:prstGeom prst="roundRect">
            <a:avLst>
              <a:gd name="adj" fmla="val 1266"/>
            </a:avLst>
          </a:prstGeom>
          <a:solidFill>
            <a:srgbClr val="FFFFFF"/>
          </a:solidFill>
          <a:ln w="0">
            <a:noFill/>
          </a:ln>
          <a:effectLst>
            <a:outerShdw algn="bl" rotWithShape="0">
              <a:srgbClr val="8798AD">
                <a:alpha val="0"/>
              </a:srgbClr>
            </a:outerShdw>
          </a:effectLst>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pic>
        <p:nvPicPr>
          <p:cNvPr id="427" name="Image 0" descr="/tmp/claude-0/-home-claude/c0a8783c-8817-5425-bc4f-190e5f64548a/scratchpad/work/imgs/img_075.png"/>
          <p:cNvPicPr/>
          <p:nvPr/>
        </p:nvPicPr>
        <p:blipFill>
          <a:blip r:embed="rId1"/>
          <a:stretch>
            <a:fillRect/>
          </a:stretch>
        </p:blipFill>
        <p:spPr>
          <a:xfrm>
            <a:off x="658440" y="1852560"/>
            <a:ext cx="6638040" cy="4112640"/>
          </a:xfrm>
          <a:prstGeom prst="rect">
            <a:avLst/>
          </a:prstGeom>
          <a:noFill/>
          <a:ln w="0">
            <a:noFill/>
          </a:ln>
        </p:spPr>
      </p:pic>
      <p:sp>
        <p:nvSpPr>
          <p:cNvPr id="428" name="Text 3"/>
          <p:cNvSpPr/>
          <p:nvPr/>
        </p:nvSpPr>
        <p:spPr>
          <a:xfrm>
            <a:off x="7772400" y="1600200"/>
            <a:ext cx="3870360" cy="17827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20000"/>
              </a:lnSpc>
              <a:tabLst>
                <a:tab pos="0" algn="l"/>
              </a:tabLst>
            </a:pPr>
            <a:r>
              <a:rPr lang="en-US" sz="1150" b="0" u="none" strike="noStrike">
                <a:solidFill>
                  <a:srgbClr val="12203D"/>
                </a:solidFill>
                <a:effectLst/>
                <a:uFillTx/>
                <a:latin typeface="Calibri" panose="020F0502020204030204"/>
                <a:ea typeface="Calibri" panose="020F0502020204030204"/>
              </a:rPr>
              <a:t>A igual experiencia, entrar más joven a la liga se asocia con mayor PER. A 5 años de experiencia, quienes entraron con ≤19 años promedian 17.8 de PER frente a 13.1 de quienes entraron con 24+ años.</a:t>
            </a:r>
            <a:endParaRPr lang="es-ES" sz="1150" b="0" u="none" strike="noStrike">
              <a:solidFill>
                <a:srgbClr val="000000"/>
              </a:solidFill>
              <a:effectLst/>
              <a:uFillTx/>
              <a:latin typeface="Arial" panose="020B0604020202020204"/>
            </a:endParaRPr>
          </a:p>
        </p:txBody>
      </p:sp>
      <p:graphicFrame>
        <p:nvGraphicFramePr>
          <p:cNvPr id="429" name="Table 0"/>
          <p:cNvGraphicFramePr/>
          <p:nvPr/>
        </p:nvGraphicFramePr>
        <p:xfrm>
          <a:off x="7772400" y="3429000"/>
          <a:ext cx="3870360" cy="1206720"/>
        </p:xfrm>
        <a:graphic>
          <a:graphicData uri="http://schemas.openxmlformats.org/drawingml/2006/table">
            <a:tbl>
              <a:tblPr/>
              <a:tblGrid>
                <a:gridCol w="1315800"/>
                <a:gridCol w="1277280"/>
                <a:gridCol w="1277280"/>
              </a:tblGrid>
              <a:tr h="255960">
                <a:tc>
                  <a:txBody>
                    <a:bodyPr>
                      <a:spAutoFit/>
                    </a:bodyPr>
                    <a:p>
                      <a:pPr defTabSz="914400">
                        <a:lnSpc>
                          <a:spcPct val="100000"/>
                        </a:lnSpc>
                        <a:tabLst>
                          <a:tab pos="0" algn="l"/>
                        </a:tabLst>
                      </a:pPr>
                      <a:r>
                        <a:rPr lang="en-US" sz="850" b="1" u="none" strike="noStrike">
                          <a:solidFill>
                            <a:srgbClr val="FFFFFF"/>
                          </a:solidFill>
                          <a:effectLst/>
                          <a:uFillTx/>
                          <a:latin typeface="Calibri" panose="020F0502020204030204"/>
                          <a:ea typeface="Calibri" panose="020F0502020204030204"/>
                        </a:rPr>
                        <a:t>Edad entrada</a:t>
                      </a:r>
                      <a:endParaRPr lang="es-ES" sz="8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c>
                  <a:txBody>
                    <a:bodyPr>
                      <a:spAutoFit/>
                    </a:bodyPr>
                    <a:p>
                      <a:pPr defTabSz="914400">
                        <a:lnSpc>
                          <a:spcPct val="100000"/>
                        </a:lnSpc>
                        <a:tabLst>
                          <a:tab pos="0" algn="l"/>
                        </a:tabLst>
                      </a:pPr>
                      <a:r>
                        <a:rPr lang="en-US" sz="850" b="1" u="none" strike="noStrike">
                          <a:solidFill>
                            <a:srgbClr val="FFFFFF"/>
                          </a:solidFill>
                          <a:effectLst/>
                          <a:uFillTx/>
                          <a:latin typeface="Calibri" panose="020F0502020204030204"/>
                          <a:ea typeface="Calibri" panose="020F0502020204030204"/>
                        </a:rPr>
                        <a:t>PER (año 5)</a:t>
                      </a:r>
                      <a:endParaRPr lang="es-ES" sz="8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c>
                  <a:txBody>
                    <a:bodyPr>
                      <a:spAutoFit/>
                    </a:bodyPr>
                    <a:p>
                      <a:pPr defTabSz="914400">
                        <a:lnSpc>
                          <a:spcPct val="100000"/>
                        </a:lnSpc>
                        <a:tabLst>
                          <a:tab pos="0" algn="l"/>
                        </a:tabLst>
                      </a:pPr>
                      <a:r>
                        <a:rPr lang="en-US" sz="850" b="1" u="none" strike="noStrike">
                          <a:solidFill>
                            <a:srgbClr val="FFFFFF"/>
                          </a:solidFill>
                          <a:effectLst/>
                          <a:uFillTx/>
                          <a:latin typeface="Calibri" panose="020F0502020204030204"/>
                          <a:ea typeface="Calibri" panose="020F0502020204030204"/>
                        </a:rPr>
                        <a:t>Jugadores</a:t>
                      </a:r>
                      <a:endParaRPr lang="es-ES" sz="8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≤19</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17.83</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132</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20-21</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16.63</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515</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22-23</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13.99</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1245</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24+</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13.11</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803</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r>
            </a:tbl>
          </a:graphicData>
        </a:graphic>
      </p:graphicFrame>
      <p:pic>
        <p:nvPicPr>
          <p:cNvPr id="430" name="Image 1" descr="/tmp/claude-0/-home-claude/c0a8783c-8817-5425-bc4f-190e5f64548a/scratchpad/work/icons/basketball_E1590F.png"/>
          <p:cNvPicPr/>
          <p:nvPr/>
        </p:nvPicPr>
        <p:blipFill>
          <a:blip r:embed="rId2"/>
          <a:stretch>
            <a:fillRect/>
          </a:stretch>
        </p:blipFill>
        <p:spPr>
          <a:xfrm>
            <a:off x="548640" y="6546960"/>
            <a:ext cx="145800" cy="145800"/>
          </a:xfrm>
          <a:prstGeom prst="rect">
            <a:avLst/>
          </a:prstGeom>
          <a:noFill/>
          <a:ln w="0">
            <a:noFill/>
          </a:ln>
        </p:spPr>
      </p:pic>
      <p:sp>
        <p:nvSpPr>
          <p:cNvPr id="431" name="Text 4"/>
          <p:cNvSpPr/>
          <p:nvPr/>
        </p:nvSpPr>
        <p:spPr>
          <a:xfrm>
            <a:off x="768240" y="6510600"/>
            <a:ext cx="45716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850" b="0" u="none" strike="noStrike">
                <a:solidFill>
                  <a:srgbClr val="5B6B85"/>
                </a:solidFill>
                <a:effectLst/>
                <a:uFillTx/>
                <a:latin typeface="Calibri" panose="020F0502020204030204"/>
                <a:ea typeface="Calibri" panose="020F0502020204030204"/>
              </a:rPr>
              <a:t>04 · Bivariado · 8/8</a:t>
            </a:r>
            <a:endParaRPr lang="es-ES" sz="850" b="0" u="none" strike="noStrike">
              <a:solidFill>
                <a:srgbClr val="000000"/>
              </a:solidFill>
              <a:effectLst/>
              <a:uFillTx/>
              <a:latin typeface="Arial" panose="020B0604020202020204"/>
            </a:endParaRPr>
          </a:p>
        </p:txBody>
      </p:sp>
      <p:sp>
        <p:nvSpPr>
          <p:cNvPr id="432" name="Text 5"/>
          <p:cNvSpPr/>
          <p:nvPr/>
        </p:nvSpPr>
        <p:spPr>
          <a:xfrm>
            <a:off x="10271520" y="6510600"/>
            <a:ext cx="1371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algn="r" defTabSz="914400">
              <a:lnSpc>
                <a:spcPct val="100000"/>
              </a:lnSpc>
              <a:tabLst>
                <a:tab pos="0" algn="l"/>
              </a:tabLst>
            </a:pPr>
            <a:r>
              <a:rPr lang="en-US" sz="850" b="0" u="none" strike="noStrike">
                <a:solidFill>
                  <a:srgbClr val="5B6B85"/>
                </a:solidFill>
                <a:effectLst/>
                <a:uFillTx/>
                <a:latin typeface="Calibri" panose="020F0502020204030204"/>
                <a:ea typeface="Calibri" panose="020F0502020204030204"/>
              </a:rPr>
              <a:t>20 / 23</a:t>
            </a:r>
            <a:endParaRPr lang="es-ES" sz="850" b="0" u="none" strike="noStrike">
              <a:solidFill>
                <a:srgbClr val="000000"/>
              </a:solidFill>
              <a:effectLst/>
              <a:uFillTx/>
              <a:latin typeface="Arial" panose="020B0604020202020204"/>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4F6F9"/>
        </a:solidFill>
        <a:effectLst/>
      </p:bgPr>
    </p:bg>
    <p:spTree>
      <p:nvGrpSpPr>
        <p:cNvPr id="1" name=""/>
        <p:cNvGrpSpPr/>
        <p:nvPr/>
      </p:nvGrpSpPr>
      <p:grpSpPr>
        <a:xfrm>
          <a:off x="0" y="0"/>
          <a:ext cx="0" cy="0"/>
          <a:chOff x="0" y="0"/>
          <a:chExt cx="0" cy="0"/>
        </a:xfrm>
      </p:grpSpPr>
      <p:sp>
        <p:nvSpPr>
          <p:cNvPr id="433" name="Text 0"/>
          <p:cNvSpPr/>
          <p:nvPr/>
        </p:nvSpPr>
        <p:spPr>
          <a:xfrm>
            <a:off x="548640" y="411480"/>
            <a:ext cx="7314840" cy="2923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1150" b="1" u="none" strike="noStrike" spc="201">
                <a:solidFill>
                  <a:srgbClr val="E1590F"/>
                </a:solidFill>
                <a:effectLst/>
                <a:uFillTx/>
                <a:latin typeface="Calibri" panose="020F0502020204030204"/>
                <a:ea typeface="Calibri" panose="020F0502020204030204"/>
              </a:rPr>
              <a:t>05 · DATOS INTERESANTES ENCONTRADOS</a:t>
            </a:r>
            <a:endParaRPr lang="es-ES" sz="1150" b="0" u="none" strike="noStrike">
              <a:solidFill>
                <a:srgbClr val="000000"/>
              </a:solidFill>
              <a:effectLst/>
              <a:uFillTx/>
              <a:latin typeface="Arial" panose="020B0604020202020204"/>
            </a:endParaRPr>
          </a:p>
        </p:txBody>
      </p:sp>
      <p:sp>
        <p:nvSpPr>
          <p:cNvPr id="434" name="Text 1"/>
          <p:cNvSpPr/>
          <p:nvPr/>
        </p:nvSpPr>
        <p:spPr>
          <a:xfrm>
            <a:off x="548640" y="749880"/>
            <a:ext cx="11094120" cy="77688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2000"/>
              </a:lnSpc>
              <a:tabLst>
                <a:tab pos="0" algn="l"/>
              </a:tabLst>
            </a:pPr>
            <a:r>
              <a:rPr lang="en-US" sz="2400" b="1" u="none" strike="noStrike">
                <a:solidFill>
                  <a:srgbClr val="0B1E3D"/>
                </a:solidFill>
                <a:effectLst/>
                <a:uFillTx/>
                <a:latin typeface="Calibri" panose="020F0502020204030204"/>
                <a:ea typeface="Calibri" panose="020F0502020204030204"/>
              </a:rPr>
              <a:t>Puntos por partido según temporada — el listón histórico</a:t>
            </a:r>
            <a:endParaRPr lang="es-ES" sz="2400" b="0" u="none" strike="noStrike">
              <a:solidFill>
                <a:srgbClr val="000000"/>
              </a:solidFill>
              <a:effectLst/>
              <a:uFillTx/>
              <a:latin typeface="Arial" panose="020B0604020202020204"/>
            </a:endParaRPr>
          </a:p>
        </p:txBody>
      </p:sp>
      <p:sp>
        <p:nvSpPr>
          <p:cNvPr id="435" name="Shape 2"/>
          <p:cNvSpPr/>
          <p:nvPr/>
        </p:nvSpPr>
        <p:spPr>
          <a:xfrm>
            <a:off x="548640" y="2004120"/>
            <a:ext cx="6857640" cy="3809520"/>
          </a:xfrm>
          <a:prstGeom prst="roundRect">
            <a:avLst>
              <a:gd name="adj" fmla="val 1440"/>
            </a:avLst>
          </a:prstGeom>
          <a:solidFill>
            <a:srgbClr val="FFFFFF"/>
          </a:solidFill>
          <a:ln w="0">
            <a:noFill/>
          </a:ln>
          <a:effectLst>
            <a:outerShdw algn="bl" rotWithShape="0">
              <a:srgbClr val="8798AD">
                <a:alpha val="0"/>
              </a:srgbClr>
            </a:outerShdw>
          </a:effectLst>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pic>
        <p:nvPicPr>
          <p:cNvPr id="436" name="Image 0" descr="/tmp/claude-0/-home-claude/c0a8783c-8817-5425-bc4f-190e5f64548a/scratchpad/work/imgs/img_puntos_temporada.png"/>
          <p:cNvPicPr/>
          <p:nvPr/>
        </p:nvPicPr>
        <p:blipFill>
          <a:blip r:embed="rId1"/>
          <a:stretch>
            <a:fillRect/>
          </a:stretch>
        </p:blipFill>
        <p:spPr>
          <a:xfrm>
            <a:off x="658440" y="2113920"/>
            <a:ext cx="6638040" cy="3590280"/>
          </a:xfrm>
          <a:prstGeom prst="rect">
            <a:avLst/>
          </a:prstGeom>
          <a:noFill/>
          <a:ln w="0">
            <a:noFill/>
          </a:ln>
        </p:spPr>
      </p:pic>
      <p:sp>
        <p:nvSpPr>
          <p:cNvPr id="437" name="Text 3"/>
          <p:cNvSpPr/>
          <p:nvPr/>
        </p:nvSpPr>
        <p:spPr>
          <a:xfrm>
            <a:off x="7772400" y="1600200"/>
            <a:ext cx="3870360" cy="17827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20000"/>
              </a:lnSpc>
              <a:tabLst>
                <a:tab pos="0" algn="l"/>
              </a:tabLst>
            </a:pPr>
            <a:r>
              <a:rPr lang="en-US" sz="1150" b="0" u="none" strike="noStrike">
                <a:solidFill>
                  <a:srgbClr val="12203D"/>
                </a:solidFill>
                <a:effectLst/>
                <a:uFillTx/>
                <a:latin typeface="Calibri" panose="020F0502020204030204"/>
                <a:ea typeface="Calibri" panose="020F0502020204030204"/>
              </a:rPr>
              <a:t>Cada caja es una temporada completa de la liga; los puntos dorados marcan al máximo anotador de cada año. La mediana de la liga apenas se mueve entre 7 y 9 puntos por partido en 41 años, pero el techo de las estrellas sí varía con fuerza: la temporada 1987 de Michael Jordan sigue siendo, en este dataset, la mayor anotación promedio jamás registrada.</a:t>
            </a:r>
            <a:endParaRPr lang="es-ES" sz="1150" b="0" u="none" strike="noStrike">
              <a:solidFill>
                <a:srgbClr val="000000"/>
              </a:solidFill>
              <a:effectLst/>
              <a:uFillTx/>
              <a:latin typeface="Arial" panose="020B0604020202020204"/>
            </a:endParaRPr>
          </a:p>
        </p:txBody>
      </p:sp>
      <p:graphicFrame>
        <p:nvGraphicFramePr>
          <p:cNvPr id="438" name="Table 0"/>
          <p:cNvGraphicFramePr/>
          <p:nvPr/>
        </p:nvGraphicFramePr>
        <p:xfrm>
          <a:off x="7772400" y="3429000"/>
          <a:ext cx="3870360" cy="1960920"/>
        </p:xfrm>
        <a:graphic>
          <a:graphicData uri="http://schemas.openxmlformats.org/drawingml/2006/table">
            <a:tbl>
              <a:tblPr/>
              <a:tblGrid>
                <a:gridCol w="1315800"/>
                <a:gridCol w="851400"/>
                <a:gridCol w="851400"/>
                <a:gridCol w="851400"/>
              </a:tblGrid>
              <a:tr h="255960">
                <a:tc>
                  <a:txBody>
                    <a:bodyPr>
                      <a:spAutoFit/>
                    </a:bodyPr>
                    <a:p>
                      <a:pPr defTabSz="914400">
                        <a:lnSpc>
                          <a:spcPct val="100000"/>
                        </a:lnSpc>
                        <a:tabLst>
                          <a:tab pos="0" algn="l"/>
                        </a:tabLst>
                      </a:pPr>
                      <a:r>
                        <a:rPr lang="en-US" sz="850" b="1" u="none" strike="noStrike">
                          <a:solidFill>
                            <a:srgbClr val="FFFFFF"/>
                          </a:solidFill>
                          <a:effectLst/>
                          <a:uFillTx/>
                          <a:latin typeface="Calibri" panose="020F0502020204030204"/>
                          <a:ea typeface="Calibri" panose="020F0502020204030204"/>
                        </a:rPr>
                        <a:t>Temp.</a:t>
                      </a:r>
                      <a:endParaRPr lang="es-ES" sz="8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c>
                  <a:txBody>
                    <a:bodyPr>
                      <a:spAutoFit/>
                    </a:bodyPr>
                    <a:p>
                      <a:pPr defTabSz="914400">
                        <a:lnSpc>
                          <a:spcPct val="100000"/>
                        </a:lnSpc>
                        <a:tabLst>
                          <a:tab pos="0" algn="l"/>
                        </a:tabLst>
                      </a:pPr>
                      <a:r>
                        <a:rPr lang="en-US" sz="850" b="1" u="none" strike="noStrike">
                          <a:solidFill>
                            <a:srgbClr val="FFFFFF"/>
                          </a:solidFill>
                          <a:effectLst/>
                          <a:uFillTx/>
                          <a:latin typeface="Calibri" panose="020F0502020204030204"/>
                          <a:ea typeface="Calibri" panose="020F0502020204030204"/>
                        </a:rPr>
                        <a:t>Jugador</a:t>
                      </a:r>
                      <a:endParaRPr lang="es-ES" sz="8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c>
                  <a:txBody>
                    <a:bodyPr>
                      <a:spAutoFit/>
                    </a:bodyPr>
                    <a:p>
                      <a:pPr defTabSz="914400">
                        <a:lnSpc>
                          <a:spcPct val="100000"/>
                        </a:lnSpc>
                        <a:tabLst>
                          <a:tab pos="0" algn="l"/>
                        </a:tabLst>
                      </a:pPr>
                      <a:r>
                        <a:rPr lang="en-US" sz="850" b="1" u="none" strike="noStrike">
                          <a:solidFill>
                            <a:srgbClr val="FFFFFF"/>
                          </a:solidFill>
                          <a:effectLst/>
                          <a:uFillTx/>
                          <a:latin typeface="Calibri" panose="020F0502020204030204"/>
                          <a:ea typeface="Calibri" panose="020F0502020204030204"/>
                        </a:rPr>
                        <a:t>Equipo</a:t>
                      </a:r>
                      <a:endParaRPr lang="es-ES" sz="8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c>
                  <a:txBody>
                    <a:bodyPr>
                      <a:spAutoFit/>
                    </a:bodyPr>
                    <a:p>
                      <a:pPr defTabSz="914400">
                        <a:lnSpc>
                          <a:spcPct val="100000"/>
                        </a:lnSpc>
                        <a:tabLst>
                          <a:tab pos="0" algn="l"/>
                        </a:tabLst>
                      </a:pPr>
                      <a:r>
                        <a:rPr lang="en-US" sz="850" b="1" u="none" strike="noStrike">
                          <a:solidFill>
                            <a:srgbClr val="FFFFFF"/>
                          </a:solidFill>
                          <a:effectLst/>
                          <a:uFillTx/>
                          <a:latin typeface="Calibri" panose="020F0502020204030204"/>
                          <a:ea typeface="Calibri" panose="020F0502020204030204"/>
                        </a:rPr>
                        <a:t>Pts/p</a:t>
                      </a:r>
                      <a:endParaRPr lang="es-ES" sz="8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1987</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Michael Jordan</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CHI</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37.1</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2019</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James Harden</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HOU</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36.1</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2006</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Kobe Bryant</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LAL</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35.4</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1988</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Michael Jordan</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CHI</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35.0</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2020</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James Harden</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HOU</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34.3</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r>
            </a:tbl>
          </a:graphicData>
        </a:graphic>
      </p:graphicFrame>
      <p:pic>
        <p:nvPicPr>
          <p:cNvPr id="439" name="Image 1" descr="/tmp/claude-0/-home-claude/c0a8783c-8817-5425-bc4f-190e5f64548a/scratchpad/work/icons/basketball_E1590F.png"/>
          <p:cNvPicPr/>
          <p:nvPr/>
        </p:nvPicPr>
        <p:blipFill>
          <a:blip r:embed="rId2"/>
          <a:stretch>
            <a:fillRect/>
          </a:stretch>
        </p:blipFill>
        <p:spPr>
          <a:xfrm>
            <a:off x="548640" y="6546960"/>
            <a:ext cx="145800" cy="145800"/>
          </a:xfrm>
          <a:prstGeom prst="rect">
            <a:avLst/>
          </a:prstGeom>
          <a:noFill/>
          <a:ln w="0">
            <a:noFill/>
          </a:ln>
        </p:spPr>
      </p:pic>
      <p:sp>
        <p:nvSpPr>
          <p:cNvPr id="440" name="Text 4"/>
          <p:cNvSpPr/>
          <p:nvPr/>
        </p:nvSpPr>
        <p:spPr>
          <a:xfrm>
            <a:off x="768240" y="6510600"/>
            <a:ext cx="45716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850" b="0" u="none" strike="noStrike">
                <a:solidFill>
                  <a:srgbClr val="5B6B85"/>
                </a:solidFill>
                <a:effectLst/>
                <a:uFillTx/>
                <a:latin typeface="Calibri" panose="020F0502020204030204"/>
                <a:ea typeface="Calibri" panose="020F0502020204030204"/>
              </a:rPr>
              <a:t>05 · Datos interesantes · 1/2</a:t>
            </a:r>
            <a:endParaRPr lang="es-ES" sz="850" b="0" u="none" strike="noStrike">
              <a:solidFill>
                <a:srgbClr val="000000"/>
              </a:solidFill>
              <a:effectLst/>
              <a:uFillTx/>
              <a:latin typeface="Arial" panose="020B0604020202020204"/>
            </a:endParaRPr>
          </a:p>
        </p:txBody>
      </p:sp>
      <p:sp>
        <p:nvSpPr>
          <p:cNvPr id="441" name="Text 5"/>
          <p:cNvSpPr/>
          <p:nvPr/>
        </p:nvSpPr>
        <p:spPr>
          <a:xfrm>
            <a:off x="10271520" y="6510600"/>
            <a:ext cx="1371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algn="r" defTabSz="914400">
              <a:lnSpc>
                <a:spcPct val="100000"/>
              </a:lnSpc>
              <a:tabLst>
                <a:tab pos="0" algn="l"/>
              </a:tabLst>
            </a:pPr>
            <a:r>
              <a:rPr lang="en-US" sz="850" b="0" u="none" strike="noStrike">
                <a:solidFill>
                  <a:srgbClr val="5B6B85"/>
                </a:solidFill>
                <a:effectLst/>
                <a:uFillTx/>
                <a:latin typeface="Calibri" panose="020F0502020204030204"/>
                <a:ea typeface="Calibri" panose="020F0502020204030204"/>
              </a:rPr>
              <a:t>21 / 23</a:t>
            </a:r>
            <a:endParaRPr lang="es-ES" sz="850" b="0" u="none" strike="noStrike">
              <a:solidFill>
                <a:srgbClr val="000000"/>
              </a:solidFill>
              <a:effectLst/>
              <a:uFillTx/>
              <a:latin typeface="Arial" panose="020B0604020202020204"/>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4F6F9"/>
        </a:solidFill>
        <a:effectLst/>
      </p:bgPr>
    </p:bg>
    <p:spTree>
      <p:nvGrpSpPr>
        <p:cNvPr id="1" name=""/>
        <p:cNvGrpSpPr/>
        <p:nvPr/>
      </p:nvGrpSpPr>
      <p:grpSpPr>
        <a:xfrm>
          <a:off x="0" y="0"/>
          <a:ext cx="0" cy="0"/>
          <a:chOff x="0" y="0"/>
          <a:chExt cx="0" cy="0"/>
        </a:xfrm>
      </p:grpSpPr>
      <p:sp>
        <p:nvSpPr>
          <p:cNvPr id="442" name="Text 0"/>
          <p:cNvSpPr/>
          <p:nvPr/>
        </p:nvSpPr>
        <p:spPr>
          <a:xfrm>
            <a:off x="548640" y="411480"/>
            <a:ext cx="7314840" cy="2923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1150" b="1" u="none" strike="noStrike" spc="201">
                <a:solidFill>
                  <a:srgbClr val="E1590F"/>
                </a:solidFill>
                <a:effectLst/>
                <a:uFillTx/>
                <a:latin typeface="Calibri" panose="020F0502020204030204"/>
                <a:ea typeface="Calibri" panose="020F0502020204030204"/>
              </a:rPr>
              <a:t>05 · DATOS INTERESANTES ENCONTRADOS</a:t>
            </a:r>
            <a:endParaRPr lang="es-ES" sz="1150" b="0" u="none" strike="noStrike">
              <a:solidFill>
                <a:srgbClr val="000000"/>
              </a:solidFill>
              <a:effectLst/>
              <a:uFillTx/>
              <a:latin typeface="Arial" panose="020B0604020202020204"/>
            </a:endParaRPr>
          </a:p>
        </p:txBody>
      </p:sp>
      <p:sp>
        <p:nvSpPr>
          <p:cNvPr id="443" name="Text 1"/>
          <p:cNvSpPr/>
          <p:nvPr/>
        </p:nvSpPr>
        <p:spPr>
          <a:xfrm>
            <a:off x="548640" y="749880"/>
            <a:ext cx="11094120" cy="77688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2000"/>
              </a:lnSpc>
              <a:tabLst>
                <a:tab pos="0" algn="l"/>
              </a:tabLst>
            </a:pPr>
            <a:r>
              <a:rPr lang="en-US" sz="2400" b="1" u="none" strike="noStrike">
                <a:solidFill>
                  <a:srgbClr val="0B1E3D"/>
                </a:solidFill>
                <a:effectLst/>
                <a:uFillTx/>
                <a:latin typeface="Calibri" panose="020F0502020204030204"/>
                <a:ea typeface="Calibri" panose="020F0502020204030204"/>
              </a:rPr>
              <a:t>Triples anotados por partido según temporada — la era Curry</a:t>
            </a:r>
            <a:endParaRPr lang="es-ES" sz="2400" b="0" u="none" strike="noStrike">
              <a:solidFill>
                <a:srgbClr val="000000"/>
              </a:solidFill>
              <a:effectLst/>
              <a:uFillTx/>
              <a:latin typeface="Arial" panose="020B0604020202020204"/>
            </a:endParaRPr>
          </a:p>
        </p:txBody>
      </p:sp>
      <p:sp>
        <p:nvSpPr>
          <p:cNvPr id="444" name="Shape 2"/>
          <p:cNvSpPr/>
          <p:nvPr/>
        </p:nvSpPr>
        <p:spPr>
          <a:xfrm>
            <a:off x="548640" y="2004120"/>
            <a:ext cx="6857640" cy="3809520"/>
          </a:xfrm>
          <a:prstGeom prst="roundRect">
            <a:avLst>
              <a:gd name="adj" fmla="val 1440"/>
            </a:avLst>
          </a:prstGeom>
          <a:solidFill>
            <a:srgbClr val="FFFFFF"/>
          </a:solidFill>
          <a:ln w="0">
            <a:noFill/>
          </a:ln>
          <a:effectLst>
            <a:outerShdw algn="bl" rotWithShape="0">
              <a:srgbClr val="8798AD">
                <a:alpha val="0"/>
              </a:srgbClr>
            </a:outerShdw>
          </a:effectLst>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pic>
        <p:nvPicPr>
          <p:cNvPr id="445" name="Image 0" descr="/tmp/claude-0/-home-claude/c0a8783c-8817-5425-bc4f-190e5f64548a/scratchpad/work/imgs/img_triples_temporada.png"/>
          <p:cNvPicPr/>
          <p:nvPr/>
        </p:nvPicPr>
        <p:blipFill>
          <a:blip r:embed="rId1"/>
          <a:stretch>
            <a:fillRect/>
          </a:stretch>
        </p:blipFill>
        <p:spPr>
          <a:xfrm>
            <a:off x="658440" y="2113920"/>
            <a:ext cx="6638040" cy="3590280"/>
          </a:xfrm>
          <a:prstGeom prst="rect">
            <a:avLst/>
          </a:prstGeom>
          <a:noFill/>
          <a:ln w="0">
            <a:noFill/>
          </a:ln>
        </p:spPr>
      </p:pic>
      <p:sp>
        <p:nvSpPr>
          <p:cNvPr id="446" name="Text 3"/>
          <p:cNvSpPr/>
          <p:nvPr/>
        </p:nvSpPr>
        <p:spPr>
          <a:xfrm>
            <a:off x="7772400" y="1600200"/>
            <a:ext cx="3870360" cy="178272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20000"/>
              </a:lnSpc>
              <a:tabLst>
                <a:tab pos="0" algn="l"/>
              </a:tabLst>
            </a:pPr>
            <a:r>
              <a:rPr lang="en-US" sz="1150" b="0" u="none" strike="noStrike">
                <a:solidFill>
                  <a:srgbClr val="12203D"/>
                </a:solidFill>
                <a:effectLst/>
                <a:uFillTx/>
                <a:latin typeface="Calibri" panose="020F0502020204030204"/>
                <a:ea typeface="Calibri" panose="020F0502020204030204"/>
              </a:rPr>
              <a:t>Hasta 2012 ningún líder de temporada superaba los 3,5 triples anotados por partido. Desde que Stephen Curry irrumpe en 2013, redefine el techo de la posición ocho veces en nueve temporadas — la contraparte exacta del cambio de estilo que ya mostraba el % de intentos de triple por época.</a:t>
            </a:r>
            <a:endParaRPr lang="es-ES" sz="1150" b="0" u="none" strike="noStrike">
              <a:solidFill>
                <a:srgbClr val="000000"/>
              </a:solidFill>
              <a:effectLst/>
              <a:uFillTx/>
              <a:latin typeface="Arial" panose="020B0604020202020204"/>
            </a:endParaRPr>
          </a:p>
        </p:txBody>
      </p:sp>
      <p:graphicFrame>
        <p:nvGraphicFramePr>
          <p:cNvPr id="447" name="Table 0"/>
          <p:cNvGraphicFramePr/>
          <p:nvPr/>
        </p:nvGraphicFramePr>
        <p:xfrm>
          <a:off x="7772400" y="3429000"/>
          <a:ext cx="3870360" cy="2090160"/>
        </p:xfrm>
        <a:graphic>
          <a:graphicData uri="http://schemas.openxmlformats.org/drawingml/2006/table">
            <a:tbl>
              <a:tblPr/>
              <a:tblGrid>
                <a:gridCol w="1315800"/>
                <a:gridCol w="851400"/>
                <a:gridCol w="851400"/>
                <a:gridCol w="851400"/>
              </a:tblGrid>
              <a:tr h="255960">
                <a:tc>
                  <a:txBody>
                    <a:bodyPr>
                      <a:spAutoFit/>
                    </a:bodyPr>
                    <a:p>
                      <a:pPr defTabSz="914400">
                        <a:lnSpc>
                          <a:spcPct val="100000"/>
                        </a:lnSpc>
                        <a:tabLst>
                          <a:tab pos="0" algn="l"/>
                        </a:tabLst>
                      </a:pPr>
                      <a:r>
                        <a:rPr lang="en-US" sz="850" b="1" u="none" strike="noStrike">
                          <a:solidFill>
                            <a:srgbClr val="FFFFFF"/>
                          </a:solidFill>
                          <a:effectLst/>
                          <a:uFillTx/>
                          <a:latin typeface="Calibri" panose="020F0502020204030204"/>
                          <a:ea typeface="Calibri" panose="020F0502020204030204"/>
                        </a:rPr>
                        <a:t>Temp.</a:t>
                      </a:r>
                      <a:endParaRPr lang="es-ES" sz="8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c>
                  <a:txBody>
                    <a:bodyPr>
                      <a:spAutoFit/>
                    </a:bodyPr>
                    <a:p>
                      <a:pPr defTabSz="914400">
                        <a:lnSpc>
                          <a:spcPct val="100000"/>
                        </a:lnSpc>
                        <a:tabLst>
                          <a:tab pos="0" algn="l"/>
                        </a:tabLst>
                      </a:pPr>
                      <a:r>
                        <a:rPr lang="en-US" sz="850" b="1" u="none" strike="noStrike">
                          <a:solidFill>
                            <a:srgbClr val="FFFFFF"/>
                          </a:solidFill>
                          <a:effectLst/>
                          <a:uFillTx/>
                          <a:latin typeface="Calibri" panose="020F0502020204030204"/>
                          <a:ea typeface="Calibri" panose="020F0502020204030204"/>
                        </a:rPr>
                        <a:t>Jugador</a:t>
                      </a:r>
                      <a:endParaRPr lang="es-ES" sz="8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c>
                  <a:txBody>
                    <a:bodyPr>
                      <a:spAutoFit/>
                    </a:bodyPr>
                    <a:p>
                      <a:pPr defTabSz="914400">
                        <a:lnSpc>
                          <a:spcPct val="100000"/>
                        </a:lnSpc>
                        <a:tabLst>
                          <a:tab pos="0" algn="l"/>
                        </a:tabLst>
                      </a:pPr>
                      <a:r>
                        <a:rPr lang="en-US" sz="850" b="1" u="none" strike="noStrike">
                          <a:solidFill>
                            <a:srgbClr val="FFFFFF"/>
                          </a:solidFill>
                          <a:effectLst/>
                          <a:uFillTx/>
                          <a:latin typeface="Calibri" panose="020F0502020204030204"/>
                          <a:ea typeface="Calibri" panose="020F0502020204030204"/>
                        </a:rPr>
                        <a:t>Equipo</a:t>
                      </a:r>
                      <a:endParaRPr lang="es-ES" sz="8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c>
                  <a:txBody>
                    <a:bodyPr>
                      <a:spAutoFit/>
                    </a:bodyPr>
                    <a:p>
                      <a:pPr defTabSz="914400">
                        <a:lnSpc>
                          <a:spcPct val="100000"/>
                        </a:lnSpc>
                        <a:tabLst>
                          <a:tab pos="0" algn="l"/>
                        </a:tabLst>
                      </a:pPr>
                      <a:r>
                        <a:rPr lang="en-US" sz="850" b="1" u="none" strike="noStrike">
                          <a:solidFill>
                            <a:srgbClr val="FFFFFF"/>
                          </a:solidFill>
                          <a:effectLst/>
                          <a:uFillTx/>
                          <a:latin typeface="Calibri" panose="020F0502020204030204"/>
                          <a:ea typeface="Calibri" panose="020F0502020204030204"/>
                        </a:rPr>
                        <a:t>3P/p</a:t>
                      </a:r>
                      <a:endParaRPr lang="es-ES" sz="850" b="0" u="none" strike="noStrike">
                        <a:solidFill>
                          <a:srgbClr val="FFFFFF"/>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0B1E3D"/>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2021</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Stephen Curry</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GSW</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5.3</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2016</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Stephen Curry</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GSW</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5.1</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2019</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Stephen Curry</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GSW</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5.1</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2022</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Stephen Curry</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GSW</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4.5</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0F3F8"/>
                    </a:solidFill>
                  </a:tcPr>
                </a:tc>
              </a:tr>
              <a:tr h="237600">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2020</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James Harden</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HOU</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c>
                  <a:txBody>
                    <a:bodyPr>
                      <a:spAutoFit/>
                    </a:bodyPr>
                    <a:p>
                      <a:pPr defTabSz="914400">
                        <a:lnSpc>
                          <a:spcPct val="100000"/>
                        </a:lnSpc>
                        <a:tabLst>
                          <a:tab pos="0" algn="l"/>
                        </a:tabLst>
                      </a:pPr>
                      <a:r>
                        <a:rPr lang="en-US" sz="900" b="0" u="none" strike="noStrike">
                          <a:solidFill>
                            <a:srgbClr val="12203D"/>
                          </a:solidFill>
                          <a:effectLst/>
                          <a:uFillTx/>
                          <a:latin typeface="Calibri" panose="020F0502020204030204"/>
                          <a:ea typeface="Calibri" panose="020F0502020204030204"/>
                        </a:rPr>
                        <a:t>4.4</a:t>
                      </a:r>
                      <a:endParaRPr lang="es-ES" sz="900" b="0" u="none" strike="noStrike">
                        <a:solidFill>
                          <a:srgbClr val="000000"/>
                        </a:solidFill>
                        <a:effectLst/>
                        <a:uFillTx/>
                        <a:latin typeface="Arial" panose="020B0604020202020204"/>
                      </a:endParaRPr>
                    </a:p>
                  </a:txBody>
                  <a:tcPr anchor="ctr">
                    <a:lnL w="6480">
                      <a:solidFill>
                        <a:srgbClr val="E3E7EE"/>
                      </a:solidFill>
                      <a:prstDash val="solid"/>
                    </a:lnL>
                    <a:lnR w="6480">
                      <a:solidFill>
                        <a:srgbClr val="E3E7EE"/>
                      </a:solidFill>
                      <a:prstDash val="solid"/>
                    </a:lnR>
                    <a:lnT w="6480">
                      <a:solidFill>
                        <a:srgbClr val="E3E7EE"/>
                      </a:solidFill>
                      <a:prstDash val="solid"/>
                    </a:lnT>
                    <a:lnB w="6480">
                      <a:solidFill>
                        <a:srgbClr val="E3E7EE"/>
                      </a:solidFill>
                      <a:prstDash val="solid"/>
                    </a:lnB>
                    <a:solidFill>
                      <a:srgbClr val="FFFFFF"/>
                    </a:solidFill>
                  </a:tcPr>
                </a:tc>
              </a:tr>
            </a:tbl>
          </a:graphicData>
        </a:graphic>
      </p:graphicFrame>
      <p:pic>
        <p:nvPicPr>
          <p:cNvPr id="448" name="Image 1" descr="/tmp/claude-0/-home-claude/c0a8783c-8817-5425-bc4f-190e5f64548a/scratchpad/work/icons/basketball_E1590F.png"/>
          <p:cNvPicPr/>
          <p:nvPr/>
        </p:nvPicPr>
        <p:blipFill>
          <a:blip r:embed="rId2"/>
          <a:stretch>
            <a:fillRect/>
          </a:stretch>
        </p:blipFill>
        <p:spPr>
          <a:xfrm>
            <a:off x="548640" y="6546960"/>
            <a:ext cx="145800" cy="145800"/>
          </a:xfrm>
          <a:prstGeom prst="rect">
            <a:avLst/>
          </a:prstGeom>
          <a:noFill/>
          <a:ln w="0">
            <a:noFill/>
          </a:ln>
        </p:spPr>
      </p:pic>
      <p:sp>
        <p:nvSpPr>
          <p:cNvPr id="449" name="Text 4"/>
          <p:cNvSpPr/>
          <p:nvPr/>
        </p:nvSpPr>
        <p:spPr>
          <a:xfrm>
            <a:off x="768240" y="6510600"/>
            <a:ext cx="45716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850" b="0" u="none" strike="noStrike">
                <a:solidFill>
                  <a:srgbClr val="5B6B85"/>
                </a:solidFill>
                <a:effectLst/>
                <a:uFillTx/>
                <a:latin typeface="Calibri" panose="020F0502020204030204"/>
                <a:ea typeface="Calibri" panose="020F0502020204030204"/>
              </a:rPr>
              <a:t>05 · Datos interesantes · 2/2</a:t>
            </a:r>
            <a:endParaRPr lang="es-ES" sz="850" b="0" u="none" strike="noStrike">
              <a:solidFill>
                <a:srgbClr val="000000"/>
              </a:solidFill>
              <a:effectLst/>
              <a:uFillTx/>
              <a:latin typeface="Arial" panose="020B0604020202020204"/>
            </a:endParaRPr>
          </a:p>
        </p:txBody>
      </p:sp>
      <p:sp>
        <p:nvSpPr>
          <p:cNvPr id="450" name="Text 5"/>
          <p:cNvSpPr/>
          <p:nvPr/>
        </p:nvSpPr>
        <p:spPr>
          <a:xfrm>
            <a:off x="10271520" y="6510600"/>
            <a:ext cx="1371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algn="r" defTabSz="914400">
              <a:lnSpc>
                <a:spcPct val="100000"/>
              </a:lnSpc>
              <a:tabLst>
                <a:tab pos="0" algn="l"/>
              </a:tabLst>
            </a:pPr>
            <a:r>
              <a:rPr lang="en-US" sz="850" b="0" u="none" strike="noStrike">
                <a:solidFill>
                  <a:srgbClr val="5B6B85"/>
                </a:solidFill>
                <a:effectLst/>
                <a:uFillTx/>
                <a:latin typeface="Calibri" panose="020F0502020204030204"/>
                <a:ea typeface="Calibri" panose="020F0502020204030204"/>
              </a:rPr>
              <a:t>22 / 23</a:t>
            </a:r>
            <a:endParaRPr lang="es-ES" sz="850" b="0" u="none" strike="noStrike">
              <a:solidFill>
                <a:srgbClr val="000000"/>
              </a:solidFill>
              <a:effectLst/>
              <a:uFillTx/>
              <a:latin typeface="Arial" panose="020B0604020202020204"/>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1E3D"/>
        </a:solidFill>
        <a:effectLst/>
      </p:bgPr>
    </p:bg>
    <p:spTree>
      <p:nvGrpSpPr>
        <p:cNvPr id="1" name=""/>
        <p:cNvGrpSpPr/>
        <p:nvPr/>
      </p:nvGrpSpPr>
      <p:grpSpPr>
        <a:xfrm>
          <a:off x="0" y="0"/>
          <a:ext cx="0" cy="0"/>
          <a:chOff x="0" y="0"/>
          <a:chExt cx="0" cy="0"/>
        </a:xfrm>
      </p:grpSpPr>
      <p:pic>
        <p:nvPicPr>
          <p:cNvPr id="451" name="Image 0" descr="/tmp/claude-0/-home-claude/c0a8783c-8817-5425-bc4f-190e5f64548a/scratchpad/work/icons/basketball_1B3760.png"/>
          <p:cNvPicPr/>
          <p:nvPr/>
        </p:nvPicPr>
        <p:blipFill>
          <a:blip r:embed="rId1">
            <a:alphaModFix amt="70000"/>
          </a:blip>
          <a:stretch>
            <a:fillRect/>
          </a:stretch>
        </p:blipFill>
        <p:spPr>
          <a:xfrm>
            <a:off x="-1371600" y="2926080"/>
            <a:ext cx="4754520" cy="4754520"/>
          </a:xfrm>
          <a:prstGeom prst="rect">
            <a:avLst/>
          </a:prstGeom>
          <a:noFill/>
          <a:ln w="0">
            <a:noFill/>
          </a:ln>
        </p:spPr>
      </p:pic>
      <p:sp>
        <p:nvSpPr>
          <p:cNvPr id="452" name="Text 0"/>
          <p:cNvSpPr/>
          <p:nvPr/>
        </p:nvSpPr>
        <p:spPr>
          <a:xfrm>
            <a:off x="548640" y="502920"/>
            <a:ext cx="11094120" cy="6854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3400" b="1" u="none" strike="noStrike">
                <a:solidFill>
                  <a:srgbClr val="FFFFFF"/>
                </a:solidFill>
                <a:effectLst/>
                <a:uFillTx/>
                <a:latin typeface="Calibri" panose="020F0502020204030204"/>
                <a:ea typeface="Calibri" panose="020F0502020204030204"/>
              </a:rPr>
              <a:t>Conclusiones</a:t>
            </a:r>
            <a:endParaRPr lang="es-ES" sz="3400" b="0" u="none" strike="noStrike">
              <a:solidFill>
                <a:srgbClr val="FFFFFF"/>
              </a:solidFill>
              <a:effectLst/>
              <a:uFillTx/>
              <a:latin typeface="Arial" panose="020B0604020202020204"/>
            </a:endParaRPr>
          </a:p>
        </p:txBody>
      </p:sp>
      <p:sp>
        <p:nvSpPr>
          <p:cNvPr id="453" name="Text 1"/>
          <p:cNvSpPr/>
          <p:nvPr/>
        </p:nvSpPr>
        <p:spPr>
          <a:xfrm>
            <a:off x="548640" y="1170360"/>
            <a:ext cx="11094120" cy="36540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350" b="0" u="none" strike="noStrike">
                <a:solidFill>
                  <a:srgbClr val="AAB8D6"/>
                </a:solidFill>
                <a:effectLst/>
                <a:uFillTx/>
                <a:latin typeface="Calibri" panose="020F0502020204030204"/>
                <a:ea typeface="Calibri" panose="020F0502020204030204"/>
              </a:rPr>
              <a:t>Lo que deja el análisis univariado, multivariado y bivariado del dataset nbaFINAL.csv</a:t>
            </a:r>
            <a:endParaRPr lang="es-ES" sz="1350" b="0" u="none" strike="noStrike">
              <a:solidFill>
                <a:srgbClr val="FFFFFF"/>
              </a:solidFill>
              <a:effectLst/>
              <a:uFillTx/>
              <a:latin typeface="Arial" panose="020B0604020202020204"/>
            </a:endParaRPr>
          </a:p>
        </p:txBody>
      </p:sp>
      <p:sp>
        <p:nvSpPr>
          <p:cNvPr id="454" name="Shape 2"/>
          <p:cNvSpPr/>
          <p:nvPr/>
        </p:nvSpPr>
        <p:spPr>
          <a:xfrm>
            <a:off x="548640" y="1929240"/>
            <a:ext cx="109440" cy="109440"/>
          </a:xfrm>
          <a:prstGeom prst="rect">
            <a:avLst/>
          </a:prstGeom>
          <a:solidFill>
            <a:srgbClr val="FF7A29"/>
          </a:solidFill>
          <a:ln w="0">
            <a:noFill/>
          </a:ln>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sp>
        <p:nvSpPr>
          <p:cNvPr id="455" name="Text 3"/>
          <p:cNvSpPr/>
          <p:nvPr/>
        </p:nvSpPr>
        <p:spPr>
          <a:xfrm>
            <a:off x="804600" y="1874520"/>
            <a:ext cx="5016600" cy="25560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250" b="1" u="none" strike="noStrike">
                <a:solidFill>
                  <a:srgbClr val="FF7A29"/>
                </a:solidFill>
                <a:effectLst/>
                <a:uFillTx/>
                <a:latin typeface="Calibri" panose="020F0502020204030204"/>
                <a:ea typeface="Calibri" panose="020F0502020204030204"/>
              </a:rPr>
              <a:t>Dataset depurado</a:t>
            </a:r>
            <a:endParaRPr lang="es-ES" sz="1250" b="0" u="none" strike="noStrike">
              <a:solidFill>
                <a:srgbClr val="FFFFFF"/>
              </a:solidFill>
              <a:effectLst/>
              <a:uFillTx/>
              <a:latin typeface="Arial" panose="020B0604020202020204"/>
            </a:endParaRPr>
          </a:p>
        </p:txBody>
      </p:sp>
      <p:sp>
        <p:nvSpPr>
          <p:cNvPr id="456" name="Text 4"/>
          <p:cNvSpPr/>
          <p:nvPr/>
        </p:nvSpPr>
        <p:spPr>
          <a:xfrm>
            <a:off x="804600" y="2121480"/>
            <a:ext cx="5016600" cy="62136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12000"/>
              </a:lnSpc>
              <a:tabLst>
                <a:tab pos="0" algn="l"/>
              </a:tabLst>
            </a:pPr>
            <a:r>
              <a:rPr lang="en-US" sz="1000" b="0" u="none" strike="noStrike">
                <a:solidFill>
                  <a:srgbClr val="AAB8D6"/>
                </a:solidFill>
                <a:effectLst/>
                <a:uFillTx/>
                <a:latin typeface="Calibri" panose="020F0502020204030204"/>
                <a:ea typeface="Calibri" panose="020F0502020204030204"/>
              </a:rPr>
              <a:t>14.078 registros temporada-jugador, 54 variables (1982–2022), solo 0,21% de celdas con NA tras filtrar minutos_totales ≥ 100 y retirar filas "TOT".</a:t>
            </a:r>
            <a:endParaRPr lang="es-ES" sz="1000" b="0" u="none" strike="noStrike">
              <a:solidFill>
                <a:srgbClr val="FFFFFF"/>
              </a:solidFill>
              <a:effectLst/>
              <a:uFillTx/>
              <a:latin typeface="Arial" panose="020B0604020202020204"/>
            </a:endParaRPr>
          </a:p>
        </p:txBody>
      </p:sp>
      <p:sp>
        <p:nvSpPr>
          <p:cNvPr id="457" name="Shape 5"/>
          <p:cNvSpPr/>
          <p:nvPr/>
        </p:nvSpPr>
        <p:spPr>
          <a:xfrm>
            <a:off x="548640" y="2843640"/>
            <a:ext cx="109440" cy="109440"/>
          </a:xfrm>
          <a:prstGeom prst="rect">
            <a:avLst/>
          </a:prstGeom>
          <a:solidFill>
            <a:srgbClr val="FF7A29"/>
          </a:solidFill>
          <a:ln w="0">
            <a:noFill/>
          </a:ln>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sp>
        <p:nvSpPr>
          <p:cNvPr id="458" name="Text 6"/>
          <p:cNvSpPr/>
          <p:nvPr/>
        </p:nvSpPr>
        <p:spPr>
          <a:xfrm>
            <a:off x="804600" y="2788920"/>
            <a:ext cx="5016600" cy="25560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250" b="1" u="none" strike="noStrike">
                <a:solidFill>
                  <a:srgbClr val="FF7A29"/>
                </a:solidFill>
                <a:effectLst/>
                <a:uFillTx/>
                <a:latin typeface="Calibri" panose="020F0502020204030204"/>
                <a:ea typeface="Calibri" panose="020F0502020204030204"/>
              </a:rPr>
              <a:t>10 variables genuinamente independientes</a:t>
            </a:r>
            <a:endParaRPr lang="es-ES" sz="1250" b="0" u="none" strike="noStrike">
              <a:solidFill>
                <a:srgbClr val="FFFFFF"/>
              </a:solidFill>
              <a:effectLst/>
              <a:uFillTx/>
              <a:latin typeface="Arial" panose="020B0604020202020204"/>
            </a:endParaRPr>
          </a:p>
        </p:txBody>
      </p:sp>
      <p:sp>
        <p:nvSpPr>
          <p:cNvPr id="459" name="Text 7"/>
          <p:cNvSpPr/>
          <p:nvPr/>
        </p:nvSpPr>
        <p:spPr>
          <a:xfrm>
            <a:off x="804600" y="3035880"/>
            <a:ext cx="5016600" cy="62136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12000"/>
              </a:lnSpc>
              <a:tabLst>
                <a:tab pos="0" algn="l"/>
              </a:tabLst>
            </a:pPr>
            <a:r>
              <a:rPr lang="en-US" sz="1000" b="0" u="none" strike="noStrike">
                <a:solidFill>
                  <a:srgbClr val="AAB8D6"/>
                </a:solidFill>
                <a:effectLst/>
                <a:uFillTx/>
                <a:latin typeface="Calibri" panose="020F0502020204030204"/>
                <a:ea typeface="Calibri" panose="020F0502020204030204"/>
              </a:rPr>
              <a:t>Correlación absoluta mediana de 0.174 entre ellas y ninguna pareja supera |r| = 0.8, cubriendo 10 dimensiones distintas del juego.</a:t>
            </a:r>
            <a:endParaRPr lang="es-ES" sz="1000" b="0" u="none" strike="noStrike">
              <a:solidFill>
                <a:srgbClr val="FFFFFF"/>
              </a:solidFill>
              <a:effectLst/>
              <a:uFillTx/>
              <a:latin typeface="Arial" panose="020B0604020202020204"/>
            </a:endParaRPr>
          </a:p>
        </p:txBody>
      </p:sp>
      <p:sp>
        <p:nvSpPr>
          <p:cNvPr id="460" name="Shape 8"/>
          <p:cNvSpPr/>
          <p:nvPr/>
        </p:nvSpPr>
        <p:spPr>
          <a:xfrm>
            <a:off x="548640" y="3758040"/>
            <a:ext cx="109440" cy="109440"/>
          </a:xfrm>
          <a:prstGeom prst="rect">
            <a:avLst/>
          </a:prstGeom>
          <a:solidFill>
            <a:srgbClr val="FF7A29"/>
          </a:solidFill>
          <a:ln w="0">
            <a:noFill/>
          </a:ln>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sp>
        <p:nvSpPr>
          <p:cNvPr id="461" name="Text 9"/>
          <p:cNvSpPr/>
          <p:nvPr/>
        </p:nvSpPr>
        <p:spPr>
          <a:xfrm>
            <a:off x="804600" y="3703320"/>
            <a:ext cx="5016600" cy="25560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250" b="1" u="none" strike="noStrike">
                <a:solidFill>
                  <a:srgbClr val="FF7A29"/>
                </a:solidFill>
                <a:effectLst/>
                <a:uFillTx/>
                <a:latin typeface="Calibri" panose="020F0502020204030204"/>
                <a:ea typeface="Calibri" panose="020F0502020204030204"/>
              </a:rPr>
              <a:t>Pearson por sí solo engaña</a:t>
            </a:r>
            <a:endParaRPr lang="es-ES" sz="1250" b="0" u="none" strike="noStrike">
              <a:solidFill>
                <a:srgbClr val="FFFFFF"/>
              </a:solidFill>
              <a:effectLst/>
              <a:uFillTx/>
              <a:latin typeface="Arial" panose="020B0604020202020204"/>
            </a:endParaRPr>
          </a:p>
        </p:txBody>
      </p:sp>
      <p:sp>
        <p:nvSpPr>
          <p:cNvPr id="462" name="Text 10"/>
          <p:cNvSpPr/>
          <p:nvPr/>
        </p:nvSpPr>
        <p:spPr>
          <a:xfrm>
            <a:off x="804600" y="3950280"/>
            <a:ext cx="5016600" cy="62136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12000"/>
              </a:lnSpc>
              <a:tabLst>
                <a:tab pos="0" algn="l"/>
              </a:tabLst>
            </a:pPr>
            <a:r>
              <a:rPr lang="en-US" sz="1000" b="0" u="none" strike="noStrike">
                <a:solidFill>
                  <a:srgbClr val="AAB8D6"/>
                </a:solidFill>
                <a:effectLst/>
                <a:uFillTx/>
                <a:latin typeface="Calibri" panose="020F0502020204030204"/>
                <a:ea typeface="Calibri" panose="020F0502020204030204"/>
              </a:rPr>
              <a:t>USG% vs. TS% y edad vs. PER dan r ≈ 0, pero esconden patrones reales: estrellas eficientes y una curva de rendimiento con pico hacia los 27-28 años.</a:t>
            </a:r>
            <a:endParaRPr lang="es-ES" sz="1000" b="0" u="none" strike="noStrike">
              <a:solidFill>
                <a:srgbClr val="FFFFFF"/>
              </a:solidFill>
              <a:effectLst/>
              <a:uFillTx/>
              <a:latin typeface="Arial" panose="020B0604020202020204"/>
            </a:endParaRPr>
          </a:p>
        </p:txBody>
      </p:sp>
      <p:sp>
        <p:nvSpPr>
          <p:cNvPr id="463" name="Shape 11"/>
          <p:cNvSpPr/>
          <p:nvPr/>
        </p:nvSpPr>
        <p:spPr>
          <a:xfrm>
            <a:off x="548640" y="4672440"/>
            <a:ext cx="109440" cy="109440"/>
          </a:xfrm>
          <a:prstGeom prst="rect">
            <a:avLst/>
          </a:prstGeom>
          <a:solidFill>
            <a:srgbClr val="FF7A29"/>
          </a:solidFill>
          <a:ln w="0">
            <a:noFill/>
          </a:ln>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sp>
        <p:nvSpPr>
          <p:cNvPr id="464" name="Text 12"/>
          <p:cNvSpPr/>
          <p:nvPr/>
        </p:nvSpPr>
        <p:spPr>
          <a:xfrm>
            <a:off x="804600" y="4617720"/>
            <a:ext cx="5016600" cy="25560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250" b="1" u="none" strike="noStrike">
                <a:solidFill>
                  <a:srgbClr val="FF7A29"/>
                </a:solidFill>
                <a:effectLst/>
                <a:uFillTx/>
                <a:latin typeface="Calibri" panose="020F0502020204030204"/>
                <a:ea typeface="Calibri" panose="020F0502020204030204"/>
              </a:rPr>
              <a:t>La posición es la confusión más frecuente</a:t>
            </a:r>
            <a:endParaRPr lang="es-ES" sz="1250" b="0" u="none" strike="noStrike">
              <a:solidFill>
                <a:srgbClr val="FFFFFF"/>
              </a:solidFill>
              <a:effectLst/>
              <a:uFillTx/>
              <a:latin typeface="Arial" panose="020B0604020202020204"/>
            </a:endParaRPr>
          </a:p>
        </p:txBody>
      </p:sp>
      <p:sp>
        <p:nvSpPr>
          <p:cNvPr id="465" name="Text 13"/>
          <p:cNvSpPr/>
          <p:nvPr/>
        </p:nvSpPr>
        <p:spPr>
          <a:xfrm>
            <a:off x="804600" y="4864680"/>
            <a:ext cx="5016600" cy="62136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12000"/>
              </a:lnSpc>
              <a:tabLst>
                <a:tab pos="0" algn="l"/>
              </a:tabLst>
            </a:pPr>
            <a:r>
              <a:rPr lang="en-US" sz="1000" b="0" u="none" strike="noStrike">
                <a:solidFill>
                  <a:srgbClr val="AAB8D6"/>
                </a:solidFill>
                <a:effectLst/>
                <a:uFillTx/>
                <a:latin typeface="Calibri" panose="020F0502020204030204"/>
                <a:ea typeface="Calibri" panose="020F0502020204030204"/>
              </a:rPr>
              <a:t>Asistencias vs. pérdidas y rebote vs. asistencias solo se interpretan bien controlando por posición.</a:t>
            </a:r>
            <a:endParaRPr lang="es-ES" sz="1000" b="0" u="none" strike="noStrike">
              <a:solidFill>
                <a:srgbClr val="FFFFFF"/>
              </a:solidFill>
              <a:effectLst/>
              <a:uFillTx/>
              <a:latin typeface="Arial" panose="020B0604020202020204"/>
            </a:endParaRPr>
          </a:p>
        </p:txBody>
      </p:sp>
      <p:sp>
        <p:nvSpPr>
          <p:cNvPr id="466" name="Shape 14"/>
          <p:cNvSpPr/>
          <p:nvPr/>
        </p:nvSpPr>
        <p:spPr>
          <a:xfrm>
            <a:off x="548640" y="5586840"/>
            <a:ext cx="109440" cy="109440"/>
          </a:xfrm>
          <a:prstGeom prst="rect">
            <a:avLst/>
          </a:prstGeom>
          <a:solidFill>
            <a:srgbClr val="FF7A29"/>
          </a:solidFill>
          <a:ln w="0">
            <a:noFill/>
          </a:ln>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sp>
        <p:nvSpPr>
          <p:cNvPr id="467" name="Text 15"/>
          <p:cNvSpPr/>
          <p:nvPr/>
        </p:nvSpPr>
        <p:spPr>
          <a:xfrm>
            <a:off x="804600" y="5532120"/>
            <a:ext cx="5016600" cy="25560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250" b="1" u="none" strike="noStrike">
                <a:solidFill>
                  <a:srgbClr val="FF7A29"/>
                </a:solidFill>
                <a:effectLst/>
                <a:uFillTx/>
                <a:latin typeface="Calibri" panose="020F0502020204030204"/>
                <a:ea typeface="Calibri" panose="020F0502020204030204"/>
              </a:rPr>
              <a:t>El contexto infla métricas "individuales"</a:t>
            </a:r>
            <a:endParaRPr lang="es-ES" sz="1250" b="0" u="none" strike="noStrike">
              <a:solidFill>
                <a:srgbClr val="FFFFFF"/>
              </a:solidFill>
              <a:effectLst/>
              <a:uFillTx/>
              <a:latin typeface="Arial" panose="020B0604020202020204"/>
            </a:endParaRPr>
          </a:p>
        </p:txBody>
      </p:sp>
      <p:sp>
        <p:nvSpPr>
          <p:cNvPr id="468" name="Text 16"/>
          <p:cNvSpPr/>
          <p:nvPr/>
        </p:nvSpPr>
        <p:spPr>
          <a:xfrm>
            <a:off x="804600" y="5779080"/>
            <a:ext cx="5016600" cy="62136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12000"/>
              </a:lnSpc>
              <a:tabLst>
                <a:tab pos="0" algn="l"/>
              </a:tabLst>
            </a:pPr>
            <a:r>
              <a:rPr lang="en-US" sz="1000" b="0" u="none" strike="noStrike">
                <a:solidFill>
                  <a:srgbClr val="AAB8D6"/>
                </a:solidFill>
                <a:effectLst/>
                <a:uFillTx/>
                <a:latin typeface="Calibri" panose="020F0502020204030204"/>
                <a:ea typeface="Calibri" panose="020F0502020204030204"/>
              </a:rPr>
              <a:t>El VORP crece de forma acelerada (no lineal) según los minutos jugados, y el impacto defensivo también depende de qué tan bueno es el equipo.</a:t>
            </a:r>
            <a:endParaRPr lang="es-ES" sz="1000" b="0" u="none" strike="noStrike">
              <a:solidFill>
                <a:srgbClr val="FFFFFF"/>
              </a:solidFill>
              <a:effectLst/>
              <a:uFillTx/>
              <a:latin typeface="Arial" panose="020B0604020202020204"/>
            </a:endParaRPr>
          </a:p>
        </p:txBody>
      </p:sp>
      <p:sp>
        <p:nvSpPr>
          <p:cNvPr id="469" name="Shape 17"/>
          <p:cNvSpPr/>
          <p:nvPr/>
        </p:nvSpPr>
        <p:spPr>
          <a:xfrm>
            <a:off x="6370200" y="1929240"/>
            <a:ext cx="109440" cy="109440"/>
          </a:xfrm>
          <a:prstGeom prst="rect">
            <a:avLst/>
          </a:prstGeom>
          <a:solidFill>
            <a:srgbClr val="FF7A29"/>
          </a:solidFill>
          <a:ln w="0">
            <a:noFill/>
          </a:ln>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sp>
        <p:nvSpPr>
          <p:cNvPr id="470" name="Text 18"/>
          <p:cNvSpPr/>
          <p:nvPr/>
        </p:nvSpPr>
        <p:spPr>
          <a:xfrm>
            <a:off x="6626160" y="1874520"/>
            <a:ext cx="5016600" cy="25560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250" b="1" u="none" strike="noStrike">
                <a:solidFill>
                  <a:srgbClr val="FF7A29"/>
                </a:solidFill>
                <a:effectLst/>
                <a:uFillTx/>
                <a:latin typeface="Calibri" panose="020F0502020204030204"/>
                <a:ea typeface="Calibri" panose="020F0502020204030204"/>
              </a:rPr>
              <a:t>El estilo de juego cambió por quiebre</a:t>
            </a:r>
            <a:endParaRPr lang="es-ES" sz="1250" b="0" u="none" strike="noStrike">
              <a:solidFill>
                <a:srgbClr val="FFFFFF"/>
              </a:solidFill>
              <a:effectLst/>
              <a:uFillTx/>
              <a:latin typeface="Arial" panose="020B0604020202020204"/>
            </a:endParaRPr>
          </a:p>
        </p:txBody>
      </p:sp>
      <p:sp>
        <p:nvSpPr>
          <p:cNvPr id="471" name="Text 19"/>
          <p:cNvSpPr/>
          <p:nvPr/>
        </p:nvSpPr>
        <p:spPr>
          <a:xfrm>
            <a:off x="6626160" y="2121480"/>
            <a:ext cx="5016600" cy="62136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12000"/>
              </a:lnSpc>
              <a:tabLst>
                <a:tab pos="0" algn="l"/>
              </a:tabLst>
            </a:pPr>
            <a:r>
              <a:rPr lang="en-US" sz="1000" b="0" u="none" strike="noStrike">
                <a:solidFill>
                  <a:srgbClr val="AAB8D6"/>
                </a:solidFill>
                <a:effectLst/>
                <a:uFillTx/>
                <a:latin typeface="Calibri" panose="020F0502020204030204"/>
                <a:ea typeface="Calibri" panose="020F0502020204030204"/>
              </a:rPr>
              <a:t>La proporción de intentos de triple se aceleró en momentos identificables a lo largo de 41 temporadas, no de forma suave.</a:t>
            </a:r>
            <a:endParaRPr lang="es-ES" sz="1000" b="0" u="none" strike="noStrike">
              <a:solidFill>
                <a:srgbClr val="FFFFFF"/>
              </a:solidFill>
              <a:effectLst/>
              <a:uFillTx/>
              <a:latin typeface="Arial" panose="020B0604020202020204"/>
            </a:endParaRPr>
          </a:p>
        </p:txBody>
      </p:sp>
      <p:sp>
        <p:nvSpPr>
          <p:cNvPr id="472" name="Shape 20"/>
          <p:cNvSpPr/>
          <p:nvPr/>
        </p:nvSpPr>
        <p:spPr>
          <a:xfrm>
            <a:off x="6370200" y="2843640"/>
            <a:ext cx="109440" cy="109440"/>
          </a:xfrm>
          <a:prstGeom prst="rect">
            <a:avLst/>
          </a:prstGeom>
          <a:solidFill>
            <a:srgbClr val="FF7A29"/>
          </a:solidFill>
          <a:ln w="0">
            <a:noFill/>
          </a:ln>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sp>
        <p:nvSpPr>
          <p:cNvPr id="473" name="Text 21"/>
          <p:cNvSpPr/>
          <p:nvPr/>
        </p:nvSpPr>
        <p:spPr>
          <a:xfrm>
            <a:off x="6626160" y="2788920"/>
            <a:ext cx="5016600" cy="25560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250" b="1" u="none" strike="noStrike">
                <a:solidFill>
                  <a:srgbClr val="FF7A29"/>
                </a:solidFill>
                <a:effectLst/>
                <a:uFillTx/>
                <a:latin typeface="Calibri" panose="020F0502020204030204"/>
                <a:ea typeface="Calibri" panose="020F0502020204030204"/>
              </a:rPr>
              <a:t>No todo supuesto trade-off se cumple</a:t>
            </a:r>
            <a:endParaRPr lang="es-ES" sz="1250" b="0" u="none" strike="noStrike">
              <a:solidFill>
                <a:srgbClr val="FFFFFF"/>
              </a:solidFill>
              <a:effectLst/>
              <a:uFillTx/>
              <a:latin typeface="Arial" panose="020B0604020202020204"/>
            </a:endParaRPr>
          </a:p>
        </p:txBody>
      </p:sp>
      <p:sp>
        <p:nvSpPr>
          <p:cNvPr id="474" name="Text 22"/>
          <p:cNvSpPr/>
          <p:nvPr/>
        </p:nvSpPr>
        <p:spPr>
          <a:xfrm>
            <a:off x="6626160" y="3035880"/>
            <a:ext cx="5016600" cy="62136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12000"/>
              </a:lnSpc>
              <a:tabLst>
                <a:tab pos="0" algn="l"/>
              </a:tabLst>
            </a:pPr>
            <a:r>
              <a:rPr lang="en-US" sz="1000" b="0" u="none" strike="noStrike">
                <a:solidFill>
                  <a:srgbClr val="AAB8D6"/>
                </a:solidFill>
                <a:effectLst/>
                <a:uFillTx/>
                <a:latin typeface="Calibri" panose="020F0502020204030204"/>
                <a:ea typeface="Calibri" panose="020F0502020204030204"/>
              </a:rPr>
              <a:t>Puntos y asistencias por partido correlacionan positivo (r ≈ 0.59): anotar y crear juego comparten causa común, no se oponen.</a:t>
            </a:r>
            <a:endParaRPr lang="es-ES" sz="1000" b="0" u="none" strike="noStrike">
              <a:solidFill>
                <a:srgbClr val="FFFFFF"/>
              </a:solidFill>
              <a:effectLst/>
              <a:uFillTx/>
              <a:latin typeface="Arial" panose="020B0604020202020204"/>
            </a:endParaRPr>
          </a:p>
        </p:txBody>
      </p:sp>
      <p:sp>
        <p:nvSpPr>
          <p:cNvPr id="475" name="Shape 23"/>
          <p:cNvSpPr/>
          <p:nvPr/>
        </p:nvSpPr>
        <p:spPr>
          <a:xfrm>
            <a:off x="6370200" y="3758040"/>
            <a:ext cx="109440" cy="109440"/>
          </a:xfrm>
          <a:prstGeom prst="rect">
            <a:avLst/>
          </a:prstGeom>
          <a:solidFill>
            <a:srgbClr val="FF7A29"/>
          </a:solidFill>
          <a:ln w="0">
            <a:noFill/>
          </a:ln>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sp>
        <p:nvSpPr>
          <p:cNvPr id="476" name="Text 24"/>
          <p:cNvSpPr/>
          <p:nvPr/>
        </p:nvSpPr>
        <p:spPr>
          <a:xfrm>
            <a:off x="6626160" y="3703320"/>
            <a:ext cx="5016600" cy="25560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250" b="1" u="none" strike="noStrike">
                <a:solidFill>
                  <a:srgbClr val="FF7A29"/>
                </a:solidFill>
                <a:effectLst/>
                <a:uFillTx/>
                <a:latin typeface="Calibri" panose="020F0502020204030204"/>
                <a:ea typeface="Calibri" panose="020F0502020204030204"/>
              </a:rPr>
              <a:t>Una variable derivada resuelve una confusión</a:t>
            </a:r>
            <a:endParaRPr lang="es-ES" sz="1250" b="0" u="none" strike="noStrike">
              <a:solidFill>
                <a:srgbClr val="FFFFFF"/>
              </a:solidFill>
              <a:effectLst/>
              <a:uFillTx/>
              <a:latin typeface="Arial" panose="020B0604020202020204"/>
            </a:endParaRPr>
          </a:p>
        </p:txBody>
      </p:sp>
      <p:sp>
        <p:nvSpPr>
          <p:cNvPr id="477" name="Text 25"/>
          <p:cNvSpPr/>
          <p:nvPr/>
        </p:nvSpPr>
        <p:spPr>
          <a:xfrm>
            <a:off x="6626160" y="3950280"/>
            <a:ext cx="5016600" cy="62136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12000"/>
              </a:lnSpc>
              <a:tabLst>
                <a:tab pos="0" algn="l"/>
              </a:tabLst>
            </a:pPr>
            <a:r>
              <a:rPr lang="en-US" sz="1000" b="0" u="none" strike="noStrike">
                <a:solidFill>
                  <a:srgbClr val="AAB8D6"/>
                </a:solidFill>
                <a:effectLst/>
                <a:uFillTx/>
                <a:latin typeface="Calibri" panose="020F0502020204030204"/>
                <a:ea typeface="Calibri" panose="020F0502020204030204"/>
              </a:rPr>
              <a:t>"Experiencia" y "edad de entrada" no existen en el dataset original, pero fueron necesarias para separar desarrollo real de sesgo de selección.</a:t>
            </a:r>
            <a:endParaRPr lang="es-ES" sz="1000" b="0" u="none" strike="noStrike">
              <a:solidFill>
                <a:srgbClr val="FFFFFF"/>
              </a:solidFill>
              <a:effectLst/>
              <a:uFillTx/>
              <a:latin typeface="Arial" panose="020B0604020202020204"/>
            </a:endParaRPr>
          </a:p>
        </p:txBody>
      </p:sp>
      <p:sp>
        <p:nvSpPr>
          <p:cNvPr id="478" name="Shape 26"/>
          <p:cNvSpPr/>
          <p:nvPr/>
        </p:nvSpPr>
        <p:spPr>
          <a:xfrm>
            <a:off x="6370200" y="4672440"/>
            <a:ext cx="109440" cy="109440"/>
          </a:xfrm>
          <a:prstGeom prst="rect">
            <a:avLst/>
          </a:prstGeom>
          <a:solidFill>
            <a:srgbClr val="FF7A29"/>
          </a:solidFill>
          <a:ln w="0">
            <a:noFill/>
          </a:ln>
        </p:spPr>
        <p:style>
          <a:lnRef idx="0">
            <a:srgbClr val="FFFFFF"/>
          </a:lnRef>
          <a:fillRef idx="0">
            <a:srgbClr val="FFFFFF"/>
          </a:fillRef>
          <a:effectRef idx="0">
            <a:srgbClr val="FFFFFF"/>
          </a:effectRef>
          <a:fontRef idx="minor"/>
        </p:style>
        <p:txBody>
          <a:bodyPr lIns="90000" tIns="45000" rIns="90000" bIns="45000" anchor="t">
            <a:noAutofit/>
          </a:bodyPr>
          <a:p>
            <a:endParaRPr lang="es-ES" sz="1800" b="0" u="none" strike="noStrike">
              <a:solidFill>
                <a:srgbClr val="000000"/>
              </a:solidFill>
              <a:effectLst/>
              <a:uFillTx/>
              <a:latin typeface="Arial" panose="020B0604020202020204"/>
            </a:endParaRPr>
          </a:p>
        </p:txBody>
      </p:sp>
      <p:sp>
        <p:nvSpPr>
          <p:cNvPr id="479" name="Text 27"/>
          <p:cNvSpPr/>
          <p:nvPr/>
        </p:nvSpPr>
        <p:spPr>
          <a:xfrm>
            <a:off x="6626160" y="4617720"/>
            <a:ext cx="5016600" cy="25560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00000"/>
              </a:lnSpc>
              <a:tabLst>
                <a:tab pos="0" algn="l"/>
              </a:tabLst>
            </a:pPr>
            <a:r>
              <a:rPr lang="en-US" sz="1250" b="1" u="none" strike="noStrike">
                <a:solidFill>
                  <a:srgbClr val="FF7A29"/>
                </a:solidFill>
                <a:effectLst/>
                <a:uFillTx/>
                <a:latin typeface="Calibri" panose="020F0502020204030204"/>
                <a:ea typeface="Calibri" panose="020F0502020204030204"/>
              </a:rPr>
              <a:t>Próximos pasos naturales</a:t>
            </a:r>
            <a:endParaRPr lang="es-ES" sz="1250" b="0" u="none" strike="noStrike">
              <a:solidFill>
                <a:srgbClr val="FFFFFF"/>
              </a:solidFill>
              <a:effectLst/>
              <a:uFillTx/>
              <a:latin typeface="Arial" panose="020B0604020202020204"/>
            </a:endParaRPr>
          </a:p>
        </p:txBody>
      </p:sp>
      <p:sp>
        <p:nvSpPr>
          <p:cNvPr id="480" name="Text 28"/>
          <p:cNvSpPr/>
          <p:nvPr/>
        </p:nvSpPr>
        <p:spPr>
          <a:xfrm>
            <a:off x="6626160" y="4864680"/>
            <a:ext cx="5016600" cy="62136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Autofit/>
          </a:bodyPr>
          <a:p>
            <a:pPr defTabSz="914400">
              <a:lnSpc>
                <a:spcPct val="112000"/>
              </a:lnSpc>
              <a:tabLst>
                <a:tab pos="0" algn="l"/>
              </a:tabLst>
            </a:pPr>
            <a:r>
              <a:rPr lang="en-US" sz="1000" b="0" u="none" strike="noStrike">
                <a:solidFill>
                  <a:srgbClr val="AAB8D6"/>
                </a:solidFill>
                <a:effectLst/>
                <a:uFillTx/>
                <a:latin typeface="Calibri" panose="020F0502020204030204"/>
                <a:ea typeface="Calibri" panose="020F0502020204030204"/>
              </a:rPr>
              <a:t>PCA y clustering sobre el panel estandarizado de 10 variables para hallar arquetipos de jugador, y un modelo de VORP con predictores no redundantes.</a:t>
            </a:r>
            <a:endParaRPr lang="es-ES" sz="1000" b="0" u="none" strike="noStrike">
              <a:solidFill>
                <a:srgbClr val="FFFFFF"/>
              </a:solidFill>
              <a:effectLst/>
              <a:uFillTx/>
              <a:latin typeface="Arial" panose="020B0604020202020204"/>
            </a:endParaRPr>
          </a:p>
        </p:txBody>
      </p:sp>
      <p:pic>
        <p:nvPicPr>
          <p:cNvPr id="481" name="Image 1" descr="/tmp/claude-0/-home-claude/c0a8783c-8817-5425-bc4f-190e5f64548a/scratchpad/work/icons/basketball_FF7A29.png"/>
          <p:cNvPicPr/>
          <p:nvPr/>
        </p:nvPicPr>
        <p:blipFill>
          <a:blip r:embed="rId2"/>
          <a:stretch>
            <a:fillRect/>
          </a:stretch>
        </p:blipFill>
        <p:spPr>
          <a:xfrm>
            <a:off x="548640" y="6546960"/>
            <a:ext cx="145800" cy="145800"/>
          </a:xfrm>
          <a:prstGeom prst="rect">
            <a:avLst/>
          </a:prstGeom>
          <a:noFill/>
          <a:ln w="0">
            <a:noFill/>
          </a:ln>
        </p:spPr>
      </p:pic>
      <p:sp>
        <p:nvSpPr>
          <p:cNvPr id="482" name="Text 29"/>
          <p:cNvSpPr/>
          <p:nvPr/>
        </p:nvSpPr>
        <p:spPr>
          <a:xfrm>
            <a:off x="768240" y="6510600"/>
            <a:ext cx="45716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defTabSz="914400">
              <a:lnSpc>
                <a:spcPct val="100000"/>
              </a:lnSpc>
              <a:tabLst>
                <a:tab pos="0" algn="l"/>
              </a:tabLst>
            </a:pPr>
            <a:r>
              <a:rPr lang="en-US" sz="850" b="0" u="none" strike="noStrike">
                <a:solidFill>
                  <a:srgbClr val="AAB8D6"/>
                </a:solidFill>
                <a:effectLst/>
                <a:uFillTx/>
                <a:latin typeface="Calibri" panose="020F0502020204030204"/>
                <a:ea typeface="Calibri" panose="020F0502020204030204"/>
              </a:rPr>
              <a:t>GRACIAS · ANÁLISIS NBA 1982–2022</a:t>
            </a:r>
            <a:endParaRPr lang="es-ES" sz="850" b="0" u="none" strike="noStrike">
              <a:solidFill>
                <a:srgbClr val="FFFFFF"/>
              </a:solidFill>
              <a:effectLst/>
              <a:uFillTx/>
              <a:latin typeface="Arial" panose="020B0604020202020204"/>
            </a:endParaRPr>
          </a:p>
        </p:txBody>
      </p:sp>
      <p:sp>
        <p:nvSpPr>
          <p:cNvPr id="483" name="Text 30"/>
          <p:cNvSpPr/>
          <p:nvPr/>
        </p:nvSpPr>
        <p:spPr>
          <a:xfrm>
            <a:off x="10271520" y="6510600"/>
            <a:ext cx="1371240" cy="23724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ctr">
            <a:noAutofit/>
          </a:bodyPr>
          <a:p>
            <a:pPr algn="r" defTabSz="914400">
              <a:lnSpc>
                <a:spcPct val="100000"/>
              </a:lnSpc>
              <a:tabLst>
                <a:tab pos="0" algn="l"/>
              </a:tabLst>
            </a:pPr>
            <a:r>
              <a:rPr lang="en-US" sz="850" b="0" u="none" strike="noStrike">
                <a:solidFill>
                  <a:srgbClr val="AAB8D6"/>
                </a:solidFill>
                <a:effectLst/>
                <a:uFillTx/>
                <a:latin typeface="Calibri" panose="020F0502020204030204"/>
                <a:ea typeface="Calibri" panose="020F0502020204030204"/>
              </a:rPr>
              <a:t>23 / 23</a:t>
            </a:r>
            <a:endParaRPr lang="es-ES" sz="850" b="0" u="none" strike="noStrike">
              <a:solidFill>
                <a:srgbClr val="FFFFFF"/>
              </a:solidFill>
              <a:effectLst/>
              <a:uFillTx/>
              <a:latin typeface="Arial" panose="020B0604020202020204"/>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na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15892</Words>
  <Application>WPS Presentation</Application>
  <PresentationFormat/>
  <Paragraphs>1352</Paragraphs>
  <Slides>24</Slides>
  <Notes>0</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24</vt:i4>
      </vt:variant>
    </vt:vector>
  </HeadingPairs>
  <TitlesOfParts>
    <vt:vector size="36" baseType="lpstr">
      <vt:lpstr>Arial</vt:lpstr>
      <vt:lpstr>SimSun</vt:lpstr>
      <vt:lpstr>Wingdings</vt:lpstr>
      <vt:lpstr>Calibri</vt:lpstr>
      <vt:lpstr>Symbol</vt:lpstr>
      <vt:lpstr>Arial</vt:lpstr>
      <vt:lpstr>Times New Roman</vt:lpstr>
      <vt:lpstr>Microsoft YaHei</vt:lpstr>
      <vt:lpstr>Arial Unicode MS</vt:lpstr>
      <vt:lpstr>DejaVu Sans</vt:lpstr>
      <vt:lpstr>Calibri</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creator>PptxGenJS</dc:creator>
  <dc:subject>PptxGenJS Presentation</dc:subject>
  <cp:lastModifiedBy>WPS_1784998078</cp:lastModifiedBy>
  <cp:revision>4</cp:revision>
  <dcterms:created xsi:type="dcterms:W3CDTF">2026-09-18T21:44:00Z</dcterms:created>
  <dcterms:modified xsi:type="dcterms:W3CDTF">2026-09-18T22:46:38Z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23</vt:i4>
  </property>
  <property fmtid="{D5CDD505-2E9C-101B-9397-08002B2CF9AE}" pid="3" name="PresentationFormat">
    <vt:lpwstr>On-screen Show (16:9)</vt:lpwstr>
  </property>
  <property fmtid="{D5CDD505-2E9C-101B-9397-08002B2CF9AE}" pid="4" name="Slides">
    <vt:i4>23</vt:i4>
  </property>
  <property fmtid="{D5CDD505-2E9C-101B-9397-08002B2CF9AE}" pid="5" name="KSOProductBuildVer">
    <vt:lpwstr>2058-12.1.0.28485</vt:lpwstr>
  </property>
  <property fmtid="{D5CDD505-2E9C-101B-9397-08002B2CF9AE}" pid="6" name="ICV">
    <vt:lpwstr>FCC0DE51DE674B56A26037313597FD9C_12</vt:lpwstr>
  </property>
</Properties>
</file>