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0a8783c-8817-5425-bc4f-190e5f64548a/scratchpad/work/icons/basketball_1B3760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589520" y="1463040"/>
            <a:ext cx="5669280" cy="5669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1051560"/>
            <a:ext cx="3246120" cy="347472"/>
          </a:xfrm>
          <a:prstGeom prst="roundRect">
            <a:avLst>
              <a:gd name="adj" fmla="val 50000"/>
            </a:avLst>
          </a:prstGeom>
          <a:solidFill>
            <a:srgbClr val="FF7A2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</a:t>
            </a:r>
            <a:endParaRPr lang="en-US" sz="46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de la NBA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univariado, multivariado y bivariado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 – 2022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166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14.078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5166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temporada-jugador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2.695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5166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distintos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5166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989320"/>
            <a:ext cx="8778240" cy="0"/>
          </a:xfrm>
          <a:prstGeom prst="line">
            <a:avLst/>
          </a:prstGeom>
          <a:noFill/>
          <a:ln w="12700">
            <a:solidFill>
              <a:srgbClr val="2A3F6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61081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depurado nbaFINAL.csv  ·  Fuente original: Basketball-Reference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899855" y="6108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de septiembre de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DATASET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dataset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representa el desempeño de un jugador en una temporada. Si un jugador fue transferido a mitad de año, aparece con una fila por cada franquicia en la que jugó.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249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14.078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temporada-jugador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322244" y="2057400"/>
            <a:ext cx="249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322244" y="265176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2057400"/>
            <a:ext cx="249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2.695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265176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distintos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869451" y="2057400"/>
            <a:ext cx="249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869451" y="265176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temporadas (1982–2022)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4" name="Image 0" descr="/tmp/claude-0/-home-claude/c0a8783c-8817-5425-bc4f-190e5f64548a/scratchpad/work/icons/users_E159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374136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88720" y="3246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3246120"/>
            <a:ext cx="7985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jugador; es texto libre, no una clave única garantizada.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151376"/>
            <a:ext cx="457200" cy="45720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8" name="Image 1" descr="/tmp/claude-0/-home-claude/c0a8783c-8817-5425-bc4f-190e5f64548a/scratchpad/work/icons/list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61104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88720" y="41330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3657600" y="4133088"/>
            <a:ext cx="7985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de juego (5 categorías) y equipo / franquicia (40 códigos).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2" name="Image 2" descr="/tmp/claude-0/-home-claude/c0a8783c-8817-5425-bc4f-190e5f64548a/scratchpad/work/icons/chartbar_E1590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4807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88720" y="502005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 discretas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3657600" y="5020056"/>
            <a:ext cx="7985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Temporada, edad, partidos jugados, partidos como titular, minutos totales.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5925312"/>
            <a:ext cx="457200" cy="45720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6" name="Image 3" descr="/tmp/claude-0/-home-claude/c0a8783c-8817-5425-bc4f-190e5f64548a/scratchpad/work/icons/chartline_E1590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6035040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88720" y="590702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 continuas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3657600" y="5907024"/>
            <a:ext cx="7985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por partido, % de tiro, métricas por posesión (PER, WS, BPM, VORP), indicadores de equipo.</a:t>
            </a:r>
            <a:endParaRPr lang="en-US" sz="1200" dirty="0"/>
          </a:p>
        </p:txBody>
      </p:sp>
      <p:pic>
        <p:nvPicPr>
          <p:cNvPr id="29" name="Image 4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dataset</a:t>
            </a:r>
            <a:endParaRPr lang="en-US" sz="850" dirty="0"/>
          </a:p>
        </p:txBody>
      </p:sp>
      <p:sp>
        <p:nvSpPr>
          <p:cNvPr id="31" name="Text 24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DATASET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decisiones de limpieza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depurado no es el original. Estas tres decisiones condicionan todo el análisis posterior.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5429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798AD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minutos_totales ≥ 100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997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las participaciones marginales. Las métricas de tasa (PER, BPM, WS/48) son cocientes y tomaban valores absurdos con uno o dos minutos jugados. Con el filtro, el PER queda acotado a un rango plausible de −4,8 a 32,8.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8698" y="1965960"/>
            <a:ext cx="345429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51610000" dist="483870000" dir="324000000000">
              <a:srgbClr val="8798AD">
                <a:alpha val="30000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97298" y="2148840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597298" y="2834640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las filas "TOT"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97298" y="3566160"/>
            <a:ext cx="2997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filas-resumen de jugadores transferidos a mitad de temporada no corresponden a ninguna franquicia real y duplicaban minutos ya contabilizados. El dataset queda con 0 filas "TOT".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8757" y="1965960"/>
            <a:ext cx="345429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8435447000000" dist="6145149000000" dir="19440000000000000">
              <a:srgbClr val="8798AD">
                <a:alpha val="3000000000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7357" y="2148840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417357" y="2834640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consolidada en 5 categorías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417357" y="3566160"/>
            <a:ext cx="2997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combinaciones híbridas poco frecuentes ("SG-PF", "SG-PG-SF") se resolvieron a la posición principal, dejando C, PF, SF, SG y PG con tamaños de muestra comparables.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0B1E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406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99,80% de celdas completas. Los NA bajan a 1.578 celdas (0,20%) concentradas en 3 columnas de porcentaje de tiro, y todas las métricas avanzadas quedan sin ningún valor faltante.</a:t>
            </a:r>
            <a:endParaRPr lang="en-US" sz="1250" dirty="0"/>
          </a:p>
        </p:txBody>
      </p:sp>
      <p:pic>
        <p:nvPicPr>
          <p:cNvPr id="19" name="Image 0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dataset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DATASET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de datos — 10 variables clave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columnas empiezan por "porc_" pero no todas comparten escala: unas son fracciones 0–1 y otras, puntos porcentuales 0–100. La tabla completa cubre las 55 variables del dataset; esta selección guía el análisis.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400800"/>
                <a:gridCol w="2224735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representa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acumulado del jugador respecto a un jugador de reemplazo de nivel mínimo.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ser negativo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por partido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anotados por partido.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Conteo por partido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totales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totales jugados en la temporada.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– 3.533 (filtro de depuración)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Pondera tiros de 2, 3 y libres en una sola medida de eficiencia anotadora.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Fracción 0.0 – 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USG%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estimado de jugadas del equipo "usadas" por el jugador en cancha.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porcentuales 0-100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TRB%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estimado de rebotes totales disponibles capturados.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porcentuales 0-100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estimado de canastas de compañeros asistidas en cancha.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porcentuales 0-100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intentos de triple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Proporción de los intentos de campo que fueron de triple.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Fracción 0.0 – 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Plus/Minus defensivo: impacto defensivo en puntos por 100 posesiones.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ser negativo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victorias del 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Porcentaje de victorias del equipo del jugador esa temporada.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Fracción 0.0 – 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dataset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estas 10 variables clave?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51 variables numéricas se eligieron 10 —una por dimensión del juego— por su aporte de información independiente (importancia en modelos, cargas de componentes principales y comunalidad).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Valor global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14016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VORP: predictor #1 del MVP (importancia 0.127, el doble del #2)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90088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Producción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5264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Puntos/partido: comunalidad más alta del dataset (0.95) y carga máxima en PC1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313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Oportunidad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96512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totales: predictor #1 de Win Shares (importancia 0.345)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7258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Eficiencia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3776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TS%: #1 para VORP; solo r=0.11 con el uso (independiente del volumen de tiro)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13832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779008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USG%: forma cluster propio; r=0.73 con puntos/partido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24448" y="214884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Interior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24448" y="2414016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TRB%: carga máxima en PC2 (0.89); no depende de minutos jugados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24448" y="2990088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Creación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24448" y="3255264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AST%: cluster propio; carga -0.64 en PC2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38313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Estilo/época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24448" y="4096512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intentos de triple: r=0.50 con la temporada; sin problema de NA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24448" y="467258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Defensa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24448" y="493776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DBPM: única dimensión defensiva (ρ=0.40 con VORP); sin ella el análisis sería solo ofensivo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324448" y="5513832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Contexto de equipo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24448" y="5779008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victorias: carga máxima en PC3 (0.73)</a:t>
            </a:r>
            <a:endParaRPr lang="en-US" sz="1150" dirty="0"/>
          </a:p>
        </p:txBody>
      </p:sp>
      <p:pic>
        <p:nvPicPr>
          <p:cNvPr id="25" name="Image 0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global y producción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VORP — Valor sobre el reemplazo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435075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35075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321509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21509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207944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07944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09437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9437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980813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80813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14570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34130176900000000" dist="78043392300000000" dir="1.1664e+21">
              <a:srgbClr val="8798AD">
                <a:alpha val="30000000000000000000"/>
              </a:srgbClr>
            </a:outerShdw>
          </a:effectLst>
        </p:spPr>
      </p:sp>
      <p:pic>
        <p:nvPicPr>
          <p:cNvPr id="18" name="Image 0" descr="/tmp/claude-0/-home-claude/c0a8783c-8817-5425-bc4f-190e5f64548a/scratchpad/work/imgs/img_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010" y="2295144"/>
            <a:ext cx="4603867" cy="243569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2,17. Mediana 0,3 y P75 1,3: la mitad del dataset aporta un valor casi igual al de un jugador de reemplazo. El máximo llega a 12,5 — el valor se concentra en una minoría diminuta. El 32,0% tiene VORP negativo.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6324448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por partido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2444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9.405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2444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7210882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210882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8097317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6.098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097317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898375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98375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870186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870186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1075662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075662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590378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97345324663e+21" dist="991151082210000000000" dir="6.9984e+25">
              <a:srgbClr val="8798AD">
                <a:alpha val="3e+24"/>
              </a:srgbClr>
            </a:outerShdw>
          </a:effectLst>
        </p:spPr>
      </p:sp>
      <p:pic>
        <p:nvPicPr>
          <p:cNvPr id="34" name="Image 1" descr="/tmp/claude-0/-home-claude/c0a8783c-8817-5425-bc4f-190e5f64548a/scratchpad/work/imgs/img_0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818" y="2295144"/>
            <a:ext cx="4603867" cy="243569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324448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9,4, mediana 7,9, asimetría 0,95. Las cinco posiciones tienen medianas parecidas: anotar no es una función especializada del rol. Mide volumen, no eficiencia ni valor — se lee junto a TS% y USG%.</a:t>
            </a:r>
            <a:endParaRPr lang="en-US" sz="1080" dirty="0"/>
          </a:p>
        </p:txBody>
      </p:sp>
      <p:pic>
        <p:nvPicPr>
          <p:cNvPr id="36" name="Image 2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y eficiencia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totales en la temporada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1442.6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435075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35075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321509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867.4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21509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207944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07944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09437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9437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980813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80813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14570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7762856232201e+25" dist="1.2587618744067e+25" dir="4.19904e+30">
              <a:srgbClr val="8798AD">
                <a:alpha val="3e+29"/>
              </a:srgbClr>
            </a:outerShdw>
          </a:effectLst>
        </p:spPr>
      </p:sp>
      <p:pic>
        <p:nvPicPr>
          <p:cNvPr id="18" name="Image 0" descr="/tmp/claude-0/-home-claude/c0a8783c-8817-5425-bc4f-190e5f64548a/scratchpad/work/imgs/img_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010" y="2295144"/>
            <a:ext cx="4603867" cy="243569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simétrica de las 10 (asimetría 0,18; media y mediana casi idénticas) y sin apenas atípicos: acotada por la estructura de la competición. Es el mejor proxy de la confianza del cuerpo técnico.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6324448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TS% — % de tiro verdadero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2444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2444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7210882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0.528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210882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8097317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097317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898375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98375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870186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870186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1075662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-0.437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075662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590378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795882741489527e+29" dist="1.598627580496509e+29" dir="2.519424e+35">
              <a:srgbClr val="8798AD">
                <a:alpha val="2.9999999999999997e+34"/>
              </a:srgbClr>
            </a:outerShdw>
          </a:effectLst>
        </p:spPr>
      </p:sp>
      <p:pic>
        <p:nvPicPr>
          <p:cNvPr id="34" name="Image 1" descr="/tmp/claude-0/-home-claude/c0a8783c-8817-5425-bc4f-190e5f64548a/scratchpad/work/imgs/img_0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818" y="2295144"/>
            <a:ext cx="4603867" cy="243569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324448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y compacta, con leve asimetría hacia la izquierda (−0,44). Se puede ser mucho peor que el promedio tirando, pero no mucho mejor. Cuatro puntos de TS% ya son media desviación estándar.</a:t>
            </a:r>
            <a:endParaRPr lang="en-US" sz="1080" dirty="0"/>
          </a:p>
        </p:txBody>
      </p:sp>
      <p:pic>
        <p:nvPicPr>
          <p:cNvPr id="36" name="Image 2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e interior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USG% — % de uso del jugador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18.905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435075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35075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321509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4.974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21509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207944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07944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09437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9437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980813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80813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14570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090771081691699e+33" dist="2.0302570272305663e+33" dir="1.5116544e+40">
              <a:srgbClr val="8798AD">
                <a:alpha val="3e+39"/>
              </a:srgbClr>
            </a:outerShdw>
          </a:effectLst>
        </p:spPr>
      </p:sp>
      <p:pic>
        <p:nvPicPr>
          <p:cNvPr id="18" name="Image 0" descr="/tmp/claude-0/-home-claude/c0a8783c-8817-5425-bc4f-190e5f64548a/scratchpad/work/imgs/img_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010" y="2295144"/>
            <a:ext cx="4603867" cy="243569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Notablemente simétrica y compacta: los USG% de los cinco jugadores en cancha suman ≈100, así que el promedio de la liga está anclado cerca del 20%. Máximo observado: 41,7%.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6324448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TRB% — % de rebotes capturados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2444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10.079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2444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7210882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210882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8097317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4.481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097317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898375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98375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870186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870186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1075662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075662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590378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735279273748459e+37" dist="2.578426424582819e+37" dir="9.069926400000001e+44">
              <a:srgbClr val="8798AD">
                <a:alpha val="3e+44"/>
              </a:srgbClr>
            </a:outerShdw>
          </a:effectLst>
        </p:spPr>
      </p:sp>
      <p:pic>
        <p:nvPicPr>
          <p:cNvPr id="34" name="Image 1" descr="/tmp/claude-0/-home-claude/c0a8783c-8817-5425-bc4f-190e5f64548a/scratchpad/work/imgs/img_0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818" y="2295144"/>
            <a:ext cx="4603867" cy="243569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324448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por rol más nítida del dataset: las medianas crecen de 5,5% en bases a 14,8% en pívots, con rangos intercuartílicos que casi no se solapan entre posiciones.</a:t>
            </a:r>
            <a:endParaRPr lang="en-US" sz="1080" dirty="0"/>
          </a:p>
        </p:txBody>
      </p:sp>
      <p:pic>
        <p:nvPicPr>
          <p:cNvPr id="36" name="Image 2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estilo de época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AST% — % de asistencias del equipo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13.547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435075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35075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321509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21509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207944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07944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09437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9437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980813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1.239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80813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14570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823804677660543e+41" dist="3.2746015592201804e+41" dir="5.44195584e+49">
              <a:srgbClr val="8798AD">
                <a:alpha val="2.9999999999999997e+49"/>
              </a:srgbClr>
            </a:outerShdw>
          </a:effectLst>
        </p:spPr>
      </p:sp>
      <p:pic>
        <p:nvPicPr>
          <p:cNvPr id="18" name="Image 0" descr="/tmp/claude-0/-home-claude/c0a8783c-8817-5425-bc4f-190e5f64548a/scratchpad/work/imgs/img_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010" y="2295144"/>
            <a:ext cx="4603867" cy="243569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asimetría positiva más marcada después del VORP: media 13,5% frente a mediana 10,7%, con cola larga hasta 57,5%. Es el contrapeso exacto del rebote (r = −0,5).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6324448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intentos que son de triple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2444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2444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7210882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210882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8097317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097317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898375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98375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870186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870186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1075662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075662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590378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47623194062889e+46" dist="4.158743980209629e+45" dir="3.2651735040000005e+54">
              <a:srgbClr val="8798AD">
                <a:alpha val="2.9999999999999996e+54"/>
              </a:srgbClr>
            </a:outerShdw>
          </a:effectLst>
        </p:spPr>
      </p:sp>
      <p:pic>
        <p:nvPicPr>
          <p:cNvPr id="34" name="Image 1" descr="/tmp/claude-0/-home-claude/c0a8783c-8817-5425-bc4f-190e5f64548a/scratchpad/work/imgs/img_0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818" y="2295144"/>
            <a:ext cx="4603867" cy="243569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324448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histograma más peculiar del dataset: gran masa cerca de cero (11,1% en 0 exacto) y cola hasta el 100%. Correlaciona r=0,5 con la temporada: mezcla 41 años de estilos de juego distintos.</a:t>
            </a:r>
            <a:endParaRPr lang="en-US" sz="1080" dirty="0"/>
          </a:p>
        </p:txBody>
      </p:sp>
      <p:pic>
        <p:nvPicPr>
          <p:cNvPr id="36" name="Image 2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y contexto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DBPM — Box Plus/Minus defensivo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435075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35075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321509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21509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207944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07944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09437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9437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980813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80813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14570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5844814564598688e+50" dist="5.281604854866228e+49" dir="1.9591041024000004e+59">
              <a:srgbClr val="8798AD">
                <a:alpha val="2.9999999999999996e+59"/>
              </a:srgbClr>
            </a:outerShdw>
          </a:effectLst>
        </p:spPr>
      </p:sp>
      <p:pic>
        <p:nvPicPr>
          <p:cNvPr id="18" name="Image 0" descr="/tmp/claude-0/-home-claude/c0a8783c-8817-5425-bc4f-190e5f64548a/scratchpad/work/imgs/img_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010" y="2295144"/>
            <a:ext cx="4603867" cy="243569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Centrada en cero por diseño y casi simétrica. Desviación de solo 1,21 puntos por 100 posesiones, frente a 2,66 del BPM ofensivo: la variación entre jugadores es mucho mayor en ataque que en defensa.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6324448" y="14173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victorias del equipo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24448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24448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7210882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210882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8097317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097317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898375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0.106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98375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870186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870186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10756621" y="1746504"/>
            <a:ext cx="840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0756621" y="1993392"/>
            <a:ext cx="840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590378" y="2203704"/>
            <a:ext cx="4786747" cy="2618570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0122914497040333e+54" dist="6.70763816568011e+53" dir="1.1754624614400003e+64">
              <a:srgbClr val="8798AD">
                <a:alpha val="2.9999999999999996e+64"/>
              </a:srgbClr>
            </a:outerShdw>
          </a:effectLst>
        </p:spPr>
      </p:sp>
      <p:pic>
        <p:nvPicPr>
          <p:cNvPr id="34" name="Image 1" descr="/tmp/claude-0/-home-claude/c0a8783c-8817-5425-bc4f-190e5f64548a/scratchpad/work/imgs/img_0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818" y="2295144"/>
            <a:ext cx="4603867" cy="243569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324448" y="4968578"/>
            <a:ext cx="5318608" cy="14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Centrada en 0,5 por construcción de la competición: cada victoria de un equipo es la derrota de otro. Es un atributo de equipo repetido en todas las filas de sus jugadores.</a:t>
            </a:r>
            <a:endParaRPr lang="en-US" sz="1080" dirty="0"/>
          </a:p>
        </p:txBody>
      </p:sp>
      <p:pic>
        <p:nvPicPr>
          <p:cNvPr id="36" name="Image 2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univariado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ESTANDARIZACIÓN Y CORRELACIÓN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correlación — 10 variables clave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de Pearson sobre datos estandarizados (pairwise.complete.obs). Ninguna pareja supera |r| = 0.78: el panel no contiene variables redundantes.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9559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5556101411241224e+58" dist="8.518700470413739e+57" dir="7.052774768640002e+68">
              <a:srgbClr val="8798AD">
                <a:alpha val="2.9999999999999995e+69"/>
              </a:srgbClr>
            </a:outerShdw>
          </a:effectLst>
        </p:spPr>
      </p:sp>
      <p:pic>
        <p:nvPicPr>
          <p:cNvPr id="6" name="Image 0" descr="/tmp/claude-0/-home-claude/c0a8783c-8817-5425-bc4f-190e5f64548a/scratchpad/work/imgs/img_0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048256"/>
            <a:ext cx="5239558" cy="4453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01430" y="1920240"/>
            <a:ext cx="5141625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2456248792276356e+62" dist="1.081874959742545e+62" dir="4.2316648611840007e+73">
              <a:srgbClr val="8798AD">
                <a:alpha val="2.9999999999999995e+74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702598" y="2048256"/>
            <a:ext cx="4739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más fuerte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702598" y="2331720"/>
            <a:ext cx="47392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puntos_pp ↔ valor_sobre_reemplazo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702598" y="2670048"/>
            <a:ext cx="47392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0.74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501430" y="3337560"/>
            <a:ext cx="5141625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121943596619097e+66" dist="1.373981198873032e+66" dir="2.5389989167104004e+78">
              <a:srgbClr val="8798AD">
                <a:alpha val="3e+79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702598" y="3465576"/>
            <a:ext cx="4739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equipo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702598" y="3749040"/>
            <a:ext cx="47392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masmenos_defensivo ↔ porc_victorias_equipo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02598" y="4087368"/>
            <a:ext cx="47392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0.34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501430" y="4754880"/>
            <a:ext cx="5141625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2348683677062537e+70" dist="1.7449561225687507e+70" dir="1.5233993500262402e+83">
              <a:srgbClr val="8798AD">
                <a:alpha val="2.9999999999999995e+84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702598" y="4882896"/>
            <a:ext cx="4739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702598" y="5166360"/>
            <a:ext cx="47392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|r| entre las 10 variables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702598" y="5504688"/>
            <a:ext cx="47392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0.174</a:t>
            </a:r>
            <a:endParaRPr lang="en-US" sz="2000" dirty="0"/>
          </a:p>
        </p:txBody>
      </p:sp>
      <p:pic>
        <p:nvPicPr>
          <p:cNvPr id="19" name="Image 1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Correlación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relaciones escogidas, y por qué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correlación responde "¿cuánto se mueven juntas dos variables, en promedio, de forma lineal?". El bivariado cambia la pregunta: ¿es una recta o una curva? ¿es la misma para todos o cambia según la posición?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ofensivo vs. eficiencia de tiro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50592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¿Tomar más volumen de tiro cuesta eficiencia?   </a:t>
            </a:r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0.11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8152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081528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vs. edad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3832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una recta o una curva?   </a:t>
            </a:r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1421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014216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intentos de triple vs. temporada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315968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el punto de quiebre del juego?   </a:t>
            </a:r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0.497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4690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946904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Rebote vs. creación de juego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248656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trade-off posicional?   </a:t>
            </a:r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-0.504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6324448" y="2148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827368" y="2148840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Protagonismo vs. producción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2450592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anotar mucho sin ser el protagonista?   </a:t>
            </a:r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0.731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6324448" y="308152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827368" y="3081528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totales vs. VORP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33832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oportunidad explica el valor acumulado?   </a:t>
            </a:r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0.662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6324448" y="401421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827368" y="4014216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victorias del equipo vs. DBPM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4315968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dato defensivo sobrevive en equipos malos?   </a:t>
            </a:r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0.343</a:t>
            </a:r>
            <a:endParaRPr lang="en-US" sz="1080" dirty="0"/>
          </a:p>
        </p:txBody>
      </p:sp>
      <p:sp>
        <p:nvSpPr>
          <p:cNvPr id="26" name="Text 24"/>
          <p:cNvSpPr txBox="1"/>
          <p:nvPr/>
        </p:nvSpPr>
        <p:spPr>
          <a:xfrm>
            <a:off x="6324448" y="494690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827368" y="4946904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vs. eficiencia, por edad de entrada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5248656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¿Desarrollo real o sesgo de selección?   </a:t>
            </a:r>
            <a:pPr algn="l" indent="0" marL="0">
              <a:lnSpc>
                <a:spcPct val="110000"/>
              </a:lnSpc>
              <a:buNone/>
            </a:pP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propuestas iniciales se descartaron cuatro por falta de datos: estatura, salario, indicador de playoffs e indicador de franquicia campeona.</a:t>
            </a:r>
            <a:endParaRPr lang="en-US" sz="1000" dirty="0"/>
          </a:p>
        </p:txBody>
      </p:sp>
      <p:pic>
        <p:nvPicPr>
          <p:cNvPr id="30" name="Image 0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ofensivo (USG%) vs. eficiencia de tiro (TS%)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42920"/>
            <a:ext cx="6858000" cy="43322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648282826986942e+74" dist="2.2160942756623134e+74" dir="9.14039610015744e+87">
              <a:srgbClr val="8798AD">
                <a:alpha val="2.9999999999999996e+89"/>
              </a:srgbClr>
            </a:outerShdw>
          </a:effectLst>
        </p:spPr>
      </p:sp>
      <p:pic>
        <p:nvPicPr>
          <p:cNvPr id="5" name="Image 0" descr="/tmp/claude-0/-home-claude/c0a8783c-8817-5425-bc4f-190e5f64548a/scratchpad/work/imgs/img_0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52648"/>
            <a:ext cx="6638544" cy="4112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6002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7A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221992"/>
            <a:ext cx="38706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más volumen de tiro casi no cuesta eficiencia. Un pequeño grupo de "estrellas eficientes" combina alto uso Y alta eficiencia a la vez — rompen el patrón general de la liga.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959352"/>
          <a:ext cx="3870655" cy="914400"/>
        </p:xfrm>
        <a:graphic>
          <a:graphicData uri="http://schemas.openxmlformats.org/drawingml/2006/table">
            <a:tbl>
              <a:tblPr/>
              <a:tblGrid>
                <a:gridCol w="1316023"/>
                <a:gridCol w="638658"/>
                <a:gridCol w="638658"/>
                <a:gridCol w="638658"/>
                <a:gridCol w="63865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USG%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Jordan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LeBron James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Jordan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Robinson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Jordan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1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Bivariado · 1/8</a:t>
            </a:r>
            <a:endParaRPr lang="en-US" sz="850" dirty="0"/>
          </a:p>
        </p:txBody>
      </p:sp>
      <p:sp>
        <p:nvSpPr>
          <p:cNvPr id="12" name="Text 7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vs. edad, como curva y no como correlación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876312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443319190273415e+78" dist="2.814439730091138e+78" dir="5.484237660094465e+92">
              <a:srgbClr val="8798AD">
                <a:alpha val="2.9999999999999997e+94"/>
              </a:srgbClr>
            </a:outerShdw>
          </a:effectLst>
        </p:spPr>
      </p:sp>
      <p:pic>
        <p:nvPicPr>
          <p:cNvPr id="5" name="Image 0" descr="/tmp/claude-0/-home-claude/c0a8783c-8817-5425-bc4f-190e5f64548a/scratchpad/work/imgs/img_0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4656856" cy="43982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0712" y="16002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7A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90712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790712" y="2221992"/>
            <a:ext cx="585234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 promedio alcanza su pico entre los 27-28 años (14.3) y después declina gradualmente: una curva con techo, no una correlación lineal. Los minutos por partido siguen el mismo patrón de arco.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90712" y="3959352"/>
          <a:ext cx="5852343" cy="914400"/>
        </p:xfrm>
        <a:graphic>
          <a:graphicData uri="http://schemas.openxmlformats.org/drawingml/2006/table">
            <a:tbl>
              <a:tblPr/>
              <a:tblGrid>
                <a:gridCol w="1989797"/>
                <a:gridCol w="965637"/>
                <a:gridCol w="965637"/>
                <a:gridCol w="965637"/>
                <a:gridCol w="965637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Min/pp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1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Bivariado · 2/8</a:t>
            </a:r>
            <a:endParaRPr lang="en-US" sz="850" dirty="0"/>
          </a:p>
        </p:txBody>
      </p:sp>
      <p:sp>
        <p:nvSpPr>
          <p:cNvPr id="12" name="Text 7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intentos de triple vs. temporada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42920"/>
            <a:ext cx="6858000" cy="43322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723015371647238e+83" dist="3.574338457215745e+82" dir="3.2905425960566786e+97">
              <a:srgbClr val="8798AD">
                <a:alpha val="2.9999999999999997e+99"/>
              </a:srgbClr>
            </a:outerShdw>
          </a:effectLst>
        </p:spPr>
      </p:sp>
      <p:pic>
        <p:nvPicPr>
          <p:cNvPr id="5" name="Image 0" descr="/tmp/claude-0/-home-claude/c0a8783c-8817-5425-bc4f-190e5f64548a/scratchpad/work/imgs/img_0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52648"/>
            <a:ext cx="6638544" cy="4112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6002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7A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0.497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221992"/>
            <a:ext cx="38706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triple pasó de ser un recurso marginal a casi 4 de cada 10 intentos de campo. El cambio de estilo ocurre por quiebres identificables entre eras, no de forma gradual y suave.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959352"/>
          <a:ext cx="3870655" cy="914400"/>
        </p:xfrm>
        <a:graphic>
          <a:graphicData uri="http://schemas.openxmlformats.org/drawingml/2006/table">
            <a:tbl>
              <a:tblPr/>
              <a:tblGrid>
                <a:gridCol w="1316023"/>
                <a:gridCol w="255463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Prop. media de intentos de triple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1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Bivariado · 3/8</a:t>
            </a:r>
            <a:endParaRPr lang="en-US" sz="850" dirty="0"/>
          </a:p>
        </p:txBody>
      </p:sp>
      <p:sp>
        <p:nvSpPr>
          <p:cNvPr id="12" name="Text 7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Rebote (TRB%) vs. creación de juego (AST%)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51107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618229521991992e+87" dist="4.539409840663996e+86" dir="1.9743255576340073e+102">
              <a:srgbClr val="8798AD">
                <a:alpha val="3e+104"/>
              </a:srgbClr>
            </a:outerShdw>
          </a:effectLst>
        </p:spPr>
      </p:sp>
      <p:pic>
        <p:nvPicPr>
          <p:cNvPr id="5" name="Image 0" descr="/tmp/claude-0/-home-claude/c0a8783c-8817-5425-bc4f-190e5f64548a/scratchpad/work/imgs/img_0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6531651" cy="43982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65507" y="16002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7A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65507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-0.504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665507" y="2221992"/>
            <a:ext cx="397754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trade-off posicional claro: a más rebote, menos asistencias, en promedio. Pero los grandes bases-pívot modernos (Jokić, Westbrook) rompen la tendencia con temporadas de alto TRB% y alto AST% a la vez.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65507" y="3959352"/>
          <a:ext cx="3977549" cy="914400"/>
        </p:xfrm>
        <a:graphic>
          <a:graphicData uri="http://schemas.openxmlformats.org/drawingml/2006/table">
            <a:tbl>
              <a:tblPr/>
              <a:tblGrid>
                <a:gridCol w="1352367"/>
                <a:gridCol w="656296"/>
                <a:gridCol w="656296"/>
                <a:gridCol w="656296"/>
                <a:gridCol w="656296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TRB%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Robinson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Garnett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Nikola Jokić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Russell Westbrook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Garnett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1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Bivariado · 4/8</a:t>
            </a:r>
            <a:endParaRPr lang="en-US" sz="850" dirty="0"/>
          </a:p>
        </p:txBody>
      </p:sp>
      <p:sp>
        <p:nvSpPr>
          <p:cNvPr id="12" name="Text 7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Protagonismo (USG%) vs. producción (puntos por partido)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42920"/>
            <a:ext cx="6858000" cy="43322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729515149292983e+91" dist="5.765050497643275e+90" dir="1.1845953345804043e+107">
              <a:srgbClr val="8798AD">
                <a:alpha val="2.9999999999999997e+109"/>
              </a:srgbClr>
            </a:outerShdw>
          </a:effectLst>
        </p:spPr>
      </p:sp>
      <p:pic>
        <p:nvPicPr>
          <p:cNvPr id="5" name="Image 0" descr="/tmp/claude-0/-home-claude/c0a8783c-8817-5425-bc4f-190e5f64548a/scratchpad/work/imgs/img_0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52648"/>
            <a:ext cx="6638544" cy="4112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6002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7A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0.731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221992"/>
            <a:ext cx="38706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más fuerte del panel bivariado: a más protagonismo ofensivo, más puntos. Pero existen excepciones — jugadores que anotan mucho sin ser el protagonista ofensivo de su equipo.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959352"/>
          <a:ext cx="3870655" cy="914400"/>
        </p:xfrm>
        <a:graphic>
          <a:graphicData uri="http://schemas.openxmlformats.org/drawingml/2006/table">
            <a:tbl>
              <a:tblPr/>
              <a:tblGrid>
                <a:gridCol w="1316023"/>
                <a:gridCol w="638658"/>
                <a:gridCol w="638658"/>
                <a:gridCol w="638658"/>
                <a:gridCol w="63865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USG%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Pts/p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Majerle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Harrison Barnes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Cage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Danny Ainge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Rudy Gobert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1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Bivariado · 5/8</a:t>
            </a:r>
            <a:endParaRPr lang="en-US" sz="850" dirty="0"/>
          </a:p>
        </p:txBody>
      </p:sp>
      <p:sp>
        <p:nvSpPr>
          <p:cNvPr id="12" name="Text 7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totales vs. valor sobre el reemplazo (VORP)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42920"/>
            <a:ext cx="6858000" cy="43322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964842396020885e+95" dist="7.321614132006959e+94" dir="7.107572007482426e+111">
              <a:srgbClr val="8798AD">
                <a:alpha val="2.9999999999999995e+114"/>
              </a:srgbClr>
            </a:outerShdw>
          </a:effectLst>
        </p:spPr>
      </p:sp>
      <p:pic>
        <p:nvPicPr>
          <p:cNvPr id="5" name="Image 0" descr="/tmp/claude-0/-home-claude/c0a8783c-8817-5425-bc4f-190e5f64548a/scratchpad/work/imgs/img_0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52648"/>
            <a:ext cx="6638544" cy="4112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6002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7A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0.662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221992"/>
            <a:ext cx="38706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es fuerte, pero el boxplot por decil de minutos muestra que la relación no es lineal: el VORP se acelera de forma notoria en el último decil de oportunidad.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959352"/>
          <a:ext cx="3870655" cy="914400"/>
        </p:xfrm>
        <a:graphic>
          <a:graphicData uri="http://schemas.openxmlformats.org/drawingml/2006/table">
            <a:tbl>
              <a:tblPr/>
              <a:tblGrid>
                <a:gridCol w="1316023"/>
                <a:gridCol w="1277316"/>
                <a:gridCol w="1277316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prom.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VORP prom.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1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Bivariado · 6/8</a:t>
            </a:r>
            <a:endParaRPr lang="en-US" sz="850" dirty="0"/>
          </a:p>
        </p:txBody>
      </p:sp>
      <p:sp>
        <p:nvSpPr>
          <p:cNvPr id="12" name="Text 7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victorias del equipo vs. impacto defensivo (DBPM)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42920"/>
            <a:ext cx="6858000" cy="43322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7895349842946525e+99" dist="9.298449947648839e+98" dir="4.2645432044894554e+116">
              <a:srgbClr val="8798AD">
                <a:alpha val="2.9999999999999997e+119"/>
              </a:srgbClr>
            </a:outerShdw>
          </a:effectLst>
        </p:spPr>
      </p:sp>
      <p:pic>
        <p:nvPicPr>
          <p:cNvPr id="5" name="Image 0" descr="/tmp/claude-0/-home-claude/c0a8783c-8817-5425-bc4f-190e5f64548a/scratchpad/work/imgs/img_0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52648"/>
            <a:ext cx="6638544" cy="4112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6002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7A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0.343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221992"/>
            <a:ext cx="38706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defensivas individuales son las menos fiables porque dependen del sistema del equipo. Existen "defensores escondidos": DBPM alto que sobrevive incluso en equipos con pocas victorias.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959352"/>
          <a:ext cx="3870655" cy="914400"/>
        </p:xfrm>
        <a:graphic>
          <a:graphicData uri="http://schemas.openxmlformats.org/drawingml/2006/table">
            <a:tbl>
              <a:tblPr/>
              <a:tblGrid>
                <a:gridCol w="1316023"/>
                <a:gridCol w="638658"/>
                <a:gridCol w="638658"/>
                <a:gridCol w="638658"/>
                <a:gridCol w="63865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DBPM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Vict.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Eaton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Eric Murdock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Andrei Kirilenko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Kyle Lowry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Quinn Buckner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1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Bivariado · 7/8</a:t>
            </a:r>
            <a:endParaRPr lang="en-US" sz="850" dirty="0"/>
          </a:p>
        </p:txBody>
      </p:sp>
      <p:sp>
        <p:nvSpPr>
          <p:cNvPr id="12" name="Text 7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1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BIVARIADO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experiencia vs. eficiencia, por edad de entrada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42920"/>
            <a:ext cx="6858000" cy="43322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542709430054209e+103" dist="1.1809031433514024e+103" dir="2.5587259226936733e+121">
              <a:srgbClr val="8798AD">
                <a:alpha val="2.9999999999999995e+124"/>
              </a:srgbClr>
            </a:outerShdw>
          </a:effectLst>
        </p:spPr>
      </p:sp>
      <p:pic>
        <p:nvPicPr>
          <p:cNvPr id="5" name="Image 0" descr="/tmp/claude-0/-home-claude/c0a8783c-8817-5425-bc4f-190e5f64548a/scratchpad/work/imgs/img_0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52648"/>
            <a:ext cx="6638544" cy="4112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0" y="1600200"/>
            <a:ext cx="38706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igual experiencia, entrar más joven a la liga se asocia con mayor PER. A 5 años de experiencia, quienes entraron con ≤19 años promedian 17.8 de PER frente a 13.1 de quienes entraron con 24+ años.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337560"/>
          <a:ext cx="3870655" cy="914400"/>
        </p:xfrm>
        <a:graphic>
          <a:graphicData uri="http://schemas.openxmlformats.org/drawingml/2006/table">
            <a:tbl>
              <a:tblPr/>
              <a:tblGrid>
                <a:gridCol w="1316023"/>
                <a:gridCol w="1277316"/>
                <a:gridCol w="1277316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entrada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(año 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/tmp/claude-0/-home-claude/c0a8783c-8817-5425-bc4f-190e5f64548a/scratchpad/work/icons/basketball_E159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Bivariado · 8/8</a:t>
            </a:r>
            <a:endParaRPr lang="en-US" sz="850" dirty="0"/>
          </a:p>
        </p:txBody>
      </p:sp>
      <p:sp>
        <p:nvSpPr>
          <p:cNvPr id="10" name="Text 5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0a8783c-8817-5425-bc4f-190e5f64548a/scratchpad/work/icons/basketball_1B3760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-1371600" y="292608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deja el análisis univariado, multivariado y bivariado del dataset nbaFINAL.csv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48640" y="1929384"/>
            <a:ext cx="109728" cy="10972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" y="187452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depurado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121408"/>
            <a:ext cx="501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14.078 registros temporada-jugador, 54 variables (1982–2022), solo 0,21% de celdas con NA tras filtrar minutos_totales ≥ 100 y retirar filas "TOT".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843784"/>
            <a:ext cx="109728" cy="10972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278892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variables genuinamente independientes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035808"/>
            <a:ext cx="501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absoluta mediana de 0.174 entre ellas y ninguna pareja supera |r| = 0.8, cubriendo 10 dimensiones distintas del juego.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758184"/>
            <a:ext cx="109728" cy="10972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" y="370332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por sí solo engaña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3950208"/>
            <a:ext cx="501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USG% vs. TS% y edad vs. PER dan r ≈ 0, pero esconden patrones reales: estrellas eficientes y una curva de rendimiento con pico hacia los 27-28 años.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672584"/>
            <a:ext cx="109728" cy="10972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4672" y="461772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posición es la confusión más frecuente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04672" y="4864608"/>
            <a:ext cx="501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Asistencias vs. pérdidas y rebote vs. asistencias solo se interpretan bien controlando por posición.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5586984"/>
            <a:ext cx="109728" cy="10972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4672" y="553212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infla métricas "individuales"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04672" y="5779008"/>
            <a:ext cx="501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VORP crece de forma acelerada (no lineal) según los minutos jugados, y el impacto defensivo también depende de qué tan bueno es el equipo.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70168" y="1929384"/>
            <a:ext cx="109728" cy="10972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26200" y="187452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estilo de juego cambió por quiebre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626200" y="2121408"/>
            <a:ext cx="501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de intentos de triple se aceleró en momentos identificables a lo largo de 41 temporadas, no de forma suave.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370168" y="2843784"/>
            <a:ext cx="109728" cy="10972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626200" y="278892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supuesto trade-off se cumple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626200" y="3035808"/>
            <a:ext cx="501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y asistencias por partido correlacionan positivo (r ≈ 0.59): anotar y crear juego comparten causa común, no se oponen.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370168" y="3758184"/>
            <a:ext cx="109728" cy="10972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626200" y="370332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derivada resuelve una confusión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626200" y="3950208"/>
            <a:ext cx="501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"Experiencia" y "edad de entrada" no existen en el dataset original, pero fueron necesarias para separar desarrollo real de sesgo de selección.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370168" y="4672584"/>
            <a:ext cx="109728" cy="10972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26200" y="461772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naturales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626200" y="4864608"/>
            <a:ext cx="501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y clustering sobre el panel estandarizado de 10 variables para hallar arquetipos de jugador, y un modelo de VORP con predictores no redundantes.</a:t>
            </a:r>
            <a:endParaRPr lang="en-US" sz="1000" dirty="0"/>
          </a:p>
        </p:txBody>
      </p:sp>
      <p:pic>
        <p:nvPicPr>
          <p:cNvPr id="32" name="Image 1" descr="/tmp/claude-0/-home-claude/c0a8783c-8817-5425-bc4f-190e5f64548a/scratchpad/work/icons/basketball_FF7A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47104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68096" y="6510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ANÁLISIS NBA 1982–2022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2026-09-18T21:14:16Z</dcterms:created>
  <dcterms:modified xsi:type="dcterms:W3CDTF">2026-09-18T21:14:16Z</dcterms:modified>
</cp:coreProperties>
</file>