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docProps/custom.xml" ContentType="application/vnd.openxmlformats-officedocument.custom-properties+xml"/>
  <Override PartName="/ppt/slides/slide17.xml" ContentType="application/vnd.openxmlformats-officedocument.presentationml.slide+xml"/>
  <Override PartName="/ppt/viewProps.xml" ContentType="application/vnd.openxmlformats-officedocument.presentationml.viewProps+xml"/>
  <Override PartName="/ppt/slides/slide3.xml" ContentType="application/vnd.openxmlformats-officedocument.presentationml.slide+xml"/>
  <Override PartName="/ppt/theme/theme1.xml" ContentType="application/vnd.openxmlformats-officedocument.theme+xml"/>
  <Override PartName="/ppt/slides/slide2.xml" ContentType="application/vnd.openxmlformats-officedocument.presentationml.slide+xml"/>
  <Override PartName="/ppt/slideMasters/slideMaster1.xml" ContentType="application/vnd.openxmlformats-officedocument.presentationml.slideMaster+xml"/>
  <Override PartName="/docProps/core.xml" ContentType="application/vnd.openxmlformats-package.core-properties+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23.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1038997440" y="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45027659" name="PlaceHolder 1"/>
          <p:cNvSpPr>
            <a:spLocks noGrp="1"/>
          </p:cNvSpPr>
          <p:nvPr>
            <p:ph type="sldImg"/>
          </p:nvPr>
        </p:nvSpPr>
        <p:spPr bwMode="auto">
          <a:xfrm>
            <a:off x="216000" y="812520"/>
            <a:ext cx="7127280" cy="4008960"/>
          </a:xfrm>
          <a:prstGeom prst="rect">
            <a:avLst/>
          </a:prstGeom>
          <a:noFill/>
          <a:ln w="0">
            <a:noFill/>
          </a:ln>
        </p:spPr>
        <p:txBody>
          <a:bodyPr lIns="0" tIns="0" rIns="0" bIns="0" anchor="ctr">
            <a:noAutofit/>
          </a:bodyPr>
          <a:p>
            <a:pPr>
              <a:defRPr/>
            </a:pPr>
            <a:r>
              <a:rPr lang="es-ES" sz="1800" b="0" u="none" strike="noStrike">
                <a:solidFill>
                  <a:schemeClr val="dk1"/>
                </a:solidFill>
                <a:latin typeface="Calibri"/>
              </a:rPr>
              <a:t>Pulse para </a:t>
            </a:r>
            <a:r>
              <a:rPr lang="es-ES" sz="1800" b="0" u="none" strike="noStrike">
                <a:solidFill>
                  <a:schemeClr val="dk1"/>
                </a:solidFill>
                <a:latin typeface="Calibri"/>
              </a:rPr>
              <a:t>desplazar </a:t>
            </a:r>
            <a:r>
              <a:rPr lang="es-ES" sz="1800" b="0" u="none" strike="noStrike">
                <a:solidFill>
                  <a:schemeClr val="dk1"/>
                </a:solidFill>
                <a:latin typeface="Calibri"/>
              </a:rPr>
              <a:t>la </a:t>
            </a:r>
            <a:r>
              <a:rPr lang="es-ES" sz="1800" b="0" u="none" strike="noStrike">
                <a:solidFill>
                  <a:schemeClr val="dk1"/>
                </a:solidFill>
                <a:latin typeface="Calibri"/>
              </a:rPr>
              <a:t>diapositiv</a:t>
            </a:r>
            <a:r>
              <a:rPr lang="es-ES" sz="1800" b="0" u="none" strike="noStrike">
                <a:solidFill>
                  <a:schemeClr val="dk1"/>
                </a:solidFill>
                <a:latin typeface="Calibri"/>
              </a:rPr>
              <a:t>a</a:t>
            </a:r>
            <a:endParaRPr lang="es-ES" sz="1800" b="0" u="none" strike="noStrike">
              <a:solidFill>
                <a:schemeClr val="dk1"/>
              </a:solidFill>
              <a:latin typeface="Calibri"/>
            </a:endParaRPr>
          </a:p>
        </p:txBody>
      </p:sp>
      <p:sp>
        <p:nvSpPr>
          <p:cNvPr id="1072061729" name="PlaceHolder 2"/>
          <p:cNvSpPr>
            <a:spLocks noGrp="1"/>
          </p:cNvSpPr>
          <p:nvPr>
            <p:ph type="body"/>
          </p:nvPr>
        </p:nvSpPr>
        <p:spPr bwMode="auto">
          <a:xfrm>
            <a:off x="756000" y="5078520"/>
            <a:ext cx="6047640" cy="4811039"/>
          </a:xfrm>
          <a:prstGeom prst="rect">
            <a:avLst/>
          </a:prstGeom>
          <a:noFill/>
          <a:ln w="0">
            <a:noFill/>
          </a:ln>
        </p:spPr>
        <p:txBody>
          <a:bodyPr lIns="0" tIns="0" rIns="0" bIns="0" anchor="t">
            <a:noAutofit/>
          </a:bodyPr>
          <a:p>
            <a:pPr indent="0" algn="l">
              <a:buNone/>
              <a:defRPr/>
            </a:pPr>
            <a:r>
              <a:rPr lang="es-ES" sz="2000" b="0" u="none" strike="noStrike">
                <a:solidFill>
                  <a:srgbClr val="000000"/>
                </a:solidFill>
                <a:latin typeface="Arial"/>
              </a:rPr>
              <a:t>Pulse </a:t>
            </a:r>
            <a:r>
              <a:rPr lang="es-ES" sz="2000" b="0" u="none" strike="noStrike">
                <a:solidFill>
                  <a:srgbClr val="000000"/>
                </a:solidFill>
                <a:latin typeface="Arial"/>
              </a:rPr>
              <a:t>para </a:t>
            </a:r>
            <a:r>
              <a:rPr lang="es-ES" sz="2000" b="0" u="none" strike="noStrike">
                <a:solidFill>
                  <a:srgbClr val="000000"/>
                </a:solidFill>
                <a:latin typeface="Arial"/>
              </a:rPr>
              <a:t>editar el </a:t>
            </a:r>
            <a:r>
              <a:rPr lang="es-ES" sz="2000" b="0" u="none" strike="noStrike">
                <a:solidFill>
                  <a:srgbClr val="000000"/>
                </a:solidFill>
                <a:latin typeface="Arial"/>
              </a:rPr>
              <a:t>formato </a:t>
            </a:r>
            <a:r>
              <a:rPr lang="es-ES" sz="2000" b="0" u="none" strike="noStrike">
                <a:solidFill>
                  <a:srgbClr val="000000"/>
                </a:solidFill>
                <a:latin typeface="Arial"/>
              </a:rPr>
              <a:t>de las </a:t>
            </a:r>
            <a:r>
              <a:rPr lang="es-ES" sz="2000" b="0" u="none" strike="noStrike">
                <a:solidFill>
                  <a:srgbClr val="000000"/>
                </a:solidFill>
                <a:latin typeface="Arial"/>
              </a:rPr>
              <a:t>notas</a:t>
            </a:r>
            <a:endParaRPr lang="es-ES" sz="2000" b="0" u="none" strike="noStrike">
              <a:solidFill>
                <a:srgbClr val="000000"/>
              </a:solidFill>
              <a:latin typeface="Arial"/>
            </a:endParaRPr>
          </a:p>
        </p:txBody>
      </p:sp>
      <p:sp>
        <p:nvSpPr>
          <p:cNvPr id="1019872219" name="PlaceHolder 3"/>
          <p:cNvSpPr>
            <a:spLocks noGrp="1"/>
          </p:cNvSpPr>
          <p:nvPr>
            <p:ph type="hdr"/>
          </p:nvPr>
        </p:nvSpPr>
        <p:spPr bwMode="auto">
          <a:xfrm>
            <a:off x="0" y="0"/>
            <a:ext cx="3280680" cy="534240"/>
          </a:xfrm>
          <a:prstGeom prst="rect">
            <a:avLst/>
          </a:prstGeom>
          <a:noFill/>
          <a:ln w="0">
            <a:noFill/>
          </a:ln>
        </p:spPr>
        <p:txBody>
          <a:bodyPr lIns="0" tIns="0" rIns="0" bIns="0" anchor="t">
            <a:noAutofit/>
          </a:bodyPr>
          <a:p>
            <a:pPr indent="0" algn="l">
              <a:buNone/>
              <a:defRPr/>
            </a:pPr>
            <a:r>
              <a:rPr lang="es-ES" sz="1400" b="0" u="none" strike="noStrike">
                <a:solidFill>
                  <a:srgbClr val="000000"/>
                </a:solidFill>
                <a:latin typeface="Times New Roman"/>
              </a:rPr>
              <a:t> </a:t>
            </a:r>
            <a:endParaRPr lang="es-ES" sz="1400" b="0" u="none" strike="noStrike">
              <a:solidFill>
                <a:srgbClr val="000000"/>
              </a:solidFill>
              <a:latin typeface="Times New Roman"/>
            </a:endParaRPr>
          </a:p>
        </p:txBody>
      </p:sp>
      <p:sp>
        <p:nvSpPr>
          <p:cNvPr id="1428467049" name="PlaceHolder 4"/>
          <p:cNvSpPr>
            <a:spLocks noGrp="1"/>
          </p:cNvSpPr>
          <p:nvPr>
            <p:ph type="dt" idx="1"/>
          </p:nvPr>
        </p:nvSpPr>
        <p:spPr bwMode="auto">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latin typeface="Times New Roman"/>
              </a:defRPr>
            </a:lvl1pPr>
          </a:lstStyle>
          <a:p>
            <a:pPr indent="0" algn="r">
              <a:buNone/>
              <a:defRPr/>
            </a:pPr>
            <a:r>
              <a:rPr lang="es-ES" sz="1400" b="0" u="none" strike="noStrike">
                <a:solidFill>
                  <a:srgbClr val="000000"/>
                </a:solidFill>
                <a:latin typeface="Times New Roman"/>
              </a:rPr>
              <a:t> </a:t>
            </a:r>
            <a:endParaRPr lang="es-ES" sz="1400" b="0" u="none" strike="noStrike">
              <a:solidFill>
                <a:srgbClr val="000000"/>
              </a:solidFill>
              <a:latin typeface="Times New Roman"/>
            </a:endParaRPr>
          </a:p>
        </p:txBody>
      </p:sp>
      <p:sp>
        <p:nvSpPr>
          <p:cNvPr id="1227557138" name="PlaceHolder 5"/>
          <p:cNvSpPr>
            <a:spLocks noGrp="1"/>
          </p:cNvSpPr>
          <p:nvPr>
            <p:ph type="ftr" idx="2"/>
          </p:nvPr>
        </p:nvSpPr>
        <p:spPr bwMode="auto">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latin typeface="Times New Roman"/>
              </a:defRPr>
            </a:lvl1pPr>
          </a:lstStyle>
          <a:p>
            <a:pPr indent="0" algn="l">
              <a:buNone/>
              <a:defRPr/>
            </a:pPr>
            <a:r>
              <a:rPr lang="es-ES" sz="1400" b="0" u="none" strike="noStrike">
                <a:solidFill>
                  <a:srgbClr val="000000"/>
                </a:solidFill>
                <a:latin typeface="Times New Roman"/>
              </a:rPr>
              <a:t> </a:t>
            </a:r>
            <a:endParaRPr lang="es-ES" sz="1400" b="0" u="none" strike="noStrike">
              <a:solidFill>
                <a:srgbClr val="000000"/>
              </a:solidFill>
              <a:latin typeface="Times New Roman"/>
            </a:endParaRPr>
          </a:p>
        </p:txBody>
      </p:sp>
      <p:sp>
        <p:nvSpPr>
          <p:cNvPr id="658732569" name="PlaceHolder 6"/>
          <p:cNvSpPr>
            <a:spLocks noGrp="1"/>
          </p:cNvSpPr>
          <p:nvPr>
            <p:ph type="sldNum" idx="3"/>
          </p:nvPr>
        </p:nvSpPr>
        <p:spPr bwMode="auto">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latin typeface="Times New Roman"/>
              </a:defRPr>
            </a:lvl1pPr>
          </a:lstStyle>
          <a:p>
            <a:pPr indent="0" algn="r">
              <a:buNone/>
              <a:defRPr/>
            </a:pPr>
            <a:fld id="{8287AF92-8FD5-414D-AF9F-606B59EC9EBC}" type="slidenum">
              <a:rPr lang="es-ES" sz="1400" b="0" u="none" strike="noStrike">
                <a:solidFill>
                  <a:srgbClr val="000000"/>
                </a:solidFill>
                <a:latin typeface="Times New Roman"/>
              </a:rPr>
              <a:t/>
            </a:fld>
            <a:endParaRPr lang="es-ES" sz="1400" b="0" u="none" strike="noStrike">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5459540" name="PlaceHolder 1"/>
          <p:cNvSpPr>
            <a:spLocks noGrp="1"/>
          </p:cNvSpPr>
          <p:nvPr>
            <p:ph type="sldImg"/>
          </p:nvPr>
        </p:nvSpPr>
        <p:spPr bwMode="auto">
          <a:xfrm>
            <a:off x="685800" y="1143000"/>
            <a:ext cx="5486039" cy="3085920"/>
          </a:xfrm>
          <a:prstGeom prst="rect">
            <a:avLst/>
          </a:prstGeom>
          <a:ln w="0">
            <a:noFill/>
          </a:ln>
        </p:spPr>
      </p:sp>
      <p:sp>
        <p:nvSpPr>
          <p:cNvPr id="1083402419"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363215903" name="PlaceHolder 3"/>
          <p:cNvSpPr>
            <a:spLocks noGrp="1"/>
          </p:cNvSpPr>
          <p:nvPr>
            <p:ph type="sldNum" idx="4"/>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50239012-F76A-45F8-BDB3-52372303DC3F}"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8935175" name="PlaceHolder 1"/>
          <p:cNvSpPr>
            <a:spLocks noGrp="1"/>
          </p:cNvSpPr>
          <p:nvPr>
            <p:ph type="sldImg"/>
          </p:nvPr>
        </p:nvSpPr>
        <p:spPr bwMode="auto">
          <a:xfrm>
            <a:off x="685800" y="1143000"/>
            <a:ext cx="5486039" cy="3085920"/>
          </a:xfrm>
          <a:prstGeom prst="rect">
            <a:avLst/>
          </a:prstGeom>
          <a:ln w="0">
            <a:noFill/>
          </a:ln>
        </p:spPr>
      </p:sp>
      <p:sp>
        <p:nvSpPr>
          <p:cNvPr id="1968120000"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873023987" name="PlaceHolder 3"/>
          <p:cNvSpPr>
            <a:spLocks noGrp="1"/>
          </p:cNvSpPr>
          <p:nvPr>
            <p:ph type="sldNum" idx="5"/>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99F9CCD8-1A8B-4CFA-8636-A36A7DCB3CF2}"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9495118" name="PlaceHolder 1"/>
          <p:cNvSpPr>
            <a:spLocks noGrp="1"/>
          </p:cNvSpPr>
          <p:nvPr>
            <p:ph type="sldImg"/>
          </p:nvPr>
        </p:nvSpPr>
        <p:spPr bwMode="auto">
          <a:xfrm>
            <a:off x="685800" y="1143000"/>
            <a:ext cx="5486039" cy="3085920"/>
          </a:xfrm>
          <a:prstGeom prst="rect">
            <a:avLst/>
          </a:prstGeom>
          <a:ln w="0">
            <a:noFill/>
          </a:ln>
        </p:spPr>
      </p:sp>
      <p:sp>
        <p:nvSpPr>
          <p:cNvPr id="967812647"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2138521475" name="PlaceHolder 3"/>
          <p:cNvSpPr>
            <a:spLocks noGrp="1"/>
          </p:cNvSpPr>
          <p:nvPr>
            <p:ph type="sldNum" idx="6"/>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B901F7AA-1CC8-45D5-AFC4-50BB2DDC06D5}"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1481278" name="PlaceHolder 1"/>
          <p:cNvSpPr>
            <a:spLocks noGrp="1"/>
          </p:cNvSpPr>
          <p:nvPr>
            <p:ph type="sldImg"/>
          </p:nvPr>
        </p:nvSpPr>
        <p:spPr bwMode="auto">
          <a:xfrm>
            <a:off x="685800" y="1143000"/>
            <a:ext cx="5486039" cy="3085920"/>
          </a:xfrm>
          <a:prstGeom prst="rect">
            <a:avLst/>
          </a:prstGeom>
          <a:ln w="0">
            <a:noFill/>
          </a:ln>
        </p:spPr>
      </p:sp>
      <p:sp>
        <p:nvSpPr>
          <p:cNvPr id="1969136910"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458074377" name="PlaceHolder 3"/>
          <p:cNvSpPr>
            <a:spLocks noGrp="1"/>
          </p:cNvSpPr>
          <p:nvPr>
            <p:ph type="sldNum" idx="7"/>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38A8E013-9041-4B06-9D2D-412DADEF1720}"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4759005" name="PlaceHolder 1"/>
          <p:cNvSpPr>
            <a:spLocks noGrp="1"/>
          </p:cNvSpPr>
          <p:nvPr>
            <p:ph type="sldImg"/>
          </p:nvPr>
        </p:nvSpPr>
        <p:spPr bwMode="auto">
          <a:xfrm>
            <a:off x="685800" y="1143000"/>
            <a:ext cx="5486039" cy="3085920"/>
          </a:xfrm>
          <a:prstGeom prst="rect">
            <a:avLst/>
          </a:prstGeom>
          <a:ln w="0">
            <a:noFill/>
          </a:ln>
        </p:spPr>
      </p:sp>
      <p:sp>
        <p:nvSpPr>
          <p:cNvPr id="16301561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858412368" name="PlaceHolder 3"/>
          <p:cNvSpPr>
            <a:spLocks noGrp="1"/>
          </p:cNvSpPr>
          <p:nvPr>
            <p:ph type="sldNum" idx="8"/>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583527B4-1955-41FD-AC57-F03DE1E7C271}"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1726689" name="PlaceHolder 1"/>
          <p:cNvSpPr>
            <a:spLocks noGrp="1"/>
          </p:cNvSpPr>
          <p:nvPr>
            <p:ph type="sldImg"/>
          </p:nvPr>
        </p:nvSpPr>
        <p:spPr bwMode="auto">
          <a:xfrm>
            <a:off x="685800" y="1143000"/>
            <a:ext cx="5486039" cy="3085920"/>
          </a:xfrm>
          <a:prstGeom prst="rect">
            <a:avLst/>
          </a:prstGeom>
          <a:ln w="0">
            <a:noFill/>
          </a:ln>
        </p:spPr>
      </p:sp>
      <p:sp>
        <p:nvSpPr>
          <p:cNvPr id="1073945945"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582042380" name="PlaceHolder 3"/>
          <p:cNvSpPr>
            <a:spLocks noGrp="1"/>
          </p:cNvSpPr>
          <p:nvPr>
            <p:ph type="sldNum" idx="9"/>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2F3A5A3E-014F-4FF3-A97A-07CCC4C0FBF2}"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0867684" name="PlaceHolder 1"/>
          <p:cNvSpPr>
            <a:spLocks noGrp="1"/>
          </p:cNvSpPr>
          <p:nvPr>
            <p:ph type="sldImg"/>
          </p:nvPr>
        </p:nvSpPr>
        <p:spPr bwMode="auto">
          <a:xfrm>
            <a:off x="685800" y="1143000"/>
            <a:ext cx="5486039" cy="3085920"/>
          </a:xfrm>
          <a:prstGeom prst="rect">
            <a:avLst/>
          </a:prstGeom>
          <a:ln w="0">
            <a:noFill/>
          </a:ln>
        </p:spPr>
      </p:sp>
      <p:sp>
        <p:nvSpPr>
          <p:cNvPr id="1107716689"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408515504" name="PlaceHolder 3"/>
          <p:cNvSpPr>
            <a:spLocks noGrp="1"/>
          </p:cNvSpPr>
          <p:nvPr>
            <p:ph type="sldNum" idx="10"/>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25BBD91C-6285-494C-A953-61531D2C6B22}"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0823748" name="PlaceHolder 1"/>
          <p:cNvSpPr>
            <a:spLocks noGrp="1"/>
          </p:cNvSpPr>
          <p:nvPr>
            <p:ph type="sldImg"/>
          </p:nvPr>
        </p:nvSpPr>
        <p:spPr bwMode="auto">
          <a:xfrm>
            <a:off x="685800" y="1143000"/>
            <a:ext cx="5486039" cy="3085920"/>
          </a:xfrm>
          <a:prstGeom prst="rect">
            <a:avLst/>
          </a:prstGeom>
          <a:ln w="0">
            <a:noFill/>
          </a:ln>
        </p:spPr>
      </p:sp>
      <p:sp>
        <p:nvSpPr>
          <p:cNvPr id="774206075"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256323205" name="PlaceHolder 3"/>
          <p:cNvSpPr>
            <a:spLocks noGrp="1"/>
          </p:cNvSpPr>
          <p:nvPr>
            <p:ph type="sldNum" idx="11"/>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3B45777D-AFE3-49C6-AC02-CC06FD65731E}"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4596097" name="PlaceHolder 1"/>
          <p:cNvSpPr>
            <a:spLocks noGrp="1"/>
          </p:cNvSpPr>
          <p:nvPr>
            <p:ph type="sldImg"/>
          </p:nvPr>
        </p:nvSpPr>
        <p:spPr bwMode="auto">
          <a:xfrm>
            <a:off x="685800" y="1143000"/>
            <a:ext cx="5486039" cy="3085920"/>
          </a:xfrm>
          <a:prstGeom prst="rect">
            <a:avLst/>
          </a:prstGeom>
          <a:ln w="0">
            <a:noFill/>
          </a:ln>
        </p:spPr>
      </p:sp>
      <p:sp>
        <p:nvSpPr>
          <p:cNvPr id="1091679246"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704076244" name="PlaceHolder 3"/>
          <p:cNvSpPr>
            <a:spLocks noGrp="1"/>
          </p:cNvSpPr>
          <p:nvPr>
            <p:ph type="sldNum" idx="12"/>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EDC0C084-2637-4DDB-980D-F4ADD3CF05A5}"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149060" name="PlaceHolder 1"/>
          <p:cNvSpPr>
            <a:spLocks noGrp="1"/>
          </p:cNvSpPr>
          <p:nvPr>
            <p:ph type="sldImg"/>
          </p:nvPr>
        </p:nvSpPr>
        <p:spPr bwMode="auto">
          <a:xfrm>
            <a:off x="685800" y="1143000"/>
            <a:ext cx="5486039" cy="3085920"/>
          </a:xfrm>
          <a:prstGeom prst="rect">
            <a:avLst/>
          </a:prstGeom>
          <a:ln w="0">
            <a:noFill/>
          </a:ln>
        </p:spPr>
      </p:sp>
      <p:sp>
        <p:nvSpPr>
          <p:cNvPr id="132001251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657477165" name="PlaceHolder 3"/>
          <p:cNvSpPr>
            <a:spLocks noGrp="1"/>
          </p:cNvSpPr>
          <p:nvPr>
            <p:ph type="sldNum" idx="13"/>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AF260C25-7872-4928-AB84-5BD78A23132F}"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293643" name="PlaceHolder 1"/>
          <p:cNvSpPr>
            <a:spLocks noGrp="1"/>
          </p:cNvSpPr>
          <p:nvPr>
            <p:ph type="sldImg"/>
          </p:nvPr>
        </p:nvSpPr>
        <p:spPr bwMode="auto">
          <a:xfrm>
            <a:off x="685800" y="1143000"/>
            <a:ext cx="5486039" cy="3085920"/>
          </a:xfrm>
          <a:prstGeom prst="rect">
            <a:avLst/>
          </a:prstGeom>
          <a:ln w="0">
            <a:noFill/>
          </a:ln>
        </p:spPr>
      </p:sp>
      <p:sp>
        <p:nvSpPr>
          <p:cNvPr id="806955418"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02588102" name="PlaceHolder 3"/>
          <p:cNvSpPr>
            <a:spLocks noGrp="1"/>
          </p:cNvSpPr>
          <p:nvPr>
            <p:ph type="sldNum" idx="14"/>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52FF7E9D-3A0B-471B-BED5-45733C962976}"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0170193" name="PlaceHolder 1"/>
          <p:cNvSpPr>
            <a:spLocks noGrp="1"/>
          </p:cNvSpPr>
          <p:nvPr>
            <p:ph type="sldImg"/>
          </p:nvPr>
        </p:nvSpPr>
        <p:spPr bwMode="auto">
          <a:xfrm>
            <a:off x="685800" y="1143000"/>
            <a:ext cx="5486039" cy="3085920"/>
          </a:xfrm>
          <a:prstGeom prst="rect">
            <a:avLst/>
          </a:prstGeom>
          <a:ln w="0">
            <a:noFill/>
          </a:ln>
        </p:spPr>
      </p:sp>
      <p:sp>
        <p:nvSpPr>
          <p:cNvPr id="1468031960"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359190078" name="PlaceHolder 3"/>
          <p:cNvSpPr>
            <a:spLocks noGrp="1"/>
          </p:cNvSpPr>
          <p:nvPr>
            <p:ph type="sldNum" idx="15"/>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18CACD60-CAE2-4F69-B03E-AE680D33DCBE}"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5920730" name="PlaceHolder 1"/>
          <p:cNvSpPr>
            <a:spLocks noGrp="1"/>
          </p:cNvSpPr>
          <p:nvPr>
            <p:ph type="sldImg"/>
          </p:nvPr>
        </p:nvSpPr>
        <p:spPr bwMode="auto">
          <a:xfrm>
            <a:off x="685800" y="1143000"/>
            <a:ext cx="5486039" cy="3085920"/>
          </a:xfrm>
          <a:prstGeom prst="rect">
            <a:avLst/>
          </a:prstGeom>
          <a:ln w="0">
            <a:noFill/>
          </a:ln>
        </p:spPr>
      </p:sp>
      <p:sp>
        <p:nvSpPr>
          <p:cNvPr id="423696585"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94772138" name="PlaceHolder 3"/>
          <p:cNvSpPr>
            <a:spLocks noGrp="1"/>
          </p:cNvSpPr>
          <p:nvPr>
            <p:ph type="sldNum" idx="16"/>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1B7CC05A-E3C5-4CEC-9444-D569DEF38EFB}"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6510538" name="PlaceHolder 1"/>
          <p:cNvSpPr>
            <a:spLocks noGrp="1"/>
          </p:cNvSpPr>
          <p:nvPr>
            <p:ph type="sldImg"/>
          </p:nvPr>
        </p:nvSpPr>
        <p:spPr bwMode="auto">
          <a:xfrm>
            <a:off x="685800" y="1143000"/>
            <a:ext cx="5486039" cy="3085920"/>
          </a:xfrm>
          <a:prstGeom prst="rect">
            <a:avLst/>
          </a:prstGeom>
          <a:ln w="0">
            <a:noFill/>
          </a:ln>
        </p:spPr>
      </p:sp>
      <p:sp>
        <p:nvSpPr>
          <p:cNvPr id="299463804"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33302" name="PlaceHolder 3"/>
          <p:cNvSpPr>
            <a:spLocks noGrp="1"/>
          </p:cNvSpPr>
          <p:nvPr>
            <p:ph type="sldNum" idx="17"/>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D7FD3CEF-7DE3-4847-B7CD-1C53D512008D}"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5477743" name="PlaceHolder 1"/>
          <p:cNvSpPr>
            <a:spLocks noGrp="1"/>
          </p:cNvSpPr>
          <p:nvPr>
            <p:ph type="sldImg"/>
          </p:nvPr>
        </p:nvSpPr>
        <p:spPr bwMode="auto">
          <a:xfrm>
            <a:off x="685800" y="1143000"/>
            <a:ext cx="5486039" cy="3085920"/>
          </a:xfrm>
          <a:prstGeom prst="rect">
            <a:avLst/>
          </a:prstGeom>
          <a:ln w="0">
            <a:noFill/>
          </a:ln>
        </p:spPr>
      </p:sp>
      <p:sp>
        <p:nvSpPr>
          <p:cNvPr id="13728962"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417990435" name="PlaceHolder 3"/>
          <p:cNvSpPr>
            <a:spLocks noGrp="1"/>
          </p:cNvSpPr>
          <p:nvPr>
            <p:ph type="sldNum" idx="18"/>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BDED29DF-10D5-4475-AB77-790FACF7EAE7}"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6526896" name="PlaceHolder 1"/>
          <p:cNvSpPr>
            <a:spLocks noGrp="1"/>
          </p:cNvSpPr>
          <p:nvPr>
            <p:ph type="sldImg"/>
          </p:nvPr>
        </p:nvSpPr>
        <p:spPr bwMode="auto">
          <a:xfrm>
            <a:off x="685800" y="1143000"/>
            <a:ext cx="5486039" cy="3085920"/>
          </a:xfrm>
          <a:prstGeom prst="rect">
            <a:avLst/>
          </a:prstGeom>
          <a:ln w="0">
            <a:noFill/>
          </a:ln>
        </p:spPr>
      </p:sp>
      <p:sp>
        <p:nvSpPr>
          <p:cNvPr id="1768413750"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982036525" name="PlaceHolder 3"/>
          <p:cNvSpPr>
            <a:spLocks noGrp="1"/>
          </p:cNvSpPr>
          <p:nvPr>
            <p:ph type="sldNum" idx="19"/>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17D7AF27-410E-4CEE-BB12-86AD63805441}"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1448170" name="PlaceHolder 1"/>
          <p:cNvSpPr>
            <a:spLocks noGrp="1"/>
          </p:cNvSpPr>
          <p:nvPr>
            <p:ph type="sldImg"/>
          </p:nvPr>
        </p:nvSpPr>
        <p:spPr bwMode="auto">
          <a:xfrm>
            <a:off x="685800" y="1143000"/>
            <a:ext cx="5486039" cy="3085920"/>
          </a:xfrm>
          <a:prstGeom prst="rect">
            <a:avLst/>
          </a:prstGeom>
          <a:ln w="0">
            <a:noFill/>
          </a:ln>
        </p:spPr>
      </p:sp>
      <p:sp>
        <p:nvSpPr>
          <p:cNvPr id="1567927189"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2081752309" name="PlaceHolder 3"/>
          <p:cNvSpPr>
            <a:spLocks noGrp="1"/>
          </p:cNvSpPr>
          <p:nvPr>
            <p:ph type="sldNum" idx="20"/>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2C7FCB03-ABE9-4265-B751-9A3886714437}"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6988102" name="PlaceHolder 1"/>
          <p:cNvSpPr>
            <a:spLocks noGrp="1"/>
          </p:cNvSpPr>
          <p:nvPr>
            <p:ph type="sldImg"/>
          </p:nvPr>
        </p:nvSpPr>
        <p:spPr bwMode="auto">
          <a:xfrm>
            <a:off x="685800" y="1143000"/>
            <a:ext cx="5486039" cy="3085920"/>
          </a:xfrm>
          <a:prstGeom prst="rect">
            <a:avLst/>
          </a:prstGeom>
          <a:ln w="0">
            <a:noFill/>
          </a:ln>
        </p:spPr>
      </p:sp>
      <p:sp>
        <p:nvSpPr>
          <p:cNvPr id="1712687239"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790882676" name="PlaceHolder 3"/>
          <p:cNvSpPr>
            <a:spLocks noGrp="1"/>
          </p:cNvSpPr>
          <p:nvPr>
            <p:ph type="sldNum" idx="21"/>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C525A260-7895-40FD-BA62-AC008420200C}"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5801871" name="PlaceHolder 1"/>
          <p:cNvSpPr>
            <a:spLocks noGrp="1"/>
          </p:cNvSpPr>
          <p:nvPr>
            <p:ph type="sldImg"/>
          </p:nvPr>
        </p:nvSpPr>
        <p:spPr bwMode="auto">
          <a:xfrm>
            <a:off x="685800" y="1143000"/>
            <a:ext cx="5486039" cy="3085920"/>
          </a:xfrm>
          <a:prstGeom prst="rect">
            <a:avLst/>
          </a:prstGeom>
          <a:ln w="0">
            <a:noFill/>
          </a:ln>
        </p:spPr>
      </p:sp>
      <p:sp>
        <p:nvSpPr>
          <p:cNvPr id="889717062"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147529848" name="PlaceHolder 3"/>
          <p:cNvSpPr>
            <a:spLocks noGrp="1"/>
          </p:cNvSpPr>
          <p:nvPr>
            <p:ph type="sldNum" idx="22"/>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D91A1DDC-E628-486D-BC13-86C44454F23D}"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1806679" name="PlaceHolder 1"/>
          <p:cNvSpPr>
            <a:spLocks noGrp="1"/>
          </p:cNvSpPr>
          <p:nvPr>
            <p:ph type="sldImg"/>
          </p:nvPr>
        </p:nvSpPr>
        <p:spPr bwMode="auto">
          <a:xfrm>
            <a:off x="685800" y="1143000"/>
            <a:ext cx="5486039" cy="3085920"/>
          </a:xfrm>
          <a:prstGeom prst="rect">
            <a:avLst/>
          </a:prstGeom>
          <a:ln w="0">
            <a:noFill/>
          </a:ln>
        </p:spPr>
      </p:sp>
      <p:sp>
        <p:nvSpPr>
          <p:cNvPr id="2050064405"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610471433" name="PlaceHolder 3"/>
          <p:cNvSpPr>
            <a:spLocks noGrp="1"/>
          </p:cNvSpPr>
          <p:nvPr>
            <p:ph type="sldNum" idx="23"/>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497C1A86-5821-41B8-AA43-4DD458282D06}"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342787" name="PlaceHolder 1"/>
          <p:cNvSpPr>
            <a:spLocks noGrp="1"/>
          </p:cNvSpPr>
          <p:nvPr>
            <p:ph type="sldImg"/>
          </p:nvPr>
        </p:nvSpPr>
        <p:spPr bwMode="auto">
          <a:xfrm>
            <a:off x="685800" y="1143000"/>
            <a:ext cx="5486039" cy="3085920"/>
          </a:xfrm>
          <a:prstGeom prst="rect">
            <a:avLst/>
          </a:prstGeom>
          <a:ln w="0">
            <a:noFill/>
          </a:ln>
        </p:spPr>
      </p:sp>
      <p:sp>
        <p:nvSpPr>
          <p:cNvPr id="706702127"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568190591" name="PlaceHolder 3"/>
          <p:cNvSpPr>
            <a:spLocks noGrp="1"/>
          </p:cNvSpPr>
          <p:nvPr>
            <p:ph type="sldNum" idx="24"/>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724C15B5-BBE9-4039-998B-7C0995E666FD}"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1248546" name="PlaceHolder 1"/>
          <p:cNvSpPr>
            <a:spLocks noGrp="1"/>
          </p:cNvSpPr>
          <p:nvPr>
            <p:ph type="sldImg"/>
          </p:nvPr>
        </p:nvSpPr>
        <p:spPr bwMode="auto">
          <a:xfrm>
            <a:off x="685800" y="1143000"/>
            <a:ext cx="5486039" cy="3085920"/>
          </a:xfrm>
          <a:prstGeom prst="rect">
            <a:avLst/>
          </a:prstGeom>
          <a:ln w="0">
            <a:noFill/>
          </a:ln>
        </p:spPr>
      </p:sp>
      <p:sp>
        <p:nvSpPr>
          <p:cNvPr id="1351674605"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1271604811" name="PlaceHolder 3"/>
          <p:cNvSpPr>
            <a:spLocks noGrp="1"/>
          </p:cNvSpPr>
          <p:nvPr>
            <p:ph type="sldNum" idx="25"/>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27260310-0364-430E-A528-163830A64AD8}"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816157" name="PlaceHolder 1"/>
          <p:cNvSpPr>
            <a:spLocks noGrp="1"/>
          </p:cNvSpPr>
          <p:nvPr>
            <p:ph type="sldImg"/>
          </p:nvPr>
        </p:nvSpPr>
        <p:spPr bwMode="auto">
          <a:xfrm>
            <a:off x="685800" y="1143000"/>
            <a:ext cx="5486039" cy="3085920"/>
          </a:xfrm>
          <a:prstGeom prst="rect">
            <a:avLst/>
          </a:prstGeom>
          <a:ln w="0">
            <a:noFill/>
          </a:ln>
        </p:spPr>
      </p:sp>
      <p:sp>
        <p:nvSpPr>
          <p:cNvPr id="1237298461" name="PlaceHolder 2"/>
          <p:cNvSpPr>
            <a:spLocks noGrp="1"/>
          </p:cNvSpPr>
          <p:nvPr>
            <p:ph type="body"/>
          </p:nvPr>
        </p:nvSpPr>
        <p:spPr bwMode="auto">
          <a:xfrm>
            <a:off x="685800" y="4400640"/>
            <a:ext cx="5486039" cy="3600000"/>
          </a:xfrm>
          <a:prstGeom prst="rect">
            <a:avLst/>
          </a:prstGeom>
          <a:noFill/>
          <a:ln w="0">
            <a:noFill/>
          </a:ln>
        </p:spPr>
        <p:txBody>
          <a:bodyPr lIns="91440" tIns="45720" rIns="91440" bIns="45720" anchor="t">
            <a:noAutofit/>
          </a:bodyPr>
          <a:p>
            <a:pPr indent="0" algn="l">
              <a:buNone/>
              <a:defRPr/>
            </a:pPr>
            <a:endParaRPr lang="es-ES" sz="1800" b="0" u="none" strike="noStrike">
              <a:solidFill>
                <a:srgbClr val="000000"/>
              </a:solidFill>
              <a:latin typeface="Arial"/>
            </a:endParaRPr>
          </a:p>
        </p:txBody>
      </p:sp>
      <p:sp>
        <p:nvSpPr>
          <p:cNvPr id="235594661" name="PlaceHolder 3"/>
          <p:cNvSpPr>
            <a:spLocks noGrp="1"/>
          </p:cNvSpPr>
          <p:nvPr>
            <p:ph type="sldNum" idx="26"/>
          </p:nvPr>
        </p:nvSpPr>
        <p:spPr bwMode="auto">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latin typeface="+mn-lt"/>
                <a:ea typeface="+mn-ea"/>
              </a:defRPr>
            </a:lvl1pPr>
          </a:lstStyle>
          <a:p>
            <a:pPr indent="0" algn="r" defTabSz="914400">
              <a:lnSpc>
                <a:spcPct val="100000"/>
              </a:lnSpc>
              <a:buNone/>
              <a:defRPr/>
            </a:pPr>
            <a:fld id="{13CA1F83-F2D4-4D26-AAD8-08DBDB07E2CC}" type="slidenum">
              <a:rPr lang="en-US" sz="1200" b="0" u="none" strike="noStrike">
                <a:solidFill>
                  <a:schemeClr val="dk1"/>
                </a:solidFill>
                <a:latin typeface="+mn-lt"/>
                <a:ea typeface="+mn-ea"/>
              </a:rPr>
              <a:t/>
            </a:fld>
            <a:endParaRPr lang="es-ES" sz="1200" b="0" u="none" strike="noStrike">
              <a:solidFill>
                <a:srgbClr val="000000"/>
              </a:solidFill>
              <a:latin typeface="Times New Roman"/>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DEFAULT">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p:cNvGrpSpPr/>
        <p:nvPr/>
      </p:nvGrpSpPr>
      <p:grpSpPr bwMode="auto">
        <a:xfrm>
          <a:off x="0" y="0"/>
          <a:ext cx="0" cy="0"/>
          <a:chOff x="0" y="0"/>
          <a:chExt cx="0" cy="0"/>
        </a:xfrm>
      </p:grpSpPr>
      <p:sp>
        <p:nvSpPr>
          <p:cNvPr id="1652861854" name="PlaceHolder 1"/>
          <p:cNvSpPr>
            <a:spLocks noGrp="1"/>
          </p:cNvSpPr>
          <p:nvPr>
            <p:ph type="title"/>
          </p:nvPr>
        </p:nvSpPr>
        <p:spPr bwMode="auto">
          <a:xfrm>
            <a:off x="609480" y="273600"/>
            <a:ext cx="10972079" cy="1144800"/>
          </a:xfrm>
          <a:prstGeom prst="rect">
            <a:avLst/>
          </a:prstGeom>
          <a:noFill/>
          <a:ln w="0">
            <a:noFill/>
          </a:ln>
        </p:spPr>
        <p:txBody>
          <a:bodyPr lIns="0" tIns="0" rIns="0" bIns="0" anchor="ctr">
            <a:noAutofit/>
          </a:bodyPr>
          <a:lstStyle>
            <a:lvl1pPr indent="0" algn="l">
              <a:buNone/>
              <a:defRPr lang="es-ES" sz="1800" b="0" u="none" strike="noStrike">
                <a:solidFill>
                  <a:schemeClr val="dk1"/>
                </a:solidFill>
                <a:latin typeface="Calibri"/>
              </a:defRPr>
            </a:lvl1pPr>
          </a:lstStyle>
          <a:p>
            <a:pPr indent="0" algn="l">
              <a:buNone/>
              <a:defRPr/>
            </a:pPr>
            <a:r>
              <a:rPr lang="es-ES" sz="1800" b="0" u="none" strike="noStrike">
                <a:solidFill>
                  <a:schemeClr val="dk1"/>
                </a:solidFill>
                <a:latin typeface="Calibri"/>
              </a:rPr>
              <a:t>Pulse para </a:t>
            </a:r>
            <a:r>
              <a:rPr lang="es-ES" sz="1800" b="0" u="none" strike="noStrike">
                <a:solidFill>
                  <a:schemeClr val="dk1"/>
                </a:solidFill>
                <a:latin typeface="Calibri"/>
              </a:rPr>
              <a:t>editar el </a:t>
            </a:r>
            <a:r>
              <a:rPr lang="es-ES" sz="1800" b="0" u="none" strike="noStrike">
                <a:solidFill>
                  <a:schemeClr val="dk1"/>
                </a:solidFill>
                <a:latin typeface="Calibri"/>
              </a:rPr>
              <a:t>formato </a:t>
            </a:r>
            <a:r>
              <a:rPr lang="es-ES" sz="1800" b="0" u="none" strike="noStrike">
                <a:solidFill>
                  <a:schemeClr val="dk1"/>
                </a:solidFill>
                <a:latin typeface="Calibri"/>
              </a:rPr>
              <a:t>del texto </a:t>
            </a:r>
            <a:r>
              <a:rPr lang="es-ES" sz="1800" b="0" u="none" strike="noStrike">
                <a:solidFill>
                  <a:schemeClr val="dk1"/>
                </a:solidFill>
                <a:latin typeface="Calibri"/>
              </a:rPr>
              <a:t>de título</a:t>
            </a:r>
            <a:endParaRPr lang="es-ES" sz="1800" b="0" u="none" strike="noStrike">
              <a:solidFill>
                <a:schemeClr val="dk1"/>
              </a:solidFill>
              <a:latin typeface="Calibri"/>
            </a:endParaRPr>
          </a:p>
        </p:txBody>
      </p:sp>
      <p:sp>
        <p:nvSpPr>
          <p:cNvPr id="264372501" name="PlaceHolder 2"/>
          <p:cNvSpPr>
            <a:spLocks noGrp="1"/>
          </p:cNvSpPr>
          <p:nvPr>
            <p:ph type="body"/>
          </p:nvPr>
        </p:nvSpPr>
        <p:spPr bwMode="auto">
          <a:xfrm>
            <a:off x="609480" y="1604520"/>
            <a:ext cx="10972079" cy="397728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a:buChar char=""/>
              <a:defRPr lang="es-ES" sz="3200" b="0" u="none" strike="noStrike">
                <a:solidFill>
                  <a:schemeClr val="dk1"/>
                </a:solidFill>
                <a:latin typeface="Calibri"/>
              </a:defRPr>
            </a:lvl1pPr>
            <a:lvl2pPr lvl="1" algn="l">
              <a:spcBef>
                <a:spcPts val="1135"/>
              </a:spcBef>
              <a:buClr>
                <a:srgbClr val="000000"/>
              </a:buClr>
              <a:buSzPct val="75000"/>
              <a:buFont typeface="Symbol"/>
              <a:buChar char=""/>
              <a:defRPr lang="es-ES" sz="2400" b="0" u="none" strike="noStrike">
                <a:solidFill>
                  <a:schemeClr val="dk1"/>
                </a:solidFill>
                <a:latin typeface="Calibri"/>
              </a:defRPr>
            </a:lvl2pPr>
            <a:lvl3pPr lvl="2" algn="l">
              <a:spcBef>
                <a:spcPts val="850"/>
              </a:spcBef>
              <a:buClr>
                <a:srgbClr val="000000"/>
              </a:buClr>
              <a:buSzPct val="45000"/>
              <a:buFont typeface="Wingdings"/>
              <a:buChar char=""/>
              <a:defRPr lang="es-ES" sz="2000" b="0" u="none" strike="noStrike">
                <a:solidFill>
                  <a:schemeClr val="dk1"/>
                </a:solidFill>
                <a:latin typeface="Calibri"/>
              </a:defRPr>
            </a:lvl3pPr>
            <a:lvl4pPr lvl="3" algn="l">
              <a:spcBef>
                <a:spcPts val="565"/>
              </a:spcBef>
              <a:buClr>
                <a:srgbClr val="000000"/>
              </a:buClr>
              <a:buSzPct val="75000"/>
              <a:buFont typeface="Symbol"/>
              <a:buChar char=""/>
              <a:defRPr lang="es-ES" sz="2000" b="0" u="none" strike="noStrike">
                <a:solidFill>
                  <a:schemeClr val="dk1"/>
                </a:solidFill>
                <a:latin typeface="Calibri"/>
              </a:defRPr>
            </a:lvl4pPr>
            <a:lvl5pPr lvl="4" algn="l">
              <a:spcBef>
                <a:spcPts val="285"/>
              </a:spcBef>
              <a:buClr>
                <a:srgbClr val="000000"/>
              </a:buClr>
              <a:buSzPct val="45000"/>
              <a:buFont typeface="Wingdings"/>
              <a:buChar char=""/>
              <a:defRPr lang="es-ES" sz="2000" b="0" u="none" strike="noStrike">
                <a:solidFill>
                  <a:schemeClr val="dk1"/>
                </a:solidFill>
                <a:latin typeface="Calibri"/>
              </a:defRPr>
            </a:lvl5pPr>
            <a:lvl6pPr lvl="5" algn="l">
              <a:spcBef>
                <a:spcPts val="285"/>
              </a:spcBef>
              <a:buClr>
                <a:srgbClr val="000000"/>
              </a:buClr>
              <a:buSzPct val="45000"/>
              <a:buFont typeface="Wingdings"/>
              <a:buChar char=""/>
              <a:defRPr lang="es-ES" sz="2000" b="0" u="none" strike="noStrike">
                <a:solidFill>
                  <a:schemeClr val="dk1"/>
                </a:solidFill>
                <a:latin typeface="Calibri"/>
              </a:defRPr>
            </a:lvl6pPr>
            <a:lvl7pPr lvl="6" algn="l">
              <a:spcBef>
                <a:spcPts val="285"/>
              </a:spcBef>
              <a:buClr>
                <a:srgbClr val="000000"/>
              </a:buClr>
              <a:buSzPct val="45000"/>
              <a:buFont typeface="Wingdings"/>
              <a:buChar char=""/>
              <a:defRPr lang="es-ES" sz="2000" b="0" u="none" strike="noStrike">
                <a:solidFill>
                  <a:schemeClr val="dk1"/>
                </a:solidFill>
                <a:latin typeface="Calibri"/>
              </a:defRPr>
            </a:lvl7pPr>
          </a:lstStyle>
          <a:p>
            <a:pPr marL="431799" indent="-323850" algn="l">
              <a:spcBef>
                <a:spcPts val="1415"/>
              </a:spcBef>
              <a:buClr>
                <a:srgbClr val="000000"/>
              </a:buClr>
              <a:buSzPct val="45000"/>
              <a:buFont typeface="Wingdings"/>
              <a:buChar char=""/>
              <a:defRPr/>
            </a:pPr>
            <a:r>
              <a:rPr lang="es-ES" sz="3200" b="0" u="none" strike="noStrike">
                <a:solidFill>
                  <a:schemeClr val="dk1"/>
                </a:solidFill>
                <a:latin typeface="Calibri"/>
              </a:rPr>
              <a:t>Pulse para editar el formato de texto del esquema</a:t>
            </a:r>
            <a:endParaRPr lang="es-ES" sz="3200" b="0" u="none" strike="noStrike">
              <a:solidFill>
                <a:schemeClr val="dk1"/>
              </a:solidFill>
              <a:latin typeface="Calibri"/>
            </a:endParaRPr>
          </a:p>
          <a:p>
            <a:pPr marL="864235" lvl="1" indent="-323850" algn="l">
              <a:spcBef>
                <a:spcPts val="1135"/>
              </a:spcBef>
              <a:buClr>
                <a:srgbClr val="000000"/>
              </a:buClr>
              <a:buSzPct val="75000"/>
              <a:buFont typeface="Symbol"/>
              <a:buChar char=""/>
              <a:defRPr/>
            </a:pPr>
            <a:r>
              <a:rPr lang="es-ES" sz="2400" b="0" u="none" strike="noStrike">
                <a:solidFill>
                  <a:schemeClr val="dk1"/>
                </a:solidFill>
                <a:latin typeface="Calibri"/>
              </a:rPr>
              <a:t>Segundo nivel del esquema</a:t>
            </a:r>
            <a:endParaRPr lang="es-ES" sz="2400" b="0" u="none" strike="noStrike">
              <a:solidFill>
                <a:schemeClr val="dk1"/>
              </a:solidFill>
              <a:latin typeface="Calibri"/>
            </a:endParaRPr>
          </a:p>
          <a:p>
            <a:pPr marL="1296035" lvl="2" indent="-288290" algn="l">
              <a:spcBef>
                <a:spcPts val="850"/>
              </a:spcBef>
              <a:buClr>
                <a:srgbClr val="000000"/>
              </a:buClr>
              <a:buSzPct val="45000"/>
              <a:buFont typeface="Wingdings"/>
              <a:buChar char=""/>
              <a:defRPr/>
            </a:pPr>
            <a:r>
              <a:rPr lang="es-ES" sz="2000" b="0" u="none" strike="noStrike">
                <a:solidFill>
                  <a:schemeClr val="dk1"/>
                </a:solidFill>
                <a:latin typeface="Calibri"/>
              </a:rPr>
              <a:t>Tercer nivel del esquema</a:t>
            </a:r>
            <a:endParaRPr lang="es-ES" sz="2000" b="0" u="none" strike="noStrike">
              <a:solidFill>
                <a:schemeClr val="dk1"/>
              </a:solidFill>
              <a:latin typeface="Calibri"/>
            </a:endParaRPr>
          </a:p>
          <a:p>
            <a:pPr marL="1727835" lvl="3" indent="-215899" algn="l">
              <a:spcBef>
                <a:spcPts val="565"/>
              </a:spcBef>
              <a:buClr>
                <a:srgbClr val="000000"/>
              </a:buClr>
              <a:buSzPct val="75000"/>
              <a:buFont typeface="Symbol"/>
              <a:buChar char=""/>
              <a:defRPr/>
            </a:pPr>
            <a:r>
              <a:rPr lang="es-ES" sz="2000" b="0" u="none" strike="noStrike">
                <a:solidFill>
                  <a:schemeClr val="dk1"/>
                </a:solidFill>
                <a:latin typeface="Calibri"/>
              </a:rPr>
              <a:t>Cuarto nivel del esquema</a:t>
            </a:r>
            <a:endParaRPr lang="es-ES" sz="2000" b="0" u="none" strike="noStrike">
              <a:solidFill>
                <a:schemeClr val="dk1"/>
              </a:solidFill>
              <a:latin typeface="Calibri"/>
            </a:endParaRPr>
          </a:p>
          <a:p>
            <a:pPr marL="2160270" lvl="4" indent="-215899" algn="l">
              <a:spcBef>
                <a:spcPts val="285"/>
              </a:spcBef>
              <a:buClr>
                <a:srgbClr val="000000"/>
              </a:buClr>
              <a:buSzPct val="45000"/>
              <a:buFont typeface="Wingdings"/>
              <a:buChar char=""/>
              <a:defRPr/>
            </a:pPr>
            <a:r>
              <a:rPr lang="es-ES" sz="2000" b="0" u="none" strike="noStrike">
                <a:solidFill>
                  <a:schemeClr val="dk1"/>
                </a:solidFill>
                <a:latin typeface="Calibri"/>
              </a:rPr>
              <a:t>Quinto nivel del esquema</a:t>
            </a:r>
            <a:endParaRPr lang="es-ES" sz="2000" b="0" u="none" strike="noStrike">
              <a:solidFill>
                <a:schemeClr val="dk1"/>
              </a:solidFill>
              <a:latin typeface="Calibri"/>
            </a:endParaRPr>
          </a:p>
          <a:p>
            <a:pPr marL="2592070" lvl="5" indent="-215899" algn="l">
              <a:spcBef>
                <a:spcPts val="285"/>
              </a:spcBef>
              <a:buClr>
                <a:srgbClr val="000000"/>
              </a:buClr>
              <a:buSzPct val="45000"/>
              <a:buFont typeface="Wingdings"/>
              <a:buChar char=""/>
              <a:defRPr/>
            </a:pPr>
            <a:r>
              <a:rPr lang="es-ES" sz="2000" b="0" u="none" strike="noStrike">
                <a:solidFill>
                  <a:schemeClr val="dk1"/>
                </a:solidFill>
                <a:latin typeface="Calibri"/>
              </a:rPr>
              <a:t>Sexto nivel del esquema</a:t>
            </a:r>
            <a:endParaRPr lang="es-ES" sz="2000" b="0" u="none" strike="noStrike">
              <a:solidFill>
                <a:schemeClr val="dk1"/>
              </a:solidFill>
              <a:latin typeface="Calibri"/>
            </a:endParaRPr>
          </a:p>
          <a:p>
            <a:pPr marL="3023870" lvl="6" indent="-215899" algn="l">
              <a:spcBef>
                <a:spcPts val="285"/>
              </a:spcBef>
              <a:buClr>
                <a:srgbClr val="000000"/>
              </a:buClr>
              <a:buSzPct val="45000"/>
              <a:buFont typeface="Wingdings"/>
              <a:buChar char=""/>
              <a:defRPr/>
            </a:pPr>
            <a:r>
              <a:rPr lang="es-ES" sz="2000" b="0" u="none" strike="noStrike">
                <a:solidFill>
                  <a:schemeClr val="dk1"/>
                </a:solidFill>
                <a:latin typeface="Calibri"/>
              </a:rPr>
              <a:t>Séptimo nivel del esquema</a:t>
            </a:r>
            <a:endParaRPr lang="es-ES" sz="2000" b="0" u="none" strike="noStrike">
              <a:solidFill>
                <a:schemeClr val="dk1"/>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0.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6.png"/><Relationship Id="rId6" Type="http://schemas.openxmlformats.org/officeDocument/2006/relationships/image" Target="../media/image21.png"/><Relationship Id="rId7" Type="http://schemas.openxmlformats.org/officeDocument/2006/relationships/image" Target="../media/image2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image" Target="../media/image25.png"/><Relationship Id="rId7" Type="http://schemas.openxmlformats.org/officeDocument/2006/relationships/image" Target="../media/image2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6.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6.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6.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6.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6.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6.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B1E3D"/>
        </a:solidFill>
      </p:bgPr>
    </p:bg>
    <p:spTree>
      <p:nvGrpSpPr>
        <p:cNvPr id="1" name=""/>
        <p:cNvGrpSpPr/>
        <p:nvPr/>
      </p:nvGrpSpPr>
      <p:grpSpPr bwMode="auto">
        <a:xfrm>
          <a:off x="0" y="0"/>
          <a:ext cx="0" cy="0"/>
          <a:chOff x="0" y="0"/>
          <a:chExt cx="0" cy="0"/>
        </a:xfrm>
      </p:grpSpPr>
      <p:pic>
        <p:nvPicPr>
          <p:cNvPr id="214129058" name="Image 0" descr="/tmp/claude-0/-home-claude/c0a8783c-8817-5425-bc4f-190e5f64548a/scratchpad/work/icons/basketball_1B3760.png"/>
          <p:cNvPicPr/>
          <p:nvPr/>
        </p:nvPicPr>
        <p:blipFill rotWithShape="1">
          <a:blip r:embed="rId3">
            <a:alphaModFix amt="75000"/>
          </a:blip>
          <a:stretch/>
        </p:blipFill>
        <p:spPr bwMode="auto">
          <a:xfrm>
            <a:off x="7589520" y="1463040"/>
            <a:ext cx="5668920" cy="5668920"/>
          </a:xfrm>
          <a:prstGeom prst="rect">
            <a:avLst/>
          </a:prstGeom>
          <a:noFill/>
          <a:ln w="0">
            <a:noFill/>
          </a:ln>
        </p:spPr>
      </p:pic>
      <p:sp>
        <p:nvSpPr>
          <p:cNvPr id="1074000120" name="Shape 0"/>
          <p:cNvSpPr/>
          <p:nvPr/>
        </p:nvSpPr>
        <p:spPr bwMode="auto">
          <a:xfrm>
            <a:off x="0" y="0"/>
            <a:ext cx="12191400" cy="685764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FFFFFF"/>
              </a:solidFill>
              <a:latin typeface="Arial"/>
            </a:endParaRPr>
          </a:p>
        </p:txBody>
      </p:sp>
      <p:sp>
        <p:nvSpPr>
          <p:cNvPr id="359650737" name="Shape 1"/>
          <p:cNvSpPr/>
          <p:nvPr/>
        </p:nvSpPr>
        <p:spPr bwMode="auto">
          <a:xfrm>
            <a:off x="548640" y="1051560"/>
            <a:ext cx="3245760" cy="3470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497013537" name="Text 2"/>
          <p:cNvSpPr/>
          <p:nvPr/>
        </p:nvSpPr>
        <p:spPr bwMode="auto">
          <a:xfrm>
            <a:off x="548640" y="1051560"/>
            <a:ext cx="3245760" cy="347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s-ES" sz="1200" b="1" u="none" strike="noStrike" spc="99">
                <a:solidFill>
                  <a:srgbClr val="0B1E3D"/>
                </a:solidFill>
                <a:latin typeface="Calibri"/>
                <a:ea typeface="Calibri"/>
              </a:rPr>
              <a:t>ESTADÍSTICA MULTIDIMENSIONAL</a:t>
            </a:r>
            <a:endParaRPr lang="es-ES" sz="1200" b="0" u="none" strike="noStrike">
              <a:solidFill>
                <a:srgbClr val="FFFFFF"/>
              </a:solidFill>
              <a:latin typeface="Arial"/>
            </a:endParaRPr>
          </a:p>
        </p:txBody>
      </p:sp>
      <p:sp>
        <p:nvSpPr>
          <p:cNvPr id="680667308" name="Text 3"/>
          <p:cNvSpPr/>
          <p:nvPr/>
        </p:nvSpPr>
        <p:spPr bwMode="auto">
          <a:xfrm>
            <a:off x="548640" y="1600200"/>
            <a:ext cx="8777880" cy="1919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3000"/>
              </a:lnSpc>
              <a:tabLst>
                <a:tab pos="0" algn="l"/>
              </a:tabLst>
              <a:defRPr/>
            </a:pPr>
            <a:r>
              <a:rPr lang="en-US" sz="4600" b="1" u="none" strike="noStrike">
                <a:solidFill>
                  <a:srgbClr val="FFFFFF"/>
                </a:solidFill>
                <a:latin typeface="Calibri"/>
                <a:ea typeface="Calibri"/>
              </a:rPr>
              <a:t>Esta</a:t>
            </a:r>
            <a:r>
              <a:rPr lang="en-US" sz="4600" b="1" u="none" strike="noStrike">
                <a:solidFill>
                  <a:srgbClr val="FFFFFF"/>
                </a:solidFill>
                <a:latin typeface="Calibri"/>
                <a:ea typeface="Calibri"/>
              </a:rPr>
              <a:t>dísti</a:t>
            </a:r>
            <a:r>
              <a:rPr lang="en-US" sz="4600" b="1" u="none" strike="noStrike">
                <a:solidFill>
                  <a:srgbClr val="FFFFFF"/>
                </a:solidFill>
                <a:latin typeface="Calibri"/>
                <a:ea typeface="Calibri"/>
              </a:rPr>
              <a:t>cas </a:t>
            </a:r>
            <a:r>
              <a:rPr lang="en-US" sz="4600" b="1" u="none" strike="noStrike">
                <a:solidFill>
                  <a:srgbClr val="FFFFFF"/>
                </a:solidFill>
                <a:latin typeface="Calibri"/>
                <a:ea typeface="Calibri"/>
              </a:rPr>
              <a:t>de</a:t>
            </a:r>
            <a:endParaRPr lang="es-ES" sz="4600" b="0" u="none" strike="noStrike">
              <a:solidFill>
                <a:srgbClr val="FFFFFF"/>
              </a:solidFill>
              <a:latin typeface="Arial"/>
            </a:endParaRPr>
          </a:p>
          <a:p>
            <a:pPr defTabSz="914400">
              <a:lnSpc>
                <a:spcPct val="103000"/>
              </a:lnSpc>
              <a:tabLst>
                <a:tab pos="0" algn="l"/>
              </a:tabLst>
              <a:defRPr/>
            </a:pPr>
            <a:r>
              <a:rPr lang="en-US" sz="4600" b="1" u="none" strike="noStrike">
                <a:solidFill>
                  <a:srgbClr val="FFFFFF"/>
                </a:solidFill>
                <a:latin typeface="Calibri"/>
                <a:ea typeface="Calibri"/>
              </a:rPr>
              <a:t>Juga</a:t>
            </a:r>
            <a:r>
              <a:rPr lang="en-US" sz="4600" b="1" u="none" strike="noStrike">
                <a:solidFill>
                  <a:srgbClr val="FFFFFF"/>
                </a:solidFill>
                <a:latin typeface="Calibri"/>
                <a:ea typeface="Calibri"/>
              </a:rPr>
              <a:t>dore</a:t>
            </a:r>
            <a:r>
              <a:rPr lang="en-US" sz="4600" b="1" u="none" strike="noStrike">
                <a:solidFill>
                  <a:srgbClr val="FFFFFF"/>
                </a:solidFill>
                <a:latin typeface="Calibri"/>
                <a:ea typeface="Calibri"/>
              </a:rPr>
              <a:t>s de </a:t>
            </a:r>
            <a:r>
              <a:rPr lang="en-US" sz="4600" b="1" u="none" strike="noStrike">
                <a:solidFill>
                  <a:srgbClr val="FFFFFF"/>
                </a:solidFill>
                <a:latin typeface="Calibri"/>
                <a:ea typeface="Calibri"/>
              </a:rPr>
              <a:t>la </a:t>
            </a:r>
            <a:r>
              <a:rPr lang="en-US" sz="4600" b="1" u="none" strike="noStrike">
                <a:solidFill>
                  <a:srgbClr val="FFFFFF"/>
                </a:solidFill>
                <a:latin typeface="Calibri"/>
                <a:ea typeface="Calibri"/>
              </a:rPr>
              <a:t>NBA</a:t>
            </a:r>
            <a:endParaRPr lang="es-ES" sz="4600" b="0" u="none" strike="noStrike">
              <a:solidFill>
                <a:srgbClr val="FFFFFF"/>
              </a:solidFill>
              <a:latin typeface="Arial"/>
            </a:endParaRPr>
          </a:p>
        </p:txBody>
      </p:sp>
      <p:sp>
        <p:nvSpPr>
          <p:cNvPr id="2024672780" name="Text 4"/>
          <p:cNvSpPr/>
          <p:nvPr/>
        </p:nvSpPr>
        <p:spPr bwMode="auto">
          <a:xfrm>
            <a:off x="548640" y="3520440"/>
            <a:ext cx="822924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900" b="0" u="none" strike="noStrike">
                <a:solidFill>
                  <a:srgbClr val="AAB8D6"/>
                </a:solidFill>
                <a:latin typeface="Calibri"/>
                <a:ea typeface="Calibri"/>
              </a:rPr>
              <a:t>Análisis univariado</a:t>
            </a:r>
            <a:r>
              <a:rPr lang="es-ES" sz="1900" b="0" u="none" strike="noStrike">
                <a:solidFill>
                  <a:srgbClr val="AAB8D6"/>
                </a:solidFill>
                <a:latin typeface="Calibri"/>
                <a:ea typeface="Calibri"/>
              </a:rPr>
              <a:t> y</a:t>
            </a:r>
            <a:r>
              <a:rPr lang="en-US" sz="1900" b="0" u="none" strike="noStrike">
                <a:solidFill>
                  <a:srgbClr val="AAB8D6"/>
                </a:solidFill>
                <a:latin typeface="Calibri"/>
                <a:ea typeface="Calibri"/>
              </a:rPr>
              <a:t> bivariado</a:t>
            </a:r>
            <a:endParaRPr lang="es-ES" sz="1900" b="0" u="none" strike="noStrike">
              <a:solidFill>
                <a:srgbClr val="FFFFFF"/>
              </a:solidFill>
              <a:latin typeface="Arial"/>
            </a:endParaRPr>
          </a:p>
        </p:txBody>
      </p:sp>
      <p:sp>
        <p:nvSpPr>
          <p:cNvPr id="525814977" name="Text 5"/>
          <p:cNvSpPr/>
          <p:nvPr/>
        </p:nvSpPr>
        <p:spPr bwMode="auto">
          <a:xfrm>
            <a:off x="548640" y="4709160"/>
            <a:ext cx="23313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2200" b="1" u="none" strike="noStrike">
                <a:solidFill>
                  <a:srgbClr val="FF7A29"/>
                </a:solidFill>
                <a:latin typeface="Calibri"/>
                <a:ea typeface="Calibri"/>
              </a:rPr>
              <a:t>1982 – 2022</a:t>
            </a:r>
            <a:r>
              <a:rPr lang="es-ES" sz="1800" b="0" u="none" strike="noStrike">
                <a:solidFill>
                  <a:schemeClr val="accent2"/>
                </a:solidFill>
                <a:latin typeface="Arial"/>
              </a:rPr>
              <a:t> (41)</a:t>
            </a:r>
            <a:endParaRPr lang="es-ES" sz="2200" b="0" u="none" strike="noStrike">
              <a:solidFill>
                <a:srgbClr val="FFFFFF"/>
              </a:solidFill>
              <a:latin typeface="Arial"/>
            </a:endParaRPr>
          </a:p>
        </p:txBody>
      </p:sp>
      <p:sp>
        <p:nvSpPr>
          <p:cNvPr id="1790919990" name="Text 6"/>
          <p:cNvSpPr/>
          <p:nvPr/>
        </p:nvSpPr>
        <p:spPr bwMode="auto">
          <a:xfrm>
            <a:off x="548640" y="5166360"/>
            <a:ext cx="233136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AAB8D6"/>
                </a:solidFill>
                <a:latin typeface="Calibri"/>
                <a:ea typeface="Calibri"/>
              </a:rPr>
              <a:t>Temporadas</a:t>
            </a:r>
            <a:endParaRPr lang="es-ES" sz="1050" b="0" u="none" strike="noStrike">
              <a:solidFill>
                <a:srgbClr val="FFFFFF"/>
              </a:solidFill>
              <a:latin typeface="Arial"/>
            </a:endParaRPr>
          </a:p>
        </p:txBody>
      </p:sp>
      <p:sp>
        <p:nvSpPr>
          <p:cNvPr id="1568135722" name="Text 7"/>
          <p:cNvSpPr/>
          <p:nvPr/>
        </p:nvSpPr>
        <p:spPr bwMode="auto">
          <a:xfrm>
            <a:off x="3063240" y="4709160"/>
            <a:ext cx="23313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2200" b="1" u="none" strike="noStrike">
                <a:solidFill>
                  <a:srgbClr val="FF7A29"/>
                </a:solidFill>
                <a:latin typeface="Calibri"/>
                <a:ea typeface="Calibri"/>
              </a:rPr>
              <a:t>14.078</a:t>
            </a:r>
            <a:endParaRPr lang="es-ES" sz="2200" b="0" u="none" strike="noStrike">
              <a:solidFill>
                <a:srgbClr val="FFFFFF"/>
              </a:solidFill>
              <a:latin typeface="Arial"/>
            </a:endParaRPr>
          </a:p>
        </p:txBody>
      </p:sp>
      <p:sp>
        <p:nvSpPr>
          <p:cNvPr id="438170342" name="Text 8"/>
          <p:cNvSpPr/>
          <p:nvPr/>
        </p:nvSpPr>
        <p:spPr bwMode="auto">
          <a:xfrm>
            <a:off x="3063240" y="5166360"/>
            <a:ext cx="233136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AAB8D6"/>
                </a:solidFill>
                <a:latin typeface="Calibri"/>
                <a:ea typeface="Calibri"/>
              </a:rPr>
              <a:t>Registros temporada-jugador</a:t>
            </a:r>
            <a:endParaRPr lang="es-ES" sz="1050" b="0" u="none" strike="noStrike">
              <a:solidFill>
                <a:srgbClr val="FFFFFF"/>
              </a:solidFill>
              <a:latin typeface="Arial"/>
            </a:endParaRPr>
          </a:p>
        </p:txBody>
      </p:sp>
      <p:sp>
        <p:nvSpPr>
          <p:cNvPr id="877790466" name="Text 9"/>
          <p:cNvSpPr/>
          <p:nvPr/>
        </p:nvSpPr>
        <p:spPr bwMode="auto">
          <a:xfrm>
            <a:off x="5577840" y="4709160"/>
            <a:ext cx="23313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s-ES" sz="2200" b="1" u="none" strike="noStrike">
                <a:solidFill>
                  <a:srgbClr val="FF7A29"/>
                </a:solidFill>
                <a:latin typeface="Calibri"/>
                <a:ea typeface="Calibri"/>
              </a:rPr>
              <a:t>3.469</a:t>
            </a:r>
            <a:endParaRPr lang="es-ES" sz="2200" b="0" u="none" strike="noStrike">
              <a:solidFill>
                <a:srgbClr val="FFFFFF"/>
              </a:solidFill>
              <a:latin typeface="Arial"/>
            </a:endParaRPr>
          </a:p>
        </p:txBody>
      </p:sp>
      <p:sp>
        <p:nvSpPr>
          <p:cNvPr id="1708377474" name="Text 10"/>
          <p:cNvSpPr/>
          <p:nvPr/>
        </p:nvSpPr>
        <p:spPr bwMode="auto">
          <a:xfrm>
            <a:off x="5577840" y="5166360"/>
            <a:ext cx="233136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AAB8D6"/>
                </a:solidFill>
                <a:latin typeface="Calibri"/>
                <a:ea typeface="Calibri"/>
              </a:rPr>
              <a:t>Jugadores distintos</a:t>
            </a:r>
            <a:endParaRPr lang="es-ES" sz="1050" b="0" u="none" strike="noStrike">
              <a:solidFill>
                <a:srgbClr val="FFFFFF"/>
              </a:solidFill>
              <a:latin typeface="Arial"/>
            </a:endParaRPr>
          </a:p>
        </p:txBody>
      </p:sp>
      <p:sp>
        <p:nvSpPr>
          <p:cNvPr id="1038842562" name="Text 11"/>
          <p:cNvSpPr/>
          <p:nvPr/>
        </p:nvSpPr>
        <p:spPr bwMode="auto">
          <a:xfrm>
            <a:off x="8092440" y="4709160"/>
            <a:ext cx="23313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2200" b="1" u="none" strike="noStrike">
                <a:solidFill>
                  <a:srgbClr val="FF7A29"/>
                </a:solidFill>
                <a:latin typeface="Calibri"/>
                <a:ea typeface="Calibri"/>
              </a:rPr>
              <a:t>55</a:t>
            </a:r>
            <a:endParaRPr lang="es-ES" sz="2200" b="0" u="none" strike="noStrike">
              <a:solidFill>
                <a:srgbClr val="FFFFFF"/>
              </a:solidFill>
              <a:latin typeface="Arial"/>
            </a:endParaRPr>
          </a:p>
        </p:txBody>
      </p:sp>
      <p:sp>
        <p:nvSpPr>
          <p:cNvPr id="753513278" name="Text 12"/>
          <p:cNvSpPr/>
          <p:nvPr/>
        </p:nvSpPr>
        <p:spPr bwMode="auto">
          <a:xfrm>
            <a:off x="8092440" y="5166360"/>
            <a:ext cx="233136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AAB8D6"/>
                </a:solidFill>
                <a:latin typeface="Calibri"/>
                <a:ea typeface="Calibri"/>
              </a:rPr>
              <a:t>Variables</a:t>
            </a:r>
            <a:endParaRPr lang="es-ES" sz="1050" b="0" u="none" strike="noStrike">
              <a:solidFill>
                <a:srgbClr val="FFFFFF"/>
              </a:solidFill>
              <a:latin typeface="Arial"/>
            </a:endParaRPr>
          </a:p>
        </p:txBody>
      </p:sp>
      <p:sp>
        <p:nvSpPr>
          <p:cNvPr id="148768001" name="Text 13"/>
          <p:cNvSpPr/>
          <p:nvPr/>
        </p:nvSpPr>
        <p:spPr bwMode="auto">
          <a:xfrm>
            <a:off x="548640" y="5650920"/>
            <a:ext cx="87778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050" b="1" u="none" strike="noStrike">
                <a:solidFill>
                  <a:srgbClr val="FF7A29"/>
                </a:solidFill>
                <a:latin typeface="Calibri"/>
                <a:ea typeface="Calibri"/>
              </a:rPr>
              <a:t>Julian David Pulido </a:t>
            </a:r>
            <a:r>
              <a:rPr lang="es-CO" sz="1050" b="1" u="none" strike="noStrike">
                <a:solidFill>
                  <a:srgbClr val="FF7A29"/>
                </a:solidFill>
                <a:latin typeface="Calibri"/>
                <a:ea typeface="Calibri"/>
              </a:rPr>
              <a:t>-</a:t>
            </a:r>
            <a:r>
              <a:rPr lang="en-US" sz="1050" b="1" u="none" strike="noStrike">
                <a:solidFill>
                  <a:srgbClr val="FF7A29"/>
                </a:solidFill>
                <a:latin typeface="Calibri"/>
                <a:ea typeface="Calibri"/>
              </a:rPr>
              <a:t> 20231020064   ·   Andrey Camilo González Cáceres </a:t>
            </a:r>
            <a:r>
              <a:rPr lang="es-CO" sz="1050" b="1" u="none" strike="noStrike">
                <a:solidFill>
                  <a:srgbClr val="FF7A29"/>
                </a:solidFill>
                <a:latin typeface="Calibri"/>
                <a:ea typeface="Calibri"/>
              </a:rPr>
              <a:t>-</a:t>
            </a:r>
            <a:r>
              <a:rPr lang="en-US" sz="1050" b="1" u="none" strike="noStrike">
                <a:solidFill>
                  <a:srgbClr val="FF7A29"/>
                </a:solidFill>
                <a:latin typeface="Calibri"/>
                <a:ea typeface="Calibri"/>
              </a:rPr>
              <a:t> 20231020070</a:t>
            </a:r>
            <a:r>
              <a:rPr lang="es-CO" sz="1050" b="1" u="none" strike="noStrike">
                <a:solidFill>
                  <a:srgbClr val="FF7A29"/>
                </a:solidFill>
                <a:latin typeface="Calibri"/>
                <a:ea typeface="Calibri"/>
              </a:rPr>
              <a:t> </a:t>
            </a:r>
            <a:r>
              <a:rPr lang="en-US" sz="1050" b="1">
                <a:solidFill>
                  <a:srgbClr val="FF7A29"/>
                </a:solidFill>
                <a:latin typeface="Calibri"/>
                <a:ea typeface="Calibri"/>
              </a:rPr>
              <a:t>· </a:t>
            </a:r>
            <a:r>
              <a:rPr lang="en-US" sz="1050" b="1" u="none" strike="noStrike">
                <a:solidFill>
                  <a:srgbClr val="FF7A29"/>
                </a:solidFill>
                <a:latin typeface="Calibri"/>
                <a:ea typeface="Calibri"/>
              </a:rPr>
              <a:t>David Martinez Rincon 20222020167</a:t>
            </a:r>
            <a:endParaRPr lang="es-ES" sz="1050" b="0" u="none" strike="noStrike">
              <a:solidFill>
                <a:srgbClr val="FFFFFF"/>
              </a:solidFill>
              <a:latin typeface="Arial"/>
            </a:endParaRPr>
          </a:p>
          <a:p>
            <a:pPr defTabSz="914400">
              <a:lnSpc>
                <a:spcPct val="100000"/>
              </a:lnSpc>
              <a:tabLst>
                <a:tab pos="0" algn="l"/>
              </a:tabLst>
              <a:defRPr/>
            </a:pPr>
            <a:endParaRPr lang="es-ES" sz="1050" b="0" u="none" strike="noStrike">
              <a:solidFill>
                <a:srgbClr val="FFFFFF"/>
              </a:solidFill>
              <a:latin typeface="Arial"/>
            </a:endParaRPr>
          </a:p>
        </p:txBody>
      </p:sp>
      <p:sp>
        <p:nvSpPr>
          <p:cNvPr id="1738126996" name="Shape 14"/>
          <p:cNvSpPr/>
          <p:nvPr/>
        </p:nvSpPr>
        <p:spPr bwMode="auto">
          <a:xfrm>
            <a:off x="548640" y="5989320"/>
            <a:ext cx="8778240" cy="360"/>
          </a:xfrm>
          <a:prstGeom prst="line">
            <a:avLst/>
          </a:prstGeom>
          <a:ln w="12700">
            <a:solidFill>
              <a:srgbClr val="2A3F63"/>
            </a:solidFill>
            <a:round/>
          </a:ln>
        </p:spPr>
        <p:style>
          <a:lnRef idx="0">
            <a:srgbClr val="FFFFFF"/>
          </a:lnRef>
          <a:fillRef idx="0">
            <a:srgbClr val="FFFFFF"/>
          </a:fillRef>
          <a:effectRef idx="0">
            <a:srgbClr val="FFFFFF"/>
          </a:effectRef>
          <a:fontRef idx="minor"/>
        </p:style>
        <p:txBody>
          <a:bodyPr lIns="90000" tIns="-44640" rIns="90000" bIns="-44640" anchor="t" anchorCtr="1">
            <a:noAutofit/>
          </a:bodyPr>
          <a:p>
            <a:pPr>
              <a:defRPr/>
            </a:pPr>
            <a:endParaRPr lang="es-ES" sz="1800" b="0" u="none" strike="noStrike">
              <a:solidFill>
                <a:srgbClr val="FFFFFF"/>
              </a:solidFill>
              <a:latin typeface="Arial"/>
            </a:endParaRPr>
          </a:p>
        </p:txBody>
      </p:sp>
      <p:sp>
        <p:nvSpPr>
          <p:cNvPr id="289848771" name="Text 15"/>
          <p:cNvSpPr/>
          <p:nvPr/>
        </p:nvSpPr>
        <p:spPr bwMode="auto">
          <a:xfrm>
            <a:off x="548640" y="6108120"/>
            <a:ext cx="640044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s-ES" sz="1050" b="0" u="none" strike="noStrike">
                <a:solidFill>
                  <a:srgbClr val="AAB8D6"/>
                </a:solidFill>
                <a:latin typeface="Calibri"/>
                <a:ea typeface="Calibri"/>
              </a:rPr>
              <a:t>F</a:t>
            </a:r>
            <a:r>
              <a:rPr lang="en-US" sz="1050" b="0" u="none" strike="noStrike">
                <a:solidFill>
                  <a:srgbClr val="AAB8D6"/>
                </a:solidFill>
                <a:latin typeface="Calibri"/>
                <a:ea typeface="Calibri"/>
              </a:rPr>
              <a:t>uente original: Basketball-Reference</a:t>
            </a:r>
            <a:endParaRPr lang="es-ES" sz="1050" b="0" u="none" strike="noStrike">
              <a:solidFill>
                <a:srgbClr val="FFFFFF"/>
              </a:solidFill>
              <a:latin typeface="Arial"/>
            </a:endParaRPr>
          </a:p>
        </p:txBody>
      </p:sp>
      <p:sp>
        <p:nvSpPr>
          <p:cNvPr id="645622094" name="Text 16"/>
          <p:cNvSpPr/>
          <p:nvPr/>
        </p:nvSpPr>
        <p:spPr bwMode="auto">
          <a:xfrm>
            <a:off x="8899920" y="6108120"/>
            <a:ext cx="274284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1050" b="0" u="none" strike="noStrike">
                <a:solidFill>
                  <a:srgbClr val="AAB8D6"/>
                </a:solidFill>
                <a:latin typeface="Calibri"/>
                <a:ea typeface="Calibri"/>
              </a:rPr>
              <a:t>1</a:t>
            </a:r>
            <a:r>
              <a:rPr lang="es-ES" sz="1050" b="0" u="none" strike="noStrike">
                <a:solidFill>
                  <a:srgbClr val="AAB8D6"/>
                </a:solidFill>
                <a:latin typeface="Calibri"/>
                <a:ea typeface="Calibri"/>
              </a:rPr>
              <a:t>9</a:t>
            </a:r>
            <a:r>
              <a:rPr lang="en-US" sz="1050" b="0" u="none" strike="noStrike">
                <a:solidFill>
                  <a:srgbClr val="AAB8D6"/>
                </a:solidFill>
                <a:latin typeface="Calibri"/>
                <a:ea typeface="Calibri"/>
              </a:rPr>
              <a:t> de septiembre de 2026</a:t>
            </a:r>
            <a:endParaRPr lang="es-ES" sz="105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377546632"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01 · EL DATASET</a:t>
            </a:r>
            <a:endParaRPr lang="es-ES" sz="1150" b="0" u="none" strike="noStrike">
              <a:solidFill>
                <a:srgbClr val="000000"/>
              </a:solidFill>
              <a:latin typeface="Arial"/>
            </a:endParaRPr>
          </a:p>
        </p:txBody>
      </p:sp>
      <p:sp>
        <p:nvSpPr>
          <p:cNvPr id="1013959040"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Descripción del dataset</a:t>
            </a:r>
            <a:endParaRPr lang="es-ES" sz="2900" b="0" u="none" strike="noStrike">
              <a:solidFill>
                <a:srgbClr val="000000"/>
              </a:solidFill>
              <a:latin typeface="Arial"/>
            </a:endParaRPr>
          </a:p>
        </p:txBody>
      </p:sp>
      <p:sp>
        <p:nvSpPr>
          <p:cNvPr id="634079648" name="Text 2"/>
          <p:cNvSpPr/>
          <p:nvPr/>
        </p:nvSpPr>
        <p:spPr bwMode="auto">
          <a:xfrm>
            <a:off x="548640" y="1353240"/>
            <a:ext cx="1109412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Cada fila representa el desempeño de un jugador en una temporada. Si un jugador fue transferido a mitad de año, aparece con una fila por cada franquicia en la que jugó.</a:t>
            </a:r>
            <a:endParaRPr lang="es-ES" sz="1350" b="0" u="none" strike="noStrike">
              <a:solidFill>
                <a:srgbClr val="000000"/>
              </a:solidFill>
              <a:latin typeface="Arial"/>
            </a:endParaRPr>
          </a:p>
        </p:txBody>
      </p:sp>
      <p:sp>
        <p:nvSpPr>
          <p:cNvPr id="375691368" name="Text 3"/>
          <p:cNvSpPr/>
          <p:nvPr/>
        </p:nvSpPr>
        <p:spPr bwMode="auto">
          <a:xfrm>
            <a:off x="548640" y="2057400"/>
            <a:ext cx="249876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3800" b="1" u="none" strike="noStrike">
                <a:solidFill>
                  <a:srgbClr val="0B1E3D"/>
                </a:solidFill>
                <a:latin typeface="Calibri"/>
                <a:ea typeface="Calibri"/>
              </a:rPr>
              <a:t>14.078</a:t>
            </a:r>
            <a:endParaRPr lang="es-ES" sz="3800" b="0" u="none" strike="noStrike">
              <a:solidFill>
                <a:srgbClr val="000000"/>
              </a:solidFill>
              <a:latin typeface="Arial"/>
            </a:endParaRPr>
          </a:p>
        </p:txBody>
      </p:sp>
      <p:sp>
        <p:nvSpPr>
          <p:cNvPr id="1047826045" name="Text 4"/>
          <p:cNvSpPr/>
          <p:nvPr/>
        </p:nvSpPr>
        <p:spPr bwMode="auto">
          <a:xfrm>
            <a:off x="548640" y="2651760"/>
            <a:ext cx="249876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5B6B85"/>
                </a:solidFill>
                <a:latin typeface="Calibri"/>
                <a:ea typeface="Calibri"/>
              </a:rPr>
              <a:t>registros temporada-jugador</a:t>
            </a:r>
            <a:endParaRPr lang="es-ES" sz="1050" b="0" u="none" strike="noStrike">
              <a:solidFill>
                <a:srgbClr val="000000"/>
              </a:solidFill>
              <a:latin typeface="Arial"/>
            </a:endParaRPr>
          </a:p>
        </p:txBody>
      </p:sp>
      <p:sp>
        <p:nvSpPr>
          <p:cNvPr id="1061567027" name="Text 5"/>
          <p:cNvSpPr/>
          <p:nvPr/>
        </p:nvSpPr>
        <p:spPr bwMode="auto">
          <a:xfrm>
            <a:off x="3322080" y="2057400"/>
            <a:ext cx="249876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3800" b="1" u="none" strike="noStrike">
                <a:solidFill>
                  <a:srgbClr val="0B1E3D"/>
                </a:solidFill>
                <a:latin typeface="Calibri"/>
                <a:ea typeface="Calibri"/>
              </a:rPr>
              <a:t>55</a:t>
            </a:r>
            <a:endParaRPr lang="es-ES" sz="3800" b="0" u="none" strike="noStrike">
              <a:solidFill>
                <a:srgbClr val="000000"/>
              </a:solidFill>
              <a:latin typeface="Arial"/>
            </a:endParaRPr>
          </a:p>
        </p:txBody>
      </p:sp>
      <p:sp>
        <p:nvSpPr>
          <p:cNvPr id="626036371" name="Text 6"/>
          <p:cNvSpPr/>
          <p:nvPr/>
        </p:nvSpPr>
        <p:spPr bwMode="auto">
          <a:xfrm>
            <a:off x="3322080" y="2651760"/>
            <a:ext cx="249876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5B6B85"/>
                </a:solidFill>
                <a:latin typeface="Calibri"/>
                <a:ea typeface="Calibri"/>
              </a:rPr>
              <a:t>variables</a:t>
            </a:r>
            <a:endParaRPr lang="es-ES" sz="1050" b="0" u="none" strike="noStrike">
              <a:solidFill>
                <a:srgbClr val="000000"/>
              </a:solidFill>
              <a:latin typeface="Arial"/>
            </a:endParaRPr>
          </a:p>
        </p:txBody>
      </p:sp>
      <p:sp>
        <p:nvSpPr>
          <p:cNvPr id="1264375199" name="Text 7"/>
          <p:cNvSpPr/>
          <p:nvPr/>
        </p:nvSpPr>
        <p:spPr bwMode="auto">
          <a:xfrm>
            <a:off x="6095880" y="2057400"/>
            <a:ext cx="249876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3800" b="1" u="none" strike="noStrike">
                <a:solidFill>
                  <a:srgbClr val="0B1E3D"/>
                </a:solidFill>
                <a:latin typeface="Calibri"/>
                <a:ea typeface="Calibri"/>
              </a:rPr>
              <a:t>2.695</a:t>
            </a:r>
            <a:endParaRPr lang="es-ES" sz="3800" b="0" u="none" strike="noStrike">
              <a:solidFill>
                <a:srgbClr val="000000"/>
              </a:solidFill>
              <a:latin typeface="Arial"/>
            </a:endParaRPr>
          </a:p>
        </p:txBody>
      </p:sp>
      <p:sp>
        <p:nvSpPr>
          <p:cNvPr id="86027421" name="Text 8"/>
          <p:cNvSpPr/>
          <p:nvPr/>
        </p:nvSpPr>
        <p:spPr bwMode="auto">
          <a:xfrm>
            <a:off x="6095880" y="2651760"/>
            <a:ext cx="249876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5B6B85"/>
                </a:solidFill>
                <a:latin typeface="Calibri"/>
                <a:ea typeface="Calibri"/>
              </a:rPr>
              <a:t>jugadores distintos</a:t>
            </a:r>
            <a:endParaRPr lang="es-ES" sz="1050" b="0" u="none" strike="noStrike">
              <a:solidFill>
                <a:srgbClr val="000000"/>
              </a:solidFill>
              <a:latin typeface="Arial"/>
            </a:endParaRPr>
          </a:p>
        </p:txBody>
      </p:sp>
      <p:sp>
        <p:nvSpPr>
          <p:cNvPr id="1120696183" name="Text 9"/>
          <p:cNvSpPr/>
          <p:nvPr/>
        </p:nvSpPr>
        <p:spPr bwMode="auto">
          <a:xfrm>
            <a:off x="8869320" y="2057400"/>
            <a:ext cx="249876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3800" b="1" u="none" strike="noStrike">
                <a:solidFill>
                  <a:srgbClr val="0B1E3D"/>
                </a:solidFill>
                <a:latin typeface="Calibri"/>
                <a:ea typeface="Calibri"/>
              </a:rPr>
              <a:t>41</a:t>
            </a:r>
            <a:endParaRPr lang="es-ES" sz="3800" b="0" u="none" strike="noStrike">
              <a:solidFill>
                <a:srgbClr val="000000"/>
              </a:solidFill>
              <a:latin typeface="Arial"/>
            </a:endParaRPr>
          </a:p>
        </p:txBody>
      </p:sp>
      <p:sp>
        <p:nvSpPr>
          <p:cNvPr id="186178049" name="Text 10"/>
          <p:cNvSpPr/>
          <p:nvPr/>
        </p:nvSpPr>
        <p:spPr bwMode="auto">
          <a:xfrm>
            <a:off x="8869320" y="2651760"/>
            <a:ext cx="249876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050" b="0" u="none" strike="noStrike">
                <a:solidFill>
                  <a:srgbClr val="5B6B85"/>
                </a:solidFill>
                <a:latin typeface="Calibri"/>
                <a:ea typeface="Calibri"/>
              </a:rPr>
              <a:t>temporadas (1982–2022)</a:t>
            </a:r>
            <a:endParaRPr lang="es-ES" sz="1050" b="0" u="none" strike="noStrike">
              <a:solidFill>
                <a:srgbClr val="000000"/>
              </a:solidFill>
              <a:latin typeface="Arial"/>
            </a:endParaRPr>
          </a:p>
        </p:txBody>
      </p:sp>
      <p:sp>
        <p:nvSpPr>
          <p:cNvPr id="967895406" name="Shape 11"/>
          <p:cNvSpPr/>
          <p:nvPr/>
        </p:nvSpPr>
        <p:spPr bwMode="auto">
          <a:xfrm>
            <a:off x="548640" y="3173765"/>
            <a:ext cx="456840" cy="456840"/>
          </a:xfrm>
          <a:prstGeom prst="ellipse">
            <a:avLst/>
          </a:prstGeom>
          <a:solidFill>
            <a:srgbClr val="FDEBDD"/>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304826242" name="Image 0" descr="/tmp/claude-0/-home-claude/c0a8783c-8817-5425-bc4f-190e5f64548a/scratchpad/work/icons/users_E1590F.png"/>
          <p:cNvPicPr/>
          <p:nvPr/>
        </p:nvPicPr>
        <p:blipFill rotWithShape="1">
          <a:blip r:embed="rId3"/>
          <a:stretch/>
        </p:blipFill>
        <p:spPr bwMode="auto">
          <a:xfrm>
            <a:off x="658440" y="3283565"/>
            <a:ext cx="237240" cy="237240"/>
          </a:xfrm>
          <a:prstGeom prst="rect">
            <a:avLst/>
          </a:prstGeom>
          <a:noFill/>
          <a:ln w="0">
            <a:noFill/>
          </a:ln>
        </p:spPr>
      </p:pic>
      <p:sp>
        <p:nvSpPr>
          <p:cNvPr id="1762760578" name="Text 12"/>
          <p:cNvSpPr/>
          <p:nvPr/>
        </p:nvSpPr>
        <p:spPr bwMode="auto">
          <a:xfrm>
            <a:off x="1188720" y="2973976"/>
            <a:ext cx="237708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350" b="1" u="none" strike="noStrike">
                <a:solidFill>
                  <a:srgbClr val="0B1E3D"/>
                </a:solidFill>
                <a:latin typeface="Calibri"/>
                <a:ea typeface="Calibri"/>
              </a:rPr>
              <a:t>Identificación</a:t>
            </a:r>
            <a:endParaRPr lang="es-ES" sz="1350" b="0" u="none" strike="noStrike">
              <a:solidFill>
                <a:srgbClr val="000000"/>
              </a:solidFill>
              <a:latin typeface="Arial"/>
            </a:endParaRPr>
          </a:p>
        </p:txBody>
      </p:sp>
      <p:sp>
        <p:nvSpPr>
          <p:cNvPr id="1633737067" name="Text 13"/>
          <p:cNvSpPr/>
          <p:nvPr/>
        </p:nvSpPr>
        <p:spPr bwMode="auto">
          <a:xfrm>
            <a:off x="3657600" y="2973976"/>
            <a:ext cx="798516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10000"/>
              </a:lnSpc>
              <a:tabLst>
                <a:tab pos="0" algn="l"/>
              </a:tabLst>
              <a:defRPr/>
            </a:pPr>
            <a:r>
              <a:rPr lang="en-US" sz="1200" b="0" u="none" strike="noStrike">
                <a:solidFill>
                  <a:srgbClr val="12203D"/>
                </a:solidFill>
                <a:latin typeface="Calibri"/>
                <a:ea typeface="Calibri"/>
              </a:rPr>
              <a:t>Nombre del jugador; es texto libre, no una clave única garantizada.</a:t>
            </a:r>
            <a:endParaRPr lang="es-ES" sz="1200" b="0" u="none" strike="noStrike">
              <a:solidFill>
                <a:srgbClr val="000000"/>
              </a:solidFill>
              <a:latin typeface="Arial"/>
            </a:endParaRPr>
          </a:p>
        </p:txBody>
      </p:sp>
      <p:sp>
        <p:nvSpPr>
          <p:cNvPr id="977310736" name="Shape 14"/>
          <p:cNvSpPr/>
          <p:nvPr/>
        </p:nvSpPr>
        <p:spPr bwMode="auto">
          <a:xfrm>
            <a:off x="548640" y="4060805"/>
            <a:ext cx="456840" cy="456840"/>
          </a:xfrm>
          <a:prstGeom prst="ellipse">
            <a:avLst/>
          </a:prstGeom>
          <a:solidFill>
            <a:srgbClr val="FDEBDD"/>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74325692" name="Image 1" descr="/tmp/claude-0/-home-claude/c0a8783c-8817-5425-bc4f-190e5f64548a/scratchpad/work/icons/list_E1590F.png"/>
          <p:cNvPicPr/>
          <p:nvPr/>
        </p:nvPicPr>
        <p:blipFill rotWithShape="1">
          <a:blip r:embed="rId4"/>
          <a:stretch/>
        </p:blipFill>
        <p:spPr bwMode="auto">
          <a:xfrm>
            <a:off x="658440" y="4170245"/>
            <a:ext cx="237240" cy="237240"/>
          </a:xfrm>
          <a:prstGeom prst="rect">
            <a:avLst/>
          </a:prstGeom>
          <a:noFill/>
          <a:ln w="0">
            <a:noFill/>
          </a:ln>
        </p:spPr>
      </p:pic>
      <p:sp>
        <p:nvSpPr>
          <p:cNvPr id="161029377" name="Text 15"/>
          <p:cNvSpPr/>
          <p:nvPr/>
        </p:nvSpPr>
        <p:spPr bwMode="auto">
          <a:xfrm>
            <a:off x="1188720" y="3861016"/>
            <a:ext cx="237708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350" b="1" u="none" strike="noStrike">
                <a:solidFill>
                  <a:srgbClr val="0B1E3D"/>
                </a:solidFill>
                <a:latin typeface="Calibri"/>
                <a:ea typeface="Calibri"/>
              </a:rPr>
              <a:t>Categóricas</a:t>
            </a:r>
            <a:endParaRPr lang="es-ES" sz="1350" b="0" u="none" strike="noStrike">
              <a:solidFill>
                <a:srgbClr val="000000"/>
              </a:solidFill>
              <a:latin typeface="Arial"/>
            </a:endParaRPr>
          </a:p>
        </p:txBody>
      </p:sp>
      <p:sp>
        <p:nvSpPr>
          <p:cNvPr id="748926731" name="Text 16"/>
          <p:cNvSpPr/>
          <p:nvPr/>
        </p:nvSpPr>
        <p:spPr bwMode="auto">
          <a:xfrm>
            <a:off x="3657600" y="3861016"/>
            <a:ext cx="798516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10000"/>
              </a:lnSpc>
              <a:tabLst>
                <a:tab pos="0" algn="l"/>
              </a:tabLst>
              <a:defRPr/>
            </a:pPr>
            <a:r>
              <a:rPr lang="en-US" sz="1200" b="0" u="none" strike="noStrike">
                <a:solidFill>
                  <a:srgbClr val="12203D"/>
                </a:solidFill>
                <a:latin typeface="Calibri"/>
                <a:ea typeface="Calibri"/>
              </a:rPr>
              <a:t>Posición de juego (5 categorías) y equipo / franquicia (40 códigos).</a:t>
            </a:r>
            <a:endParaRPr lang="es-ES" sz="1200" b="0" u="none" strike="noStrike">
              <a:solidFill>
                <a:srgbClr val="000000"/>
              </a:solidFill>
              <a:latin typeface="Arial"/>
            </a:endParaRPr>
          </a:p>
        </p:txBody>
      </p:sp>
      <p:sp>
        <p:nvSpPr>
          <p:cNvPr id="1395005136" name="Shape 17"/>
          <p:cNvSpPr/>
          <p:nvPr/>
        </p:nvSpPr>
        <p:spPr bwMode="auto">
          <a:xfrm>
            <a:off x="548640" y="4902128"/>
            <a:ext cx="456840" cy="456840"/>
          </a:xfrm>
          <a:prstGeom prst="ellipse">
            <a:avLst/>
          </a:prstGeom>
          <a:solidFill>
            <a:srgbClr val="FDEBDD"/>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282244321" name="Image 2" descr="/tmp/claude-0/-home-claude/c0a8783c-8817-5425-bc4f-190e5f64548a/scratchpad/work/icons/chartbar_E1590F.png"/>
          <p:cNvPicPr/>
          <p:nvPr/>
        </p:nvPicPr>
        <p:blipFill rotWithShape="1">
          <a:blip r:embed="rId5"/>
          <a:stretch/>
        </p:blipFill>
        <p:spPr bwMode="auto">
          <a:xfrm>
            <a:off x="658440" y="5011928"/>
            <a:ext cx="237240" cy="237240"/>
          </a:xfrm>
          <a:prstGeom prst="rect">
            <a:avLst/>
          </a:prstGeom>
          <a:noFill/>
          <a:ln w="0">
            <a:noFill/>
          </a:ln>
        </p:spPr>
      </p:pic>
      <p:sp>
        <p:nvSpPr>
          <p:cNvPr id="786521870" name="Text 18"/>
          <p:cNvSpPr/>
          <p:nvPr/>
        </p:nvSpPr>
        <p:spPr bwMode="auto">
          <a:xfrm>
            <a:off x="1188720" y="4748056"/>
            <a:ext cx="237708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350" b="1" u="none" strike="noStrike">
                <a:solidFill>
                  <a:srgbClr val="0B1E3D"/>
                </a:solidFill>
                <a:latin typeface="Calibri"/>
                <a:ea typeface="Calibri"/>
              </a:rPr>
              <a:t>Numéricas discretas</a:t>
            </a:r>
            <a:endParaRPr lang="es-ES" sz="1350" b="0" u="none" strike="noStrike">
              <a:solidFill>
                <a:srgbClr val="000000"/>
              </a:solidFill>
              <a:latin typeface="Arial"/>
            </a:endParaRPr>
          </a:p>
        </p:txBody>
      </p:sp>
      <p:sp>
        <p:nvSpPr>
          <p:cNvPr id="120820190" name="Text 19"/>
          <p:cNvSpPr/>
          <p:nvPr/>
        </p:nvSpPr>
        <p:spPr bwMode="auto">
          <a:xfrm>
            <a:off x="3657600" y="4748056"/>
            <a:ext cx="798516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10000"/>
              </a:lnSpc>
              <a:tabLst>
                <a:tab pos="0" algn="l"/>
              </a:tabLst>
              <a:defRPr/>
            </a:pPr>
            <a:r>
              <a:rPr lang="en-US" sz="1200" b="0" u="none" strike="noStrike">
                <a:solidFill>
                  <a:srgbClr val="12203D"/>
                </a:solidFill>
                <a:latin typeface="Calibri"/>
                <a:ea typeface="Calibri"/>
              </a:rPr>
              <a:t>Temporada, edad, partidos jugados, partidos como titular, minutos totales.</a:t>
            </a:r>
            <a:endParaRPr lang="es-ES" sz="1200" b="0" u="none" strike="noStrike">
              <a:solidFill>
                <a:srgbClr val="000000"/>
              </a:solidFill>
              <a:latin typeface="Arial"/>
            </a:endParaRPr>
          </a:p>
        </p:txBody>
      </p:sp>
      <p:sp>
        <p:nvSpPr>
          <p:cNvPr id="1754179577" name="Shape 20"/>
          <p:cNvSpPr/>
          <p:nvPr/>
        </p:nvSpPr>
        <p:spPr bwMode="auto">
          <a:xfrm>
            <a:off x="548640" y="5698454"/>
            <a:ext cx="456840" cy="456840"/>
          </a:xfrm>
          <a:prstGeom prst="ellipse">
            <a:avLst/>
          </a:prstGeom>
          <a:solidFill>
            <a:srgbClr val="FDEBDD"/>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968597534" name="Image 3" descr="/tmp/claude-0/-home-claude/c0a8783c-8817-5425-bc4f-190e5f64548a/scratchpad/work/icons/chartline_E1590F.png"/>
          <p:cNvPicPr/>
          <p:nvPr/>
        </p:nvPicPr>
        <p:blipFill rotWithShape="1">
          <a:blip r:embed="rId6"/>
          <a:stretch/>
        </p:blipFill>
        <p:spPr bwMode="auto">
          <a:xfrm>
            <a:off x="658440" y="5808254"/>
            <a:ext cx="237240" cy="237240"/>
          </a:xfrm>
          <a:prstGeom prst="rect">
            <a:avLst/>
          </a:prstGeom>
          <a:noFill/>
          <a:ln w="0">
            <a:noFill/>
          </a:ln>
        </p:spPr>
      </p:pic>
      <p:sp>
        <p:nvSpPr>
          <p:cNvPr id="924271832" name="Text 21"/>
          <p:cNvSpPr/>
          <p:nvPr/>
        </p:nvSpPr>
        <p:spPr bwMode="auto">
          <a:xfrm>
            <a:off x="1188720" y="5634736"/>
            <a:ext cx="237708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350" b="1" u="none" strike="noStrike">
                <a:solidFill>
                  <a:srgbClr val="0B1E3D"/>
                </a:solidFill>
                <a:latin typeface="Calibri"/>
                <a:ea typeface="Calibri"/>
              </a:rPr>
              <a:t>Numéricas continuas</a:t>
            </a:r>
            <a:endParaRPr lang="es-ES" sz="1350" b="0" u="none" strike="noStrike">
              <a:solidFill>
                <a:srgbClr val="000000"/>
              </a:solidFill>
              <a:latin typeface="Arial"/>
            </a:endParaRPr>
          </a:p>
        </p:txBody>
      </p:sp>
      <p:sp>
        <p:nvSpPr>
          <p:cNvPr id="844992854" name="Text 22"/>
          <p:cNvSpPr/>
          <p:nvPr/>
        </p:nvSpPr>
        <p:spPr bwMode="auto">
          <a:xfrm>
            <a:off x="3657600" y="5634736"/>
            <a:ext cx="798516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10000"/>
              </a:lnSpc>
              <a:tabLst>
                <a:tab pos="0" algn="l"/>
              </a:tabLst>
              <a:defRPr/>
            </a:pPr>
            <a:r>
              <a:rPr lang="en-US" sz="1200" b="0" u="none" strike="noStrike">
                <a:solidFill>
                  <a:srgbClr val="12203D"/>
                </a:solidFill>
                <a:latin typeface="Calibri"/>
                <a:ea typeface="Calibri"/>
              </a:rPr>
              <a:t>Estadísticas por partido, % de tiro, métricas por posesión (PER, WS, BPM, VORP), indicadores de equipo.</a:t>
            </a:r>
            <a:endParaRPr lang="es-ES" sz="1200" b="0" u="none" strike="noStrike">
              <a:solidFill>
                <a:srgbClr val="000000"/>
              </a:solidFill>
              <a:latin typeface="Arial"/>
            </a:endParaRPr>
          </a:p>
        </p:txBody>
      </p:sp>
      <p:pic>
        <p:nvPicPr>
          <p:cNvPr id="1934211460" name="Image 4" descr="/tmp/claude-0/-home-claude/c0a8783c-8817-5425-bc4f-190e5f64548a/scratchpad/work/icons/basketball_E1590F.png"/>
          <p:cNvPicPr/>
          <p:nvPr/>
        </p:nvPicPr>
        <p:blipFill rotWithShape="1">
          <a:blip r:embed="rId7"/>
          <a:stretch/>
        </p:blipFill>
        <p:spPr bwMode="auto">
          <a:xfrm>
            <a:off x="548640" y="6410888"/>
            <a:ext cx="145800" cy="145800"/>
          </a:xfrm>
          <a:prstGeom prst="rect">
            <a:avLst/>
          </a:prstGeom>
          <a:noFill/>
          <a:ln w="0">
            <a:noFill/>
          </a:ln>
        </p:spPr>
      </p:pic>
      <p:sp>
        <p:nvSpPr>
          <p:cNvPr id="657709381" name="Text 23"/>
          <p:cNvSpPr/>
          <p:nvPr/>
        </p:nvSpPr>
        <p:spPr bwMode="auto">
          <a:xfrm>
            <a:off x="768240" y="6374528"/>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01 · El dataset</a:t>
            </a:r>
            <a:endParaRPr lang="es-ES" sz="850" b="0" u="none" strike="noStrike">
              <a:solidFill>
                <a:srgbClr val="000000"/>
              </a:solidFill>
              <a:latin typeface="Arial"/>
            </a:endParaRPr>
          </a:p>
        </p:txBody>
      </p:sp>
      <p:sp>
        <p:nvSpPr>
          <p:cNvPr id="523345775" name="Text 24"/>
          <p:cNvSpPr/>
          <p:nvPr/>
        </p:nvSpPr>
        <p:spPr bwMode="auto">
          <a:xfrm>
            <a:off x="10271520" y="6374528"/>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02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378253929"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01 · EL DATASET</a:t>
            </a:r>
            <a:endParaRPr lang="es-ES" sz="1150" b="0" u="none" strike="noStrike">
              <a:solidFill>
                <a:srgbClr val="000000"/>
              </a:solidFill>
              <a:latin typeface="Arial"/>
            </a:endParaRPr>
          </a:p>
        </p:txBody>
      </p:sp>
      <p:sp>
        <p:nvSpPr>
          <p:cNvPr id="774065539"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Tres decisiones de limpieza</a:t>
            </a:r>
            <a:endParaRPr lang="es-ES" sz="2900" b="0" u="none" strike="noStrike">
              <a:solidFill>
                <a:srgbClr val="000000"/>
              </a:solidFill>
              <a:latin typeface="Arial"/>
            </a:endParaRPr>
          </a:p>
        </p:txBody>
      </p:sp>
      <p:sp>
        <p:nvSpPr>
          <p:cNvPr id="1818088007" name="Text 2"/>
          <p:cNvSpPr/>
          <p:nvPr/>
        </p:nvSpPr>
        <p:spPr bwMode="auto">
          <a:xfrm>
            <a:off x="548640" y="1353240"/>
            <a:ext cx="1109412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El archivo depurado no es el original. Estas tres decisiones condicionan todo el análisis posterior.</a:t>
            </a:r>
            <a:endParaRPr lang="es-ES" sz="1350" b="0" u="none" strike="noStrike">
              <a:solidFill>
                <a:srgbClr val="000000"/>
              </a:solidFill>
              <a:latin typeface="Arial"/>
            </a:endParaRPr>
          </a:p>
        </p:txBody>
      </p:sp>
      <p:sp>
        <p:nvSpPr>
          <p:cNvPr id="1082699242" name="Shape 3"/>
          <p:cNvSpPr/>
          <p:nvPr/>
        </p:nvSpPr>
        <p:spPr bwMode="auto">
          <a:xfrm>
            <a:off x="548640" y="1965960"/>
            <a:ext cx="3453840" cy="3245760"/>
          </a:xfrm>
          <a:prstGeom prst="roundRect">
            <a:avLst>
              <a:gd name="adj" fmla="val 2254"/>
            </a:avLst>
          </a:prstGeom>
          <a:solidFill>
            <a:srgbClr val="FFFFFF"/>
          </a:solidFill>
          <a:ln w="0">
            <a:noFill/>
          </a:ln>
          <a:effectLst>
            <a:outerShdw blurRad="114480" dist="38160" dir="5400000" algn="bl" rotWithShape="0">
              <a:srgbClr val="8798AD">
                <a:alpha val="30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805517498" name="Text 4"/>
          <p:cNvSpPr/>
          <p:nvPr/>
        </p:nvSpPr>
        <p:spPr bwMode="auto">
          <a:xfrm>
            <a:off x="777240" y="2148840"/>
            <a:ext cx="299664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3400" b="1" u="none" strike="noStrike">
                <a:solidFill>
                  <a:srgbClr val="FF7A29"/>
                </a:solidFill>
                <a:latin typeface="Calibri"/>
                <a:ea typeface="Calibri"/>
              </a:rPr>
              <a:t>01</a:t>
            </a:r>
            <a:endParaRPr lang="es-ES" sz="3400" b="0" u="none" strike="noStrike">
              <a:solidFill>
                <a:srgbClr val="000000"/>
              </a:solidFill>
              <a:latin typeface="Arial"/>
            </a:endParaRPr>
          </a:p>
        </p:txBody>
      </p:sp>
      <p:sp>
        <p:nvSpPr>
          <p:cNvPr id="1177057665" name="Text 5"/>
          <p:cNvSpPr/>
          <p:nvPr/>
        </p:nvSpPr>
        <p:spPr bwMode="auto">
          <a:xfrm>
            <a:off x="777240" y="2834640"/>
            <a:ext cx="2996640" cy="685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8000"/>
              </a:lnSpc>
              <a:tabLst>
                <a:tab pos="0" algn="l"/>
              </a:tabLst>
              <a:defRPr/>
            </a:pPr>
            <a:r>
              <a:rPr lang="en-US" sz="1450" b="1" u="none" strike="noStrike">
                <a:solidFill>
                  <a:srgbClr val="0B1E3D"/>
                </a:solidFill>
                <a:latin typeface="Calibri"/>
                <a:ea typeface="Calibri"/>
              </a:rPr>
              <a:t>Filtro de minutos_totales ≥ 100</a:t>
            </a:r>
            <a:endParaRPr lang="es-ES" sz="1450" b="0" u="none" strike="noStrike">
              <a:solidFill>
                <a:srgbClr val="000000"/>
              </a:solidFill>
              <a:latin typeface="Arial"/>
            </a:endParaRPr>
          </a:p>
        </p:txBody>
      </p:sp>
      <p:sp>
        <p:nvSpPr>
          <p:cNvPr id="180423312" name="Text 6"/>
          <p:cNvSpPr/>
          <p:nvPr/>
        </p:nvSpPr>
        <p:spPr bwMode="auto">
          <a:xfrm>
            <a:off x="777240" y="3566160"/>
            <a:ext cx="299664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8000"/>
              </a:lnSpc>
              <a:tabLst>
                <a:tab pos="0" algn="l"/>
              </a:tabLst>
              <a:defRPr/>
            </a:pPr>
            <a:r>
              <a:rPr lang="en-US" sz="1150" b="0" u="none" strike="noStrike">
                <a:solidFill>
                  <a:srgbClr val="12203D"/>
                </a:solidFill>
                <a:latin typeface="Calibri"/>
                <a:ea typeface="Calibri"/>
              </a:rPr>
              <a:t>Elimina las participaciones marginales. Las métricas de tasa (PER, BPM, WS/48) son cocientes y tomaban valores absurdos con uno o dos minutos jugados. Con el filtro, el PER queda acotado a un rango plausible de −4,8 a 32,8.</a:t>
            </a:r>
            <a:endParaRPr lang="es-ES" sz="1150" b="0" u="none" strike="noStrike">
              <a:solidFill>
                <a:srgbClr val="000000"/>
              </a:solidFill>
              <a:latin typeface="Arial"/>
            </a:endParaRPr>
          </a:p>
        </p:txBody>
      </p:sp>
      <p:sp>
        <p:nvSpPr>
          <p:cNvPr id="1289008719" name="Shape 7"/>
          <p:cNvSpPr/>
          <p:nvPr/>
        </p:nvSpPr>
        <p:spPr bwMode="auto">
          <a:xfrm>
            <a:off x="4368600" y="1965960"/>
            <a:ext cx="3453840" cy="3245760"/>
          </a:xfrm>
          <a:prstGeom prst="roundRect">
            <a:avLst>
              <a:gd name="adj" fmla="val 2254"/>
            </a:avLst>
          </a:prstGeom>
          <a:solidFill>
            <a:srgbClr val="FFFFFF"/>
          </a:solidFill>
          <a:ln w="0">
            <a:noFill/>
          </a:ln>
          <a:effectLst>
            <a:outerShdw blurRad="1451610000" dist="483869880"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306094254" name="Text 8"/>
          <p:cNvSpPr/>
          <p:nvPr/>
        </p:nvSpPr>
        <p:spPr bwMode="auto">
          <a:xfrm>
            <a:off x="4597200" y="2148840"/>
            <a:ext cx="299664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3400" b="1" u="none" strike="noStrike">
                <a:solidFill>
                  <a:srgbClr val="FF7A29"/>
                </a:solidFill>
                <a:latin typeface="Calibri"/>
                <a:ea typeface="Calibri"/>
              </a:rPr>
              <a:t>02</a:t>
            </a:r>
            <a:endParaRPr lang="es-ES" sz="3400" b="0" u="none" strike="noStrike">
              <a:solidFill>
                <a:srgbClr val="000000"/>
              </a:solidFill>
              <a:latin typeface="Arial"/>
            </a:endParaRPr>
          </a:p>
        </p:txBody>
      </p:sp>
      <p:sp>
        <p:nvSpPr>
          <p:cNvPr id="966151819" name="Text 9"/>
          <p:cNvSpPr/>
          <p:nvPr/>
        </p:nvSpPr>
        <p:spPr bwMode="auto">
          <a:xfrm>
            <a:off x="4597200" y="2834640"/>
            <a:ext cx="2996640" cy="685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8000"/>
              </a:lnSpc>
              <a:tabLst>
                <a:tab pos="0" algn="l"/>
              </a:tabLst>
              <a:defRPr/>
            </a:pPr>
            <a:r>
              <a:rPr lang="en-US" sz="1450" b="1" u="none" strike="noStrike">
                <a:solidFill>
                  <a:srgbClr val="0B1E3D"/>
                </a:solidFill>
                <a:latin typeface="Calibri"/>
                <a:ea typeface="Calibri"/>
              </a:rPr>
              <a:t>Eliminación de las filas "TOT"</a:t>
            </a:r>
            <a:endParaRPr lang="es-ES" sz="1450" b="0" u="none" strike="noStrike">
              <a:solidFill>
                <a:srgbClr val="000000"/>
              </a:solidFill>
              <a:latin typeface="Arial"/>
            </a:endParaRPr>
          </a:p>
        </p:txBody>
      </p:sp>
      <p:sp>
        <p:nvSpPr>
          <p:cNvPr id="868808559" name="Text 10"/>
          <p:cNvSpPr/>
          <p:nvPr/>
        </p:nvSpPr>
        <p:spPr bwMode="auto">
          <a:xfrm>
            <a:off x="4597200" y="3566160"/>
            <a:ext cx="299664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8000"/>
              </a:lnSpc>
              <a:tabLst>
                <a:tab pos="0" algn="l"/>
              </a:tabLst>
              <a:defRPr/>
            </a:pPr>
            <a:r>
              <a:rPr lang="en-US" sz="1150" b="0" u="none" strike="noStrike">
                <a:solidFill>
                  <a:srgbClr val="12203D"/>
                </a:solidFill>
                <a:latin typeface="Calibri"/>
                <a:ea typeface="Calibri"/>
              </a:rPr>
              <a:t>Las filas-resumen de jugadores transferidos a mitad de temporada no corresponden a ninguna franquicia real y duplicaban minutos ya contabilizados. El dataset queda con 0 filas "TOT".</a:t>
            </a:r>
            <a:endParaRPr lang="es-ES" sz="1150" b="0" u="none" strike="noStrike">
              <a:solidFill>
                <a:srgbClr val="000000"/>
              </a:solidFill>
              <a:latin typeface="Arial"/>
            </a:endParaRPr>
          </a:p>
        </p:txBody>
      </p:sp>
      <p:sp>
        <p:nvSpPr>
          <p:cNvPr id="1065553797" name="Shape 11"/>
          <p:cNvSpPr/>
          <p:nvPr/>
        </p:nvSpPr>
        <p:spPr bwMode="auto">
          <a:xfrm>
            <a:off x="8188920" y="1965960"/>
            <a:ext cx="3453840" cy="3245760"/>
          </a:xfrm>
          <a:prstGeom prst="roundRect">
            <a:avLst>
              <a:gd name="adj" fmla="val 2254"/>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352146014" name="Text 12"/>
          <p:cNvSpPr/>
          <p:nvPr/>
        </p:nvSpPr>
        <p:spPr bwMode="auto">
          <a:xfrm>
            <a:off x="8417520" y="2148840"/>
            <a:ext cx="299664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3400" b="1" u="none" strike="noStrike">
                <a:solidFill>
                  <a:srgbClr val="FF7A29"/>
                </a:solidFill>
                <a:latin typeface="Calibri"/>
                <a:ea typeface="Calibri"/>
              </a:rPr>
              <a:t>03</a:t>
            </a:r>
            <a:endParaRPr lang="es-ES" sz="3400" b="0" u="none" strike="noStrike">
              <a:solidFill>
                <a:srgbClr val="000000"/>
              </a:solidFill>
              <a:latin typeface="Arial"/>
            </a:endParaRPr>
          </a:p>
        </p:txBody>
      </p:sp>
      <p:sp>
        <p:nvSpPr>
          <p:cNvPr id="191892133" name="Text 13"/>
          <p:cNvSpPr/>
          <p:nvPr/>
        </p:nvSpPr>
        <p:spPr bwMode="auto">
          <a:xfrm>
            <a:off x="8417520" y="2834640"/>
            <a:ext cx="2996640" cy="685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8000"/>
              </a:lnSpc>
              <a:tabLst>
                <a:tab pos="0" algn="l"/>
              </a:tabLst>
              <a:defRPr/>
            </a:pPr>
            <a:r>
              <a:rPr lang="en-US" sz="1450" b="1" u="none" strike="noStrike">
                <a:solidFill>
                  <a:srgbClr val="0B1E3D"/>
                </a:solidFill>
                <a:latin typeface="Calibri"/>
                <a:ea typeface="Calibri"/>
              </a:rPr>
              <a:t>Posición consolidada en 5 categorías</a:t>
            </a:r>
            <a:endParaRPr lang="es-ES" sz="1450" b="0" u="none" strike="noStrike">
              <a:solidFill>
                <a:srgbClr val="000000"/>
              </a:solidFill>
              <a:latin typeface="Arial"/>
            </a:endParaRPr>
          </a:p>
        </p:txBody>
      </p:sp>
      <p:sp>
        <p:nvSpPr>
          <p:cNvPr id="1845436001" name="Text 14"/>
          <p:cNvSpPr/>
          <p:nvPr/>
        </p:nvSpPr>
        <p:spPr bwMode="auto">
          <a:xfrm>
            <a:off x="8417520" y="3566160"/>
            <a:ext cx="299664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8000"/>
              </a:lnSpc>
              <a:tabLst>
                <a:tab pos="0" algn="l"/>
              </a:tabLst>
              <a:defRPr/>
            </a:pPr>
            <a:r>
              <a:rPr lang="en-US" sz="1150" b="0" u="none" strike="noStrike">
                <a:solidFill>
                  <a:srgbClr val="12203D"/>
                </a:solidFill>
                <a:latin typeface="Calibri"/>
                <a:ea typeface="Calibri"/>
              </a:rPr>
              <a:t>Las combinaciones híbridas poco frecuentes ("SG-PF", "SG-PG-SF") se resolvieron a la posición principal, dejando C, PF, SF, SG y PG con tamaños de muestra comparables.</a:t>
            </a:r>
            <a:endParaRPr lang="es-ES" sz="1150" b="0" u="none" strike="noStrike">
              <a:solidFill>
                <a:srgbClr val="000000"/>
              </a:solidFill>
              <a:latin typeface="Arial"/>
            </a:endParaRPr>
          </a:p>
        </p:txBody>
      </p:sp>
      <p:sp>
        <p:nvSpPr>
          <p:cNvPr id="793015045" name="Shape 15"/>
          <p:cNvSpPr/>
          <p:nvPr/>
        </p:nvSpPr>
        <p:spPr bwMode="auto">
          <a:xfrm>
            <a:off x="548640" y="5440680"/>
            <a:ext cx="11094120" cy="776879"/>
          </a:xfrm>
          <a:prstGeom prst="roundRect">
            <a:avLst>
              <a:gd name="adj" fmla="val 9412"/>
            </a:avLst>
          </a:prstGeom>
          <a:solidFill>
            <a:srgbClr val="0B1E3D"/>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FFFFFF"/>
              </a:solidFill>
              <a:latin typeface="Arial"/>
            </a:endParaRPr>
          </a:p>
        </p:txBody>
      </p:sp>
      <p:sp>
        <p:nvSpPr>
          <p:cNvPr id="1519042506" name="Text 16"/>
          <p:cNvSpPr/>
          <p:nvPr/>
        </p:nvSpPr>
        <p:spPr bwMode="auto">
          <a:xfrm>
            <a:off x="822960" y="5440680"/>
            <a:ext cx="1054548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14999"/>
              </a:lnSpc>
              <a:tabLst>
                <a:tab pos="0" algn="l"/>
              </a:tabLst>
              <a:defRPr/>
            </a:pPr>
            <a:r>
              <a:rPr lang="en-US" sz="1250" b="1" u="none" strike="noStrike">
                <a:solidFill>
                  <a:srgbClr val="FF7A29"/>
                </a:solidFill>
                <a:latin typeface="Calibri"/>
                <a:ea typeface="Calibri"/>
              </a:rPr>
              <a:t>Resultado:  </a:t>
            </a:r>
            <a:r>
              <a:rPr lang="en-US" sz="1250" b="0" u="none" strike="noStrike">
                <a:solidFill>
                  <a:srgbClr val="FFFFFF"/>
                </a:solidFill>
                <a:latin typeface="Calibri"/>
                <a:ea typeface="Calibri"/>
              </a:rPr>
              <a:t>99,80% de celdas completas. Los NA bajan a 1.578 celdas (0,20%) concentradas en 3 columnas de porcentaje de tiro, y todas las métricas avanzadas quedan sin ningún valor faltante.</a:t>
            </a:r>
            <a:endParaRPr lang="es-ES" sz="1250" b="0" u="none" strike="noStrike">
              <a:solidFill>
                <a:srgbClr val="000000"/>
              </a:solidFill>
              <a:latin typeface="Arial"/>
            </a:endParaRPr>
          </a:p>
        </p:txBody>
      </p:sp>
      <p:pic>
        <p:nvPicPr>
          <p:cNvPr id="1512744639" name="Image 0" descr="/tmp/claude-0/-home-claude/c0a8783c-8817-5425-bc4f-190e5f64548a/scratchpad/work/icons/basketball_E1590F.png"/>
          <p:cNvPicPr/>
          <p:nvPr/>
        </p:nvPicPr>
        <p:blipFill rotWithShape="1">
          <a:blip r:embed="rId3"/>
          <a:stretch/>
        </p:blipFill>
        <p:spPr bwMode="auto">
          <a:xfrm>
            <a:off x="548640" y="6546960"/>
            <a:ext cx="145800" cy="145800"/>
          </a:xfrm>
          <a:prstGeom prst="rect">
            <a:avLst/>
          </a:prstGeom>
          <a:noFill/>
          <a:ln w="0">
            <a:noFill/>
          </a:ln>
        </p:spPr>
      </p:pic>
      <p:sp>
        <p:nvSpPr>
          <p:cNvPr id="642393294" name="Text 17"/>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01 · El dataset</a:t>
            </a:r>
            <a:endParaRPr lang="es-ES" sz="850" b="0" u="none" strike="noStrike">
              <a:solidFill>
                <a:srgbClr val="000000"/>
              </a:solidFill>
              <a:latin typeface="Arial"/>
            </a:endParaRPr>
          </a:p>
        </p:txBody>
      </p:sp>
      <p:sp>
        <p:nvSpPr>
          <p:cNvPr id="151996555" name="Text 18"/>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03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319449980"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01 · EL DATASET</a:t>
            </a:r>
            <a:endParaRPr lang="es-ES" sz="1150" b="0" u="none" strike="noStrike">
              <a:solidFill>
                <a:srgbClr val="000000"/>
              </a:solidFill>
              <a:latin typeface="Arial"/>
            </a:endParaRPr>
          </a:p>
        </p:txBody>
      </p:sp>
      <p:sp>
        <p:nvSpPr>
          <p:cNvPr id="1576408916"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Diccionario de datos — 10 variables clave</a:t>
            </a:r>
            <a:endParaRPr lang="es-ES" sz="2900" b="0" u="none" strike="noStrike">
              <a:solidFill>
                <a:srgbClr val="000000"/>
              </a:solidFill>
              <a:latin typeface="Arial"/>
            </a:endParaRPr>
          </a:p>
        </p:txBody>
      </p:sp>
      <p:sp>
        <p:nvSpPr>
          <p:cNvPr id="1758101504" name="Text 2"/>
          <p:cNvSpPr/>
          <p:nvPr/>
        </p:nvSpPr>
        <p:spPr bwMode="auto">
          <a:xfrm>
            <a:off x="548640" y="1353240"/>
            <a:ext cx="110941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Varias columnas empiezan por "porc_" pero no todas comparten escala: unas son fracciones 0–1 y otras, puntos porcentuales 0–100. La tabla completa cubre las 55 variables del dataset; esta selección guía el análisis.</a:t>
            </a:r>
            <a:endParaRPr lang="es-ES" sz="1350" b="0" u="none" strike="noStrike">
              <a:solidFill>
                <a:srgbClr val="000000"/>
              </a:solidFill>
              <a:latin typeface="Arial"/>
            </a:endParaRPr>
          </a:p>
        </p:txBody>
      </p:sp>
      <p:graphicFrame>
        <p:nvGraphicFramePr>
          <p:cNvPr id="175285730" name="Table 0"/>
          <p:cNvGraphicFramePr>
            <a:graphicFrameLocks xmlns:a="http://schemas.openxmlformats.org/drawingml/2006/main"/>
          </p:cNvGraphicFramePr>
          <p:nvPr/>
        </p:nvGraphicFramePr>
        <p:xfrm rot="0">
          <a:off x="548640" y="2103120"/>
          <a:ext cx="11094120" cy="4301640"/>
        </p:xfrm>
        <a:graphic>
          <a:graphicData uri="http://schemas.openxmlformats.org/drawingml/2006/table">
            <a:tbl>
              <a:tblPr firstRow="0" firstCol="0" lastRow="0" lastCol="0" bandRow="0" bandCol="0"/>
              <a:tblGrid>
                <a:gridCol w="2468880"/>
                <a:gridCol w="6400800"/>
                <a:gridCol w="2224440"/>
              </a:tblGrid>
              <a:tr h="255960">
                <a:tc>
                  <a:txBody>
                    <a:bodyPr/>
                    <a:p>
                      <a:pPr defTabSz="914400">
                        <a:lnSpc>
                          <a:spcPct val="100000"/>
                        </a:lnSpc>
                        <a:tabLst>
                          <a:tab pos="0" algn="l"/>
                        </a:tabLst>
                        <a:defRPr/>
                      </a:pPr>
                      <a:r>
                        <a:rPr lang="en-US" sz="1150" b="1" u="none" strike="noStrike">
                          <a:solidFill>
                            <a:srgbClr val="FFFFFF"/>
                          </a:solidFill>
                          <a:latin typeface="Calibri"/>
                          <a:ea typeface="Calibri"/>
                        </a:rPr>
                        <a:t>Variable</a:t>
                      </a:r>
                      <a:endParaRPr lang="es-ES" sz="11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1150" b="1" u="none" strike="noStrike">
                          <a:solidFill>
                            <a:srgbClr val="FFFFFF"/>
                          </a:solidFill>
                          <a:latin typeface="Calibri"/>
                          <a:ea typeface="Calibri"/>
                        </a:rPr>
                        <a:t>Qué representa</a:t>
                      </a:r>
                      <a:endParaRPr lang="es-ES" sz="11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1150" b="1" u="none" strike="noStrike">
                          <a:solidFill>
                            <a:srgbClr val="FFFFFF"/>
                          </a:solidFill>
                          <a:latin typeface="Calibri"/>
                          <a:ea typeface="Calibri"/>
                        </a:rPr>
                        <a:t>Escala</a:t>
                      </a:r>
                      <a:endParaRPr lang="es-ES" sz="11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VORP</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Valor acumulado del jugador respecto a un jugador de reemplazo de nivel mínimo.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Puede ser negativo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Puntos por partido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Puntos anotados por partido.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Conteo por partido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Minutos totales</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Minutos totales jugados en la temporada.</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100 – 3.533 (filtro de depuración)</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TS%</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Pondera tiros de 2, 3 y libres en una sola medida de eficiencia anotadora.</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Fracción 0.0 – 1.0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USG%</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 estimado de jugadas del equipo "usadas" por el jugador en cancha.</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Puntos porcentuales 0-100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TRB%</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 estimado de rebotes totales disponibles capturados.</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Puntos porcentuales 0-100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AST%</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 estimado de canastas de compañeros asistidas en cancha.</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Puntos porcentuales 0-100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 intentos de triple</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Proporción de los intentos de campo que fueron de triple.</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Fracción 0.0 – 1.0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DBPM</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Box Plus/Minus defensivo: impacto defensivo en puntos por 100 posesiones.</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Puede ser negativo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97440">
                <a:tc>
                  <a:txBody>
                    <a:bodyPr/>
                    <a:p>
                      <a:pPr defTabSz="914400">
                        <a:lnSpc>
                          <a:spcPct val="100000"/>
                        </a:lnSpc>
                        <a:tabLst>
                          <a:tab pos="0" algn="l"/>
                        </a:tabLst>
                        <a:defRPr/>
                      </a:pPr>
                      <a:r>
                        <a:rPr lang="en-US" sz="1200" b="0" u="none" strike="noStrike">
                          <a:solidFill>
                            <a:srgbClr val="12203D"/>
                          </a:solidFill>
                          <a:latin typeface="Calibri"/>
                          <a:ea typeface="Calibri"/>
                        </a:rPr>
                        <a:t>% victorias del equipo</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Porcentaje de victorias del equipo del jugador esa temporada.</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1200" b="0" u="none" strike="noStrike">
                          <a:solidFill>
                            <a:srgbClr val="12203D"/>
                          </a:solidFill>
                          <a:latin typeface="Calibri"/>
                          <a:ea typeface="Calibri"/>
                        </a:rPr>
                        <a:t>Fracción 0.0 – 1.0</a:t>
                      </a:r>
                      <a:endParaRPr lang="es-ES" sz="12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bl>
          </a:graphicData>
        </a:graphic>
      </p:graphicFrame>
      <p:pic>
        <p:nvPicPr>
          <p:cNvPr id="2083340933" name="Image 0" descr="/tmp/claude-0/-home-claude/c0a8783c-8817-5425-bc4f-190e5f64548a/scratchpad/work/icons/basketball_E1590F.png"/>
          <p:cNvPicPr/>
          <p:nvPr/>
        </p:nvPicPr>
        <p:blipFill rotWithShape="1">
          <a:blip r:embed="rId3"/>
          <a:stretch/>
        </p:blipFill>
        <p:spPr bwMode="auto">
          <a:xfrm>
            <a:off x="548640" y="6546960"/>
            <a:ext cx="145800" cy="145800"/>
          </a:xfrm>
          <a:prstGeom prst="rect">
            <a:avLst/>
          </a:prstGeom>
          <a:noFill/>
          <a:ln w="0">
            <a:noFill/>
          </a:ln>
        </p:spPr>
      </p:pic>
      <p:sp>
        <p:nvSpPr>
          <p:cNvPr id="2070309710" name="Text 3"/>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01 · El dataset</a:t>
            </a:r>
            <a:endParaRPr lang="es-ES" sz="850" b="0" u="none" strike="noStrike">
              <a:solidFill>
                <a:srgbClr val="000000"/>
              </a:solidFill>
              <a:latin typeface="Arial"/>
            </a:endParaRPr>
          </a:p>
        </p:txBody>
      </p:sp>
      <p:sp>
        <p:nvSpPr>
          <p:cNvPr id="1515567688" name="Text 4"/>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04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448557649"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02 · ANÁLISIS UNIVARIADO</a:t>
            </a:r>
            <a:endParaRPr lang="es-ES" sz="1150" b="0" u="none" strike="noStrike">
              <a:solidFill>
                <a:srgbClr val="000000"/>
              </a:solidFill>
              <a:latin typeface="Arial"/>
            </a:endParaRPr>
          </a:p>
        </p:txBody>
      </p:sp>
      <p:sp>
        <p:nvSpPr>
          <p:cNvPr id="1145682191"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¿Por qué estas 10 variables clave?</a:t>
            </a:r>
            <a:endParaRPr lang="es-ES" sz="2900" b="0" u="none" strike="noStrike">
              <a:solidFill>
                <a:srgbClr val="000000"/>
              </a:solidFill>
              <a:latin typeface="Arial"/>
            </a:endParaRPr>
          </a:p>
        </p:txBody>
      </p:sp>
      <p:sp>
        <p:nvSpPr>
          <p:cNvPr id="1665310454" name="Text 2"/>
          <p:cNvSpPr/>
          <p:nvPr/>
        </p:nvSpPr>
        <p:spPr bwMode="auto">
          <a:xfrm>
            <a:off x="548640" y="1353240"/>
            <a:ext cx="1109412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De 51 variables numéricas se eligieron 10 —una por dimensión del juego— por su aporte de información independiente (importancia en modelos, cargas de componentes principales y comunalidad).</a:t>
            </a:r>
            <a:endParaRPr lang="es-ES" sz="1350" b="0" u="none" strike="noStrike">
              <a:solidFill>
                <a:srgbClr val="000000"/>
              </a:solidFill>
              <a:latin typeface="Arial"/>
            </a:endParaRPr>
          </a:p>
        </p:txBody>
      </p:sp>
      <p:sp>
        <p:nvSpPr>
          <p:cNvPr id="1605939042" name="Text 3"/>
          <p:cNvSpPr/>
          <p:nvPr/>
        </p:nvSpPr>
        <p:spPr bwMode="auto">
          <a:xfrm>
            <a:off x="548640" y="214884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1. Valor global</a:t>
            </a:r>
            <a:endParaRPr lang="es-ES" sz="1350" b="0" u="none" strike="noStrike">
              <a:solidFill>
                <a:srgbClr val="000000"/>
              </a:solidFill>
              <a:latin typeface="Arial"/>
            </a:endParaRPr>
          </a:p>
        </p:txBody>
      </p:sp>
      <p:sp>
        <p:nvSpPr>
          <p:cNvPr id="27600711" name="Text 4"/>
          <p:cNvSpPr/>
          <p:nvPr/>
        </p:nvSpPr>
        <p:spPr bwMode="auto">
          <a:xfrm>
            <a:off x="548640" y="241416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VORP: predictor #1 del MVP (importancia 0.127, el doble del #2)</a:t>
            </a:r>
            <a:endParaRPr lang="es-ES" sz="1150" b="0" u="none" strike="noStrike">
              <a:solidFill>
                <a:srgbClr val="000000"/>
              </a:solidFill>
              <a:latin typeface="Arial"/>
            </a:endParaRPr>
          </a:p>
        </p:txBody>
      </p:sp>
      <p:sp>
        <p:nvSpPr>
          <p:cNvPr id="1607726682" name="Text 5"/>
          <p:cNvSpPr/>
          <p:nvPr/>
        </p:nvSpPr>
        <p:spPr bwMode="auto">
          <a:xfrm>
            <a:off x="548640" y="299016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2. Producción</a:t>
            </a:r>
            <a:endParaRPr lang="es-ES" sz="1350" b="0" u="none" strike="noStrike">
              <a:solidFill>
                <a:srgbClr val="000000"/>
              </a:solidFill>
              <a:latin typeface="Arial"/>
            </a:endParaRPr>
          </a:p>
        </p:txBody>
      </p:sp>
      <p:sp>
        <p:nvSpPr>
          <p:cNvPr id="313659552" name="Text 6"/>
          <p:cNvSpPr/>
          <p:nvPr/>
        </p:nvSpPr>
        <p:spPr bwMode="auto">
          <a:xfrm>
            <a:off x="548640" y="325512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Puntos/partido: comunalidad más alta del dataset (0.95) y carga máxima en PC1</a:t>
            </a:r>
            <a:endParaRPr lang="es-ES" sz="1150" b="0" u="none" strike="noStrike">
              <a:solidFill>
                <a:srgbClr val="000000"/>
              </a:solidFill>
              <a:latin typeface="Arial"/>
            </a:endParaRPr>
          </a:p>
        </p:txBody>
      </p:sp>
      <p:sp>
        <p:nvSpPr>
          <p:cNvPr id="1756029676" name="Text 7"/>
          <p:cNvSpPr/>
          <p:nvPr/>
        </p:nvSpPr>
        <p:spPr bwMode="auto">
          <a:xfrm>
            <a:off x="548640" y="383148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3. Oportunidad</a:t>
            </a:r>
            <a:endParaRPr lang="es-ES" sz="1350" b="0" u="none" strike="noStrike">
              <a:solidFill>
                <a:srgbClr val="000000"/>
              </a:solidFill>
              <a:latin typeface="Arial"/>
            </a:endParaRPr>
          </a:p>
        </p:txBody>
      </p:sp>
      <p:sp>
        <p:nvSpPr>
          <p:cNvPr id="838357528" name="Text 8"/>
          <p:cNvSpPr/>
          <p:nvPr/>
        </p:nvSpPr>
        <p:spPr bwMode="auto">
          <a:xfrm>
            <a:off x="548640" y="409644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Minutos totales: predictor #1 de Win Shares (importancia 0.345)</a:t>
            </a:r>
            <a:endParaRPr lang="es-ES" sz="1150" b="0" u="none" strike="noStrike">
              <a:solidFill>
                <a:srgbClr val="000000"/>
              </a:solidFill>
              <a:latin typeface="Arial"/>
            </a:endParaRPr>
          </a:p>
        </p:txBody>
      </p:sp>
      <p:sp>
        <p:nvSpPr>
          <p:cNvPr id="1870940759" name="Text 9"/>
          <p:cNvSpPr/>
          <p:nvPr/>
        </p:nvSpPr>
        <p:spPr bwMode="auto">
          <a:xfrm>
            <a:off x="548640" y="467244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4. Eficiencia</a:t>
            </a:r>
            <a:endParaRPr lang="es-ES" sz="1350" b="0" u="none" strike="noStrike">
              <a:solidFill>
                <a:srgbClr val="000000"/>
              </a:solidFill>
              <a:latin typeface="Arial"/>
            </a:endParaRPr>
          </a:p>
        </p:txBody>
      </p:sp>
      <p:sp>
        <p:nvSpPr>
          <p:cNvPr id="874683906" name="Text 10"/>
          <p:cNvSpPr/>
          <p:nvPr/>
        </p:nvSpPr>
        <p:spPr bwMode="auto">
          <a:xfrm>
            <a:off x="548640" y="493776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TS%: #1 para VORP; solo r=0.11 con el uso (independiente del volumen de tiro)</a:t>
            </a:r>
            <a:endParaRPr lang="es-ES" sz="1150" b="0" u="none" strike="noStrike">
              <a:solidFill>
                <a:srgbClr val="000000"/>
              </a:solidFill>
              <a:latin typeface="Arial"/>
            </a:endParaRPr>
          </a:p>
        </p:txBody>
      </p:sp>
      <p:sp>
        <p:nvSpPr>
          <p:cNvPr id="1952771213" name="Text 11"/>
          <p:cNvSpPr/>
          <p:nvPr/>
        </p:nvSpPr>
        <p:spPr bwMode="auto">
          <a:xfrm>
            <a:off x="548640" y="551376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5. Rol</a:t>
            </a:r>
            <a:endParaRPr lang="es-ES" sz="1350" b="0" u="none" strike="noStrike">
              <a:solidFill>
                <a:srgbClr val="000000"/>
              </a:solidFill>
              <a:latin typeface="Arial"/>
            </a:endParaRPr>
          </a:p>
        </p:txBody>
      </p:sp>
      <p:sp>
        <p:nvSpPr>
          <p:cNvPr id="330304579" name="Text 12"/>
          <p:cNvSpPr/>
          <p:nvPr/>
        </p:nvSpPr>
        <p:spPr bwMode="auto">
          <a:xfrm>
            <a:off x="548640" y="577908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USG%: forma cluster propio; r=0.73 con puntos/partido</a:t>
            </a:r>
            <a:endParaRPr lang="es-ES" sz="1150" b="0" u="none" strike="noStrike">
              <a:solidFill>
                <a:srgbClr val="000000"/>
              </a:solidFill>
              <a:latin typeface="Arial"/>
            </a:endParaRPr>
          </a:p>
        </p:txBody>
      </p:sp>
      <p:sp>
        <p:nvSpPr>
          <p:cNvPr id="2086220747" name="Text 13"/>
          <p:cNvSpPr/>
          <p:nvPr/>
        </p:nvSpPr>
        <p:spPr bwMode="auto">
          <a:xfrm>
            <a:off x="6324480" y="214884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6. Interior</a:t>
            </a:r>
            <a:endParaRPr lang="es-ES" sz="1350" b="0" u="none" strike="noStrike">
              <a:solidFill>
                <a:srgbClr val="000000"/>
              </a:solidFill>
              <a:latin typeface="Arial"/>
            </a:endParaRPr>
          </a:p>
        </p:txBody>
      </p:sp>
      <p:sp>
        <p:nvSpPr>
          <p:cNvPr id="98859215" name="Text 14"/>
          <p:cNvSpPr/>
          <p:nvPr/>
        </p:nvSpPr>
        <p:spPr bwMode="auto">
          <a:xfrm>
            <a:off x="6324480" y="241416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TRB%: carga máxima en PC2 (0.89); no depende de minutos jugados</a:t>
            </a:r>
            <a:endParaRPr lang="es-ES" sz="1150" b="0" u="none" strike="noStrike">
              <a:solidFill>
                <a:srgbClr val="000000"/>
              </a:solidFill>
              <a:latin typeface="Arial"/>
            </a:endParaRPr>
          </a:p>
        </p:txBody>
      </p:sp>
      <p:sp>
        <p:nvSpPr>
          <p:cNvPr id="944102525" name="Text 15"/>
          <p:cNvSpPr/>
          <p:nvPr/>
        </p:nvSpPr>
        <p:spPr bwMode="auto">
          <a:xfrm>
            <a:off x="6324480" y="299016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7. Creación</a:t>
            </a:r>
            <a:endParaRPr lang="es-ES" sz="1350" b="0" u="none" strike="noStrike">
              <a:solidFill>
                <a:srgbClr val="000000"/>
              </a:solidFill>
              <a:latin typeface="Arial"/>
            </a:endParaRPr>
          </a:p>
        </p:txBody>
      </p:sp>
      <p:sp>
        <p:nvSpPr>
          <p:cNvPr id="1824078664" name="Text 16"/>
          <p:cNvSpPr/>
          <p:nvPr/>
        </p:nvSpPr>
        <p:spPr bwMode="auto">
          <a:xfrm>
            <a:off x="6324480" y="325512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AST%: cluster propio; carga -0.64 en PC2</a:t>
            </a:r>
            <a:endParaRPr lang="es-ES" sz="1150" b="0" u="none" strike="noStrike">
              <a:solidFill>
                <a:srgbClr val="000000"/>
              </a:solidFill>
              <a:latin typeface="Arial"/>
            </a:endParaRPr>
          </a:p>
        </p:txBody>
      </p:sp>
      <p:sp>
        <p:nvSpPr>
          <p:cNvPr id="555069934" name="Text 17"/>
          <p:cNvSpPr/>
          <p:nvPr/>
        </p:nvSpPr>
        <p:spPr bwMode="auto">
          <a:xfrm>
            <a:off x="6324480" y="383148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8. Estilo/época</a:t>
            </a:r>
            <a:endParaRPr lang="es-ES" sz="1350" b="0" u="none" strike="noStrike">
              <a:solidFill>
                <a:srgbClr val="000000"/>
              </a:solidFill>
              <a:latin typeface="Arial"/>
            </a:endParaRPr>
          </a:p>
        </p:txBody>
      </p:sp>
      <p:sp>
        <p:nvSpPr>
          <p:cNvPr id="2093759656" name="Text 18"/>
          <p:cNvSpPr/>
          <p:nvPr/>
        </p:nvSpPr>
        <p:spPr bwMode="auto">
          <a:xfrm>
            <a:off x="6324480" y="409644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 intentos de triple: r=0.50 con la temporada; sin problema de NA</a:t>
            </a:r>
            <a:endParaRPr lang="es-ES" sz="1150" b="0" u="none" strike="noStrike">
              <a:solidFill>
                <a:srgbClr val="000000"/>
              </a:solidFill>
              <a:latin typeface="Arial"/>
            </a:endParaRPr>
          </a:p>
        </p:txBody>
      </p:sp>
      <p:sp>
        <p:nvSpPr>
          <p:cNvPr id="1368425537" name="Text 19"/>
          <p:cNvSpPr/>
          <p:nvPr/>
        </p:nvSpPr>
        <p:spPr bwMode="auto">
          <a:xfrm>
            <a:off x="6324480" y="467244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9. Defensa</a:t>
            </a:r>
            <a:endParaRPr lang="es-ES" sz="1350" b="0" u="none" strike="noStrike">
              <a:solidFill>
                <a:srgbClr val="000000"/>
              </a:solidFill>
              <a:latin typeface="Arial"/>
            </a:endParaRPr>
          </a:p>
        </p:txBody>
      </p:sp>
      <p:sp>
        <p:nvSpPr>
          <p:cNvPr id="1681425060" name="Text 20"/>
          <p:cNvSpPr/>
          <p:nvPr/>
        </p:nvSpPr>
        <p:spPr bwMode="auto">
          <a:xfrm>
            <a:off x="6324480" y="493776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DBPM: única dimensión defensiva (ρ=0.40 con VORP); sin ella el análisis sería solo ofensivo</a:t>
            </a:r>
            <a:endParaRPr lang="es-ES" sz="1150" b="0" u="none" strike="noStrike">
              <a:solidFill>
                <a:srgbClr val="000000"/>
              </a:solidFill>
              <a:latin typeface="Arial"/>
            </a:endParaRPr>
          </a:p>
        </p:txBody>
      </p:sp>
      <p:sp>
        <p:nvSpPr>
          <p:cNvPr id="2051922590" name="Text 21"/>
          <p:cNvSpPr/>
          <p:nvPr/>
        </p:nvSpPr>
        <p:spPr bwMode="auto">
          <a:xfrm>
            <a:off x="6324480" y="5513760"/>
            <a:ext cx="531828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E1590F"/>
                </a:solidFill>
                <a:latin typeface="Calibri"/>
                <a:ea typeface="Calibri"/>
              </a:rPr>
              <a:t>10. Contexto de equipo</a:t>
            </a:r>
            <a:endParaRPr lang="es-ES" sz="1350" b="0" u="none" strike="noStrike">
              <a:solidFill>
                <a:srgbClr val="000000"/>
              </a:solidFill>
              <a:latin typeface="Arial"/>
            </a:endParaRPr>
          </a:p>
        </p:txBody>
      </p:sp>
      <p:sp>
        <p:nvSpPr>
          <p:cNvPr id="840792697" name="Text 22"/>
          <p:cNvSpPr/>
          <p:nvPr/>
        </p:nvSpPr>
        <p:spPr bwMode="auto">
          <a:xfrm>
            <a:off x="6324480" y="5779080"/>
            <a:ext cx="531828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150" b="0" u="none" strike="noStrike">
                <a:solidFill>
                  <a:srgbClr val="12203D"/>
                </a:solidFill>
                <a:latin typeface="Calibri"/>
                <a:ea typeface="Calibri"/>
              </a:rPr>
              <a:t>% victorias: carga máxima en PC3 (0.73)</a:t>
            </a:r>
            <a:endParaRPr lang="es-ES" sz="1150" b="0" u="none" strike="noStrike">
              <a:solidFill>
                <a:srgbClr val="000000"/>
              </a:solidFill>
              <a:latin typeface="Arial"/>
            </a:endParaRPr>
          </a:p>
        </p:txBody>
      </p:sp>
      <p:pic>
        <p:nvPicPr>
          <p:cNvPr id="1005473589" name="Image 0" descr="/tmp/claude-0/-home-claude/c0a8783c-8817-5425-bc4f-190e5f64548a/scratchpad/work/icons/basketball_E1590F.png"/>
          <p:cNvPicPr/>
          <p:nvPr/>
        </p:nvPicPr>
        <p:blipFill rotWithShape="1">
          <a:blip r:embed="rId3"/>
          <a:stretch/>
        </p:blipFill>
        <p:spPr bwMode="auto">
          <a:xfrm>
            <a:off x="548640" y="6546960"/>
            <a:ext cx="145800" cy="145800"/>
          </a:xfrm>
          <a:prstGeom prst="rect">
            <a:avLst/>
          </a:prstGeom>
          <a:noFill/>
          <a:ln w="0">
            <a:noFill/>
          </a:ln>
        </p:spPr>
      </p:pic>
      <p:sp>
        <p:nvSpPr>
          <p:cNvPr id="1895776096" name="Text 23"/>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1738861131" name="Text 24"/>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05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87819915" name="Text 0"/>
          <p:cNvSpPr/>
          <p:nvPr/>
        </p:nvSpPr>
        <p:spPr bwMode="auto">
          <a:xfrm>
            <a:off x="548640" y="36499"/>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02 · ANÁLISIS UNIVARIADO</a:t>
            </a:r>
            <a:endParaRPr lang="es-ES" sz="1150" b="0" u="none" strike="noStrike">
              <a:solidFill>
                <a:srgbClr val="000000"/>
              </a:solidFill>
              <a:latin typeface="Arial"/>
            </a:endParaRPr>
          </a:p>
        </p:txBody>
      </p:sp>
      <p:sp>
        <p:nvSpPr>
          <p:cNvPr id="1005726972" name="Text 1"/>
          <p:cNvSpPr/>
          <p:nvPr/>
        </p:nvSpPr>
        <p:spPr bwMode="auto">
          <a:xfrm>
            <a:off x="491489" y="357120"/>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Valor global y producción</a:t>
            </a:r>
            <a:endParaRPr lang="es-ES" sz="2900" b="0" u="none" strike="noStrike">
              <a:solidFill>
                <a:srgbClr val="000000"/>
              </a:solidFill>
              <a:latin typeface="Arial"/>
            </a:endParaRPr>
          </a:p>
        </p:txBody>
      </p:sp>
      <p:sp>
        <p:nvSpPr>
          <p:cNvPr id="1702702574" name="Text 2"/>
          <p:cNvSpPr/>
          <p:nvPr/>
        </p:nvSpPr>
        <p:spPr bwMode="auto">
          <a:xfrm>
            <a:off x="491489" y="851334"/>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VORP — Valor sobre el reemplazo</a:t>
            </a:r>
            <a:endParaRPr lang="es-ES" sz="1500" b="0" u="none" strike="noStrike">
              <a:solidFill>
                <a:srgbClr val="000000"/>
              </a:solidFill>
              <a:latin typeface="Arial"/>
            </a:endParaRPr>
          </a:p>
        </p:txBody>
      </p:sp>
      <p:sp>
        <p:nvSpPr>
          <p:cNvPr id="1557177011" name="Text 3"/>
          <p:cNvSpPr/>
          <p:nvPr/>
        </p:nvSpPr>
        <p:spPr bwMode="auto">
          <a:xfrm>
            <a:off x="445409" y="123490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0.781</a:t>
            </a:r>
            <a:endParaRPr lang="es-ES" sz="1300" b="0" u="none" strike="noStrike">
              <a:solidFill>
                <a:srgbClr val="000000"/>
              </a:solidFill>
              <a:latin typeface="Arial"/>
            </a:endParaRPr>
          </a:p>
        </p:txBody>
      </p:sp>
      <p:sp>
        <p:nvSpPr>
          <p:cNvPr id="448323026" name="Text 4"/>
          <p:cNvSpPr/>
          <p:nvPr/>
        </p:nvSpPr>
        <p:spPr bwMode="auto">
          <a:xfrm>
            <a:off x="445409" y="148186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1326101931" name="Text 5"/>
          <p:cNvSpPr/>
          <p:nvPr/>
        </p:nvSpPr>
        <p:spPr bwMode="auto">
          <a:xfrm>
            <a:off x="1331730" y="123490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0.3</a:t>
            </a:r>
            <a:endParaRPr lang="es-ES" sz="1300" b="0" u="none" strike="noStrike">
              <a:solidFill>
                <a:srgbClr val="000000"/>
              </a:solidFill>
              <a:latin typeface="Arial"/>
            </a:endParaRPr>
          </a:p>
        </p:txBody>
      </p:sp>
      <p:sp>
        <p:nvSpPr>
          <p:cNvPr id="16495028" name="Text 6"/>
          <p:cNvSpPr/>
          <p:nvPr/>
        </p:nvSpPr>
        <p:spPr bwMode="auto">
          <a:xfrm>
            <a:off x="1331730" y="148186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736880969" name="Text 7"/>
          <p:cNvSpPr/>
          <p:nvPr/>
        </p:nvSpPr>
        <p:spPr bwMode="auto">
          <a:xfrm>
            <a:off x="2218410" y="123490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1.476</a:t>
            </a:r>
            <a:endParaRPr lang="es-ES" sz="1300" b="0" u="none" strike="noStrike">
              <a:solidFill>
                <a:srgbClr val="000000"/>
              </a:solidFill>
              <a:latin typeface="Arial"/>
            </a:endParaRPr>
          </a:p>
        </p:txBody>
      </p:sp>
      <p:sp>
        <p:nvSpPr>
          <p:cNvPr id="1580665940" name="Text 8"/>
          <p:cNvSpPr/>
          <p:nvPr/>
        </p:nvSpPr>
        <p:spPr bwMode="auto">
          <a:xfrm>
            <a:off x="2218410" y="148186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204851238" name="Text 9"/>
          <p:cNvSpPr/>
          <p:nvPr/>
        </p:nvSpPr>
        <p:spPr bwMode="auto">
          <a:xfrm>
            <a:off x="3104730" y="123490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-2.6</a:t>
            </a:r>
            <a:endParaRPr lang="es-ES" sz="1300" b="0" u="none" strike="noStrike">
              <a:solidFill>
                <a:srgbClr val="000000"/>
              </a:solidFill>
              <a:latin typeface="Arial"/>
            </a:endParaRPr>
          </a:p>
        </p:txBody>
      </p:sp>
      <p:sp>
        <p:nvSpPr>
          <p:cNvPr id="1427303374" name="Text 10"/>
          <p:cNvSpPr/>
          <p:nvPr/>
        </p:nvSpPr>
        <p:spPr bwMode="auto">
          <a:xfrm>
            <a:off x="3104730" y="148186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807272123" name="Text 11"/>
          <p:cNvSpPr/>
          <p:nvPr/>
        </p:nvSpPr>
        <p:spPr bwMode="auto">
          <a:xfrm>
            <a:off x="3991050" y="123490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12.5</a:t>
            </a:r>
            <a:endParaRPr lang="es-ES" sz="1300" b="0" u="none" strike="noStrike">
              <a:solidFill>
                <a:srgbClr val="000000"/>
              </a:solidFill>
              <a:latin typeface="Arial"/>
            </a:endParaRPr>
          </a:p>
        </p:txBody>
      </p:sp>
      <p:sp>
        <p:nvSpPr>
          <p:cNvPr id="1070591576" name="Text 12"/>
          <p:cNvSpPr/>
          <p:nvPr/>
        </p:nvSpPr>
        <p:spPr bwMode="auto">
          <a:xfrm>
            <a:off x="3991050" y="148186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339334273" name="Text 13"/>
          <p:cNvSpPr/>
          <p:nvPr/>
        </p:nvSpPr>
        <p:spPr bwMode="auto">
          <a:xfrm>
            <a:off x="4615381" y="122518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2.173</a:t>
            </a:r>
            <a:endParaRPr lang="es-ES" sz="1300" b="0" u="none" strike="noStrike">
              <a:solidFill>
                <a:srgbClr val="000000"/>
              </a:solidFill>
              <a:latin typeface="Arial"/>
            </a:endParaRPr>
          </a:p>
        </p:txBody>
      </p:sp>
      <p:sp>
        <p:nvSpPr>
          <p:cNvPr id="1518459842" name="Text 14"/>
          <p:cNvSpPr/>
          <p:nvPr/>
        </p:nvSpPr>
        <p:spPr bwMode="auto">
          <a:xfrm>
            <a:off x="4615381" y="147214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pic>
        <p:nvPicPr>
          <p:cNvPr id="61415962" name="Image 0" descr="/tmp/claude-0/-home-claude/c0a8783c-8817-5425-bc4f-190e5f64548a/scratchpad/work/imgs/img_000.png"/>
          <p:cNvPicPr/>
          <p:nvPr/>
        </p:nvPicPr>
        <p:blipFill rotWithShape="1">
          <a:blip r:embed="rId3"/>
          <a:stretch/>
        </p:blipFill>
        <p:spPr bwMode="auto">
          <a:xfrm>
            <a:off x="621540" y="1764539"/>
            <a:ext cx="4603680" cy="2435400"/>
          </a:xfrm>
          <a:prstGeom prst="rect">
            <a:avLst/>
          </a:prstGeom>
          <a:noFill/>
          <a:ln w="0">
            <a:noFill/>
          </a:ln>
        </p:spPr>
      </p:pic>
      <p:sp>
        <p:nvSpPr>
          <p:cNvPr id="1502486900" name="Text 16"/>
          <p:cNvSpPr/>
          <p:nvPr/>
        </p:nvSpPr>
        <p:spPr bwMode="auto">
          <a:xfrm>
            <a:off x="491490" y="4257720"/>
            <a:ext cx="5318125" cy="630555"/>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Asimetría 2,17. Mediana 0,3 y P75 1,3: la mitad del dataset aporta un valor casi igual al de un jugador de reemplazo. El máximo llega a 12,5 — el valor se concentra en una minoría diminuta. El 32,0% tiene VORP negativo.</a:t>
            </a:r>
            <a:endParaRPr lang="es-ES" sz="1100" b="0" u="none" strike="noStrike">
              <a:solidFill>
                <a:srgbClr val="000000"/>
              </a:solidFill>
              <a:latin typeface="Arial"/>
            </a:endParaRPr>
          </a:p>
        </p:txBody>
      </p:sp>
      <p:sp>
        <p:nvSpPr>
          <p:cNvPr id="1814890488" name="Text 17"/>
          <p:cNvSpPr/>
          <p:nvPr/>
        </p:nvSpPr>
        <p:spPr bwMode="auto">
          <a:xfrm>
            <a:off x="6239509" y="951120"/>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Puntos por partido</a:t>
            </a:r>
            <a:endParaRPr lang="es-ES" sz="1500" b="0" u="none" strike="noStrike">
              <a:solidFill>
                <a:srgbClr val="000000"/>
              </a:solidFill>
              <a:latin typeface="Arial"/>
            </a:endParaRPr>
          </a:p>
        </p:txBody>
      </p:sp>
      <p:sp>
        <p:nvSpPr>
          <p:cNvPr id="2104155418" name="Text 18"/>
          <p:cNvSpPr/>
          <p:nvPr/>
        </p:nvSpPr>
        <p:spPr bwMode="auto">
          <a:xfrm>
            <a:off x="620904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9.405</a:t>
            </a:r>
            <a:endParaRPr lang="es-ES" sz="1300" b="0" u="none" strike="noStrike">
              <a:solidFill>
                <a:srgbClr val="000000"/>
              </a:solidFill>
              <a:latin typeface="Arial"/>
            </a:endParaRPr>
          </a:p>
        </p:txBody>
      </p:sp>
      <p:sp>
        <p:nvSpPr>
          <p:cNvPr id="1426582457" name="Text 19"/>
          <p:cNvSpPr/>
          <p:nvPr/>
        </p:nvSpPr>
        <p:spPr bwMode="auto">
          <a:xfrm>
            <a:off x="6209044" y="14536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1326561166" name="Text 20"/>
          <p:cNvSpPr/>
          <p:nvPr/>
        </p:nvSpPr>
        <p:spPr bwMode="auto">
          <a:xfrm>
            <a:off x="709536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7.9</a:t>
            </a:r>
            <a:endParaRPr lang="es-ES" sz="1300" b="0" u="none" strike="noStrike">
              <a:solidFill>
                <a:srgbClr val="000000"/>
              </a:solidFill>
              <a:latin typeface="Arial"/>
            </a:endParaRPr>
          </a:p>
        </p:txBody>
      </p:sp>
      <p:sp>
        <p:nvSpPr>
          <p:cNvPr id="1663988588" name="Text 21"/>
          <p:cNvSpPr/>
          <p:nvPr/>
        </p:nvSpPr>
        <p:spPr bwMode="auto">
          <a:xfrm>
            <a:off x="7095364" y="14536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230069488" name="Text 22"/>
          <p:cNvSpPr/>
          <p:nvPr/>
        </p:nvSpPr>
        <p:spPr bwMode="auto">
          <a:xfrm>
            <a:off x="798204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6.098</a:t>
            </a:r>
            <a:endParaRPr lang="es-ES" sz="1300" b="0" u="none" strike="noStrike">
              <a:solidFill>
                <a:srgbClr val="000000"/>
              </a:solidFill>
              <a:latin typeface="Arial"/>
            </a:endParaRPr>
          </a:p>
        </p:txBody>
      </p:sp>
      <p:sp>
        <p:nvSpPr>
          <p:cNvPr id="1985650189" name="Text 23"/>
          <p:cNvSpPr/>
          <p:nvPr/>
        </p:nvSpPr>
        <p:spPr bwMode="auto">
          <a:xfrm>
            <a:off x="7982044" y="14536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2134441587" name="Text 24"/>
          <p:cNvSpPr/>
          <p:nvPr/>
        </p:nvSpPr>
        <p:spPr bwMode="auto">
          <a:xfrm>
            <a:off x="886836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0.3</a:t>
            </a:r>
            <a:endParaRPr lang="es-ES" sz="1300" b="0" u="none" strike="noStrike">
              <a:solidFill>
                <a:srgbClr val="000000"/>
              </a:solidFill>
              <a:latin typeface="Arial"/>
            </a:endParaRPr>
          </a:p>
        </p:txBody>
      </p:sp>
      <p:sp>
        <p:nvSpPr>
          <p:cNvPr id="2036620884" name="Text 25"/>
          <p:cNvSpPr/>
          <p:nvPr/>
        </p:nvSpPr>
        <p:spPr bwMode="auto">
          <a:xfrm>
            <a:off x="8868364" y="14536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156608568" name="Text 26"/>
          <p:cNvSpPr/>
          <p:nvPr/>
        </p:nvSpPr>
        <p:spPr bwMode="auto">
          <a:xfrm>
            <a:off x="975468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37.1</a:t>
            </a:r>
            <a:endParaRPr lang="es-ES" sz="1300" b="0" u="none" strike="noStrike">
              <a:solidFill>
                <a:srgbClr val="000000"/>
              </a:solidFill>
              <a:latin typeface="Arial"/>
            </a:endParaRPr>
          </a:p>
        </p:txBody>
      </p:sp>
      <p:sp>
        <p:nvSpPr>
          <p:cNvPr id="354336626" name="Text 27"/>
          <p:cNvSpPr/>
          <p:nvPr/>
        </p:nvSpPr>
        <p:spPr bwMode="auto">
          <a:xfrm>
            <a:off x="9754684" y="14536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802038953" name="Text 28"/>
          <p:cNvSpPr/>
          <p:nvPr/>
        </p:nvSpPr>
        <p:spPr bwMode="auto">
          <a:xfrm>
            <a:off x="10641364" y="12067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0.952</a:t>
            </a:r>
            <a:endParaRPr lang="es-ES" sz="1300" b="0" u="none" strike="noStrike">
              <a:solidFill>
                <a:srgbClr val="000000"/>
              </a:solidFill>
              <a:latin typeface="Arial"/>
            </a:endParaRPr>
          </a:p>
        </p:txBody>
      </p:sp>
      <p:sp>
        <p:nvSpPr>
          <p:cNvPr id="2138614949" name="Text 29"/>
          <p:cNvSpPr/>
          <p:nvPr/>
        </p:nvSpPr>
        <p:spPr bwMode="auto">
          <a:xfrm>
            <a:off x="10606439" y="144478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pic>
        <p:nvPicPr>
          <p:cNvPr id="2029807601" name="Image 1" descr="/tmp/claude-0/-home-claude/c0a8783c-8817-5425-bc4f-190e5f64548a/scratchpad/work/imgs/img_002.png"/>
          <p:cNvPicPr/>
          <p:nvPr/>
        </p:nvPicPr>
        <p:blipFill rotWithShape="1">
          <a:blip r:embed="rId4"/>
          <a:stretch/>
        </p:blipFill>
        <p:spPr bwMode="auto">
          <a:xfrm>
            <a:off x="6157073" y="1664389"/>
            <a:ext cx="4603680" cy="2435400"/>
          </a:xfrm>
          <a:prstGeom prst="rect">
            <a:avLst/>
          </a:prstGeom>
          <a:noFill/>
          <a:ln w="0">
            <a:noFill/>
          </a:ln>
        </p:spPr>
      </p:pic>
      <p:sp>
        <p:nvSpPr>
          <p:cNvPr id="1235713940" name="Text 31"/>
          <p:cNvSpPr/>
          <p:nvPr/>
        </p:nvSpPr>
        <p:spPr bwMode="auto">
          <a:xfrm>
            <a:off x="6163324" y="4099789"/>
            <a:ext cx="5318280" cy="1431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Media 9,4, mediana 7,9, asimetría 0,95. Las cinco posiciones tienen medianas parecidas: anotar no es una función especializada del rol. Mide volumen, no eficiencia ni valor — se lee junto a TS% y USG%.</a:t>
            </a:r>
            <a:endParaRPr lang="es-ES" sz="1100" b="0" u="none" strike="noStrike">
              <a:solidFill>
                <a:srgbClr val="000000"/>
              </a:solidFill>
              <a:latin typeface="Arial"/>
            </a:endParaRPr>
          </a:p>
        </p:txBody>
      </p:sp>
      <p:pic>
        <p:nvPicPr>
          <p:cNvPr id="1846512377" name="Image 2" descr="/tmp/claude-0/-home-claude/c0a8783c-8817-5425-bc4f-190e5f64548a/scratchpad/work/icons/basketball_E1590F.png"/>
          <p:cNvPicPr/>
          <p:nvPr/>
        </p:nvPicPr>
        <p:blipFill rotWithShape="1">
          <a:blip r:embed="rId5"/>
          <a:stretch/>
        </p:blipFill>
        <p:spPr bwMode="auto">
          <a:xfrm>
            <a:off x="548640" y="6546960"/>
            <a:ext cx="145800" cy="145800"/>
          </a:xfrm>
          <a:prstGeom prst="rect">
            <a:avLst/>
          </a:prstGeom>
          <a:noFill/>
          <a:ln w="0">
            <a:noFill/>
          </a:ln>
        </p:spPr>
      </p:pic>
      <p:sp>
        <p:nvSpPr>
          <p:cNvPr id="1973988460" name="Text 32"/>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1624562643" name="Text 33"/>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06 / 23</a:t>
            </a:r>
            <a:endParaRPr lang="es-ES" sz="850" b="0" u="none" strike="noStrike">
              <a:solidFill>
                <a:srgbClr val="000000"/>
              </a:solidFill>
              <a:latin typeface="Arial"/>
            </a:endParaRPr>
          </a:p>
        </p:txBody>
      </p:sp>
      <p:pic>
        <p:nvPicPr>
          <p:cNvPr id="2004495272" name="Imagen 1"/>
          <p:cNvPicPr/>
          <p:nvPr/>
        </p:nvPicPr>
        <p:blipFill rotWithShape="1">
          <a:blip r:embed="rId6"/>
          <a:stretch/>
        </p:blipFill>
        <p:spPr bwMode="auto">
          <a:xfrm flipH="0" flipV="0">
            <a:off x="752314" y="4888275"/>
            <a:ext cx="4342129" cy="1426663"/>
          </a:xfrm>
          <a:prstGeom prst="rect">
            <a:avLst/>
          </a:prstGeom>
        </p:spPr>
      </p:pic>
      <p:pic>
        <p:nvPicPr>
          <p:cNvPr id="1758045603" name="Imagen 2"/>
          <p:cNvPicPr/>
          <p:nvPr/>
        </p:nvPicPr>
        <p:blipFill rotWithShape="1">
          <a:blip r:embed="rId7"/>
          <a:stretch/>
        </p:blipFill>
        <p:spPr bwMode="auto">
          <a:xfrm flipH="0" flipV="0">
            <a:off x="6239509" y="4717142"/>
            <a:ext cx="4787264" cy="166007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769373950" name="Text 1"/>
          <p:cNvSpPr/>
          <p:nvPr/>
        </p:nvSpPr>
        <p:spPr bwMode="auto">
          <a:xfrm flipH="0" flipV="0">
            <a:off x="3847654" y="192804"/>
            <a:ext cx="382136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Oportunidad y eficiencia</a:t>
            </a:r>
            <a:endParaRPr lang="es-ES" sz="2900" b="0" u="none" strike="noStrike">
              <a:solidFill>
                <a:srgbClr val="000000"/>
              </a:solidFill>
              <a:latin typeface="Arial"/>
            </a:endParaRPr>
          </a:p>
        </p:txBody>
      </p:sp>
      <p:sp>
        <p:nvSpPr>
          <p:cNvPr id="1649544698" name="Text 2"/>
          <p:cNvSpPr/>
          <p:nvPr/>
        </p:nvSpPr>
        <p:spPr bwMode="auto">
          <a:xfrm>
            <a:off x="485775" y="705264"/>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Minutos totales en la temporada</a:t>
            </a:r>
            <a:endParaRPr lang="es-ES" sz="1500" b="0" u="none" strike="noStrike">
              <a:solidFill>
                <a:srgbClr val="000000"/>
              </a:solidFill>
              <a:latin typeface="Arial"/>
            </a:endParaRPr>
          </a:p>
        </p:txBody>
      </p:sp>
      <p:sp>
        <p:nvSpPr>
          <p:cNvPr id="1293800289" name="Text 3"/>
          <p:cNvSpPr/>
          <p:nvPr/>
        </p:nvSpPr>
        <p:spPr bwMode="auto">
          <a:xfrm>
            <a:off x="48577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1442.6</a:t>
            </a:r>
            <a:endParaRPr lang="es-ES" sz="1300" b="0" u="none" strike="noStrike">
              <a:solidFill>
                <a:srgbClr val="000000"/>
              </a:solidFill>
              <a:latin typeface="Arial"/>
            </a:endParaRPr>
          </a:p>
        </p:txBody>
      </p:sp>
      <p:sp>
        <p:nvSpPr>
          <p:cNvPr id="1031104851" name="Text 4"/>
          <p:cNvSpPr/>
          <p:nvPr/>
        </p:nvSpPr>
        <p:spPr bwMode="auto">
          <a:xfrm>
            <a:off x="48577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1484593618" name="Text 5"/>
          <p:cNvSpPr/>
          <p:nvPr/>
        </p:nvSpPr>
        <p:spPr bwMode="auto">
          <a:xfrm>
            <a:off x="137209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1407</a:t>
            </a:r>
            <a:endParaRPr lang="es-ES" sz="1300" b="0" u="none" strike="noStrike">
              <a:solidFill>
                <a:srgbClr val="000000"/>
              </a:solidFill>
              <a:latin typeface="Arial"/>
            </a:endParaRPr>
          </a:p>
        </p:txBody>
      </p:sp>
      <p:sp>
        <p:nvSpPr>
          <p:cNvPr id="2107689029" name="Text 6"/>
          <p:cNvSpPr/>
          <p:nvPr/>
        </p:nvSpPr>
        <p:spPr bwMode="auto">
          <a:xfrm>
            <a:off x="137209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397367682" name="Text 7"/>
          <p:cNvSpPr/>
          <p:nvPr/>
        </p:nvSpPr>
        <p:spPr bwMode="auto">
          <a:xfrm>
            <a:off x="225877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867.4</a:t>
            </a:r>
            <a:endParaRPr lang="es-ES" sz="1300" b="0" u="none" strike="noStrike">
              <a:solidFill>
                <a:srgbClr val="000000"/>
              </a:solidFill>
              <a:latin typeface="Arial"/>
            </a:endParaRPr>
          </a:p>
        </p:txBody>
      </p:sp>
      <p:sp>
        <p:nvSpPr>
          <p:cNvPr id="2042815914" name="Text 8"/>
          <p:cNvSpPr/>
          <p:nvPr/>
        </p:nvSpPr>
        <p:spPr bwMode="auto">
          <a:xfrm>
            <a:off x="225877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582435893" name="Text 9"/>
          <p:cNvSpPr/>
          <p:nvPr/>
        </p:nvSpPr>
        <p:spPr bwMode="auto">
          <a:xfrm>
            <a:off x="314509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100</a:t>
            </a:r>
            <a:endParaRPr lang="es-ES" sz="1300" b="0" u="none" strike="noStrike">
              <a:solidFill>
                <a:srgbClr val="000000"/>
              </a:solidFill>
              <a:latin typeface="Arial"/>
            </a:endParaRPr>
          </a:p>
        </p:txBody>
      </p:sp>
      <p:sp>
        <p:nvSpPr>
          <p:cNvPr id="580037309" name="Text 10"/>
          <p:cNvSpPr/>
          <p:nvPr/>
        </p:nvSpPr>
        <p:spPr bwMode="auto">
          <a:xfrm>
            <a:off x="314509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711093719" name="Text 11"/>
          <p:cNvSpPr/>
          <p:nvPr/>
        </p:nvSpPr>
        <p:spPr bwMode="auto">
          <a:xfrm>
            <a:off x="403141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3533</a:t>
            </a:r>
            <a:endParaRPr lang="es-ES" sz="1300" b="0" u="none" strike="noStrike">
              <a:solidFill>
                <a:srgbClr val="000000"/>
              </a:solidFill>
              <a:latin typeface="Arial"/>
            </a:endParaRPr>
          </a:p>
        </p:txBody>
      </p:sp>
      <p:sp>
        <p:nvSpPr>
          <p:cNvPr id="1684257435" name="Text 12"/>
          <p:cNvSpPr/>
          <p:nvPr/>
        </p:nvSpPr>
        <p:spPr bwMode="auto">
          <a:xfrm>
            <a:off x="403141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686738863" name="Text 13"/>
          <p:cNvSpPr/>
          <p:nvPr/>
        </p:nvSpPr>
        <p:spPr bwMode="auto">
          <a:xfrm>
            <a:off x="4918095" y="103430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0.185</a:t>
            </a:r>
            <a:endParaRPr lang="es-ES" sz="1300" b="0" u="none" strike="noStrike">
              <a:solidFill>
                <a:srgbClr val="000000"/>
              </a:solidFill>
              <a:latin typeface="Arial"/>
            </a:endParaRPr>
          </a:p>
        </p:txBody>
      </p:sp>
      <p:sp>
        <p:nvSpPr>
          <p:cNvPr id="1776414098" name="Text 14"/>
          <p:cNvSpPr/>
          <p:nvPr/>
        </p:nvSpPr>
        <p:spPr bwMode="auto">
          <a:xfrm>
            <a:off x="4918095" y="128126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pic>
        <p:nvPicPr>
          <p:cNvPr id="226078322" name="Image 0" descr="/tmp/claude-0/-home-claude/c0a8783c-8817-5425-bc4f-190e5f64548a/scratchpad/work/imgs/img_004.png"/>
          <p:cNvPicPr/>
          <p:nvPr/>
        </p:nvPicPr>
        <p:blipFill rotWithShape="1">
          <a:blip r:embed="rId3"/>
          <a:stretch/>
        </p:blipFill>
        <p:spPr bwMode="auto">
          <a:xfrm>
            <a:off x="605029" y="1463784"/>
            <a:ext cx="4603680" cy="2435400"/>
          </a:xfrm>
          <a:prstGeom prst="rect">
            <a:avLst/>
          </a:prstGeom>
          <a:noFill/>
          <a:ln w="0">
            <a:noFill/>
          </a:ln>
        </p:spPr>
      </p:pic>
      <p:sp>
        <p:nvSpPr>
          <p:cNvPr id="502259090" name="Text 16"/>
          <p:cNvSpPr/>
          <p:nvPr/>
        </p:nvSpPr>
        <p:spPr bwMode="auto">
          <a:xfrm flipH="0" flipV="0">
            <a:off x="535939" y="4036306"/>
            <a:ext cx="5318279" cy="617193"/>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La más simétrica de las 10 (asimetría 0,18; media y mediana casi idénticas) y sin apenas atípicos: acotada por la estructura de la competición. Es el mejor proxy de la confianza del cuerpo técnico.</a:t>
            </a:r>
            <a:endParaRPr lang="es-ES" sz="1100" b="0" u="none" strike="noStrike">
              <a:solidFill>
                <a:srgbClr val="000000"/>
              </a:solidFill>
              <a:latin typeface="Arial"/>
            </a:endParaRPr>
          </a:p>
        </p:txBody>
      </p:sp>
      <p:sp>
        <p:nvSpPr>
          <p:cNvPr id="618632728" name="Text 17"/>
          <p:cNvSpPr/>
          <p:nvPr/>
        </p:nvSpPr>
        <p:spPr bwMode="auto">
          <a:xfrm>
            <a:off x="6261615" y="695544"/>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TS% — % de tiro verdadero</a:t>
            </a:r>
            <a:endParaRPr lang="es-ES" sz="1500" b="0" u="none" strike="noStrike">
              <a:solidFill>
                <a:srgbClr val="000000"/>
              </a:solidFill>
              <a:latin typeface="Arial"/>
            </a:endParaRPr>
          </a:p>
        </p:txBody>
      </p:sp>
      <p:sp>
        <p:nvSpPr>
          <p:cNvPr id="584983150" name="Text 18"/>
          <p:cNvSpPr/>
          <p:nvPr/>
        </p:nvSpPr>
        <p:spPr bwMode="auto">
          <a:xfrm>
            <a:off x="626161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0.525</a:t>
            </a:r>
            <a:endParaRPr lang="es-ES" sz="1300" b="0" u="none" strike="noStrike">
              <a:solidFill>
                <a:srgbClr val="000000"/>
              </a:solidFill>
              <a:latin typeface="Arial"/>
            </a:endParaRPr>
          </a:p>
        </p:txBody>
      </p:sp>
      <p:sp>
        <p:nvSpPr>
          <p:cNvPr id="1706674916" name="Text 19"/>
          <p:cNvSpPr/>
          <p:nvPr/>
        </p:nvSpPr>
        <p:spPr bwMode="auto">
          <a:xfrm>
            <a:off x="626161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2028633284" name="Text 20"/>
          <p:cNvSpPr/>
          <p:nvPr/>
        </p:nvSpPr>
        <p:spPr bwMode="auto">
          <a:xfrm>
            <a:off x="714793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0.528</a:t>
            </a:r>
            <a:endParaRPr lang="es-ES" sz="1300" b="0" u="none" strike="noStrike">
              <a:solidFill>
                <a:srgbClr val="000000"/>
              </a:solidFill>
              <a:latin typeface="Arial"/>
            </a:endParaRPr>
          </a:p>
        </p:txBody>
      </p:sp>
      <p:sp>
        <p:nvSpPr>
          <p:cNvPr id="2041393625" name="Text 21"/>
          <p:cNvSpPr/>
          <p:nvPr/>
        </p:nvSpPr>
        <p:spPr bwMode="auto">
          <a:xfrm>
            <a:off x="714793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336483740" name="Text 22"/>
          <p:cNvSpPr/>
          <p:nvPr/>
        </p:nvSpPr>
        <p:spPr bwMode="auto">
          <a:xfrm>
            <a:off x="803461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0.059</a:t>
            </a:r>
            <a:endParaRPr lang="es-ES" sz="1300" b="0" u="none" strike="noStrike">
              <a:solidFill>
                <a:srgbClr val="000000"/>
              </a:solidFill>
              <a:latin typeface="Arial"/>
            </a:endParaRPr>
          </a:p>
        </p:txBody>
      </p:sp>
      <p:sp>
        <p:nvSpPr>
          <p:cNvPr id="1344698667" name="Text 23"/>
          <p:cNvSpPr/>
          <p:nvPr/>
        </p:nvSpPr>
        <p:spPr bwMode="auto">
          <a:xfrm>
            <a:off x="803461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835015237" name="Text 24"/>
          <p:cNvSpPr/>
          <p:nvPr/>
        </p:nvSpPr>
        <p:spPr bwMode="auto">
          <a:xfrm>
            <a:off x="892093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0.184</a:t>
            </a:r>
            <a:endParaRPr lang="es-ES" sz="1300" b="0" u="none" strike="noStrike">
              <a:solidFill>
                <a:srgbClr val="000000"/>
              </a:solidFill>
              <a:latin typeface="Arial"/>
            </a:endParaRPr>
          </a:p>
        </p:txBody>
      </p:sp>
      <p:sp>
        <p:nvSpPr>
          <p:cNvPr id="283326264" name="Text 25"/>
          <p:cNvSpPr/>
          <p:nvPr/>
        </p:nvSpPr>
        <p:spPr bwMode="auto">
          <a:xfrm>
            <a:off x="892093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2136146545" name="Text 26"/>
          <p:cNvSpPr/>
          <p:nvPr/>
        </p:nvSpPr>
        <p:spPr bwMode="auto">
          <a:xfrm>
            <a:off x="980725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0.746</a:t>
            </a:r>
            <a:endParaRPr lang="es-ES" sz="1300" b="0" u="none" strike="noStrike">
              <a:solidFill>
                <a:srgbClr val="000000"/>
              </a:solidFill>
              <a:latin typeface="Arial"/>
            </a:endParaRPr>
          </a:p>
        </p:txBody>
      </p:sp>
      <p:sp>
        <p:nvSpPr>
          <p:cNvPr id="522720510" name="Text 27"/>
          <p:cNvSpPr/>
          <p:nvPr/>
        </p:nvSpPr>
        <p:spPr bwMode="auto">
          <a:xfrm>
            <a:off x="980725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225613662" name="Text 28"/>
          <p:cNvSpPr/>
          <p:nvPr/>
        </p:nvSpPr>
        <p:spPr bwMode="auto">
          <a:xfrm>
            <a:off x="10693935" y="1024584"/>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-0.437</a:t>
            </a:r>
            <a:endParaRPr lang="es-ES" sz="1300" b="0" u="none" strike="noStrike">
              <a:solidFill>
                <a:srgbClr val="000000"/>
              </a:solidFill>
              <a:latin typeface="Arial"/>
            </a:endParaRPr>
          </a:p>
        </p:txBody>
      </p:sp>
      <p:sp>
        <p:nvSpPr>
          <p:cNvPr id="2031263121" name="Text 29"/>
          <p:cNvSpPr/>
          <p:nvPr/>
        </p:nvSpPr>
        <p:spPr bwMode="auto">
          <a:xfrm>
            <a:off x="10693935" y="1271544"/>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pic>
        <p:nvPicPr>
          <p:cNvPr id="1169809628" name="Image 1" descr="/tmp/claude-0/-home-claude/c0a8783c-8817-5425-bc4f-190e5f64548a/scratchpad/work/imgs/img_006.png"/>
          <p:cNvPicPr/>
          <p:nvPr/>
        </p:nvPicPr>
        <p:blipFill rotWithShape="1">
          <a:blip r:embed="rId4"/>
          <a:stretch/>
        </p:blipFill>
        <p:spPr bwMode="auto">
          <a:xfrm>
            <a:off x="6510375" y="1454064"/>
            <a:ext cx="4603680" cy="2435400"/>
          </a:xfrm>
          <a:prstGeom prst="rect">
            <a:avLst/>
          </a:prstGeom>
          <a:noFill/>
          <a:ln w="0">
            <a:noFill/>
          </a:ln>
        </p:spPr>
      </p:pic>
      <p:sp>
        <p:nvSpPr>
          <p:cNvPr id="233394427" name="Text 31"/>
          <p:cNvSpPr/>
          <p:nvPr/>
        </p:nvSpPr>
        <p:spPr bwMode="auto">
          <a:xfrm flipH="0" flipV="0">
            <a:off x="6384351" y="4018344"/>
            <a:ext cx="5318279" cy="635154"/>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Unimodal y compacta, con leve asimetría hacia la izquierda (−0,44). Se puede ser mucho peor que el promedio tirando, pero no mucho mejor. Cuatro puntos de TS% ya son media desviación estándar.</a:t>
            </a:r>
            <a:endParaRPr lang="es-ES" sz="1100" b="0" u="none" strike="noStrike">
              <a:solidFill>
                <a:srgbClr val="000000"/>
              </a:solidFill>
              <a:latin typeface="Arial"/>
            </a:endParaRPr>
          </a:p>
        </p:txBody>
      </p:sp>
      <p:pic>
        <p:nvPicPr>
          <p:cNvPr id="1959444067" name="Image 2" descr="/tmp/claude-0/-home-claude/c0a8783c-8817-5425-bc4f-190e5f64548a/scratchpad/work/icons/basketball_E1590F.png"/>
          <p:cNvPicPr/>
          <p:nvPr/>
        </p:nvPicPr>
        <p:blipFill rotWithShape="1">
          <a:blip r:embed="rId5"/>
          <a:stretch/>
        </p:blipFill>
        <p:spPr bwMode="auto">
          <a:xfrm>
            <a:off x="532130" y="6273275"/>
            <a:ext cx="145800" cy="145800"/>
          </a:xfrm>
          <a:prstGeom prst="rect">
            <a:avLst/>
          </a:prstGeom>
          <a:noFill/>
          <a:ln w="0">
            <a:noFill/>
          </a:ln>
        </p:spPr>
      </p:pic>
      <p:sp>
        <p:nvSpPr>
          <p:cNvPr id="1770403703" name="Text 32"/>
          <p:cNvSpPr/>
          <p:nvPr/>
        </p:nvSpPr>
        <p:spPr bwMode="auto">
          <a:xfrm>
            <a:off x="751730" y="6236915"/>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1566428265" name="Text 33"/>
          <p:cNvSpPr/>
          <p:nvPr/>
        </p:nvSpPr>
        <p:spPr bwMode="auto">
          <a:xfrm>
            <a:off x="10255010" y="6236915"/>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07 / 23</a:t>
            </a:r>
            <a:endParaRPr lang="es-ES" sz="850" b="0" u="none" strike="noStrike">
              <a:solidFill>
                <a:srgbClr val="000000"/>
              </a:solidFill>
              <a:latin typeface="Arial"/>
            </a:endParaRPr>
          </a:p>
        </p:txBody>
      </p:sp>
      <p:pic>
        <p:nvPicPr>
          <p:cNvPr id="1329520801" name="Imagen 1"/>
          <p:cNvPicPr/>
          <p:nvPr/>
        </p:nvPicPr>
        <p:blipFill rotWithShape="1">
          <a:blip r:embed="rId6"/>
          <a:stretch/>
        </p:blipFill>
        <p:spPr bwMode="auto">
          <a:xfrm flipH="0" flipV="0">
            <a:off x="704019" y="4653499"/>
            <a:ext cx="4667060" cy="1537914"/>
          </a:xfrm>
          <a:prstGeom prst="rect">
            <a:avLst/>
          </a:prstGeom>
        </p:spPr>
      </p:pic>
      <p:pic>
        <p:nvPicPr>
          <p:cNvPr id="2057760472" name="Imagen 2"/>
          <p:cNvPicPr/>
          <p:nvPr/>
        </p:nvPicPr>
        <p:blipFill rotWithShape="1">
          <a:blip r:embed="rId7"/>
          <a:stretch/>
        </p:blipFill>
        <p:spPr bwMode="auto">
          <a:xfrm flipH="0" flipV="0">
            <a:off x="6240144" y="4698999"/>
            <a:ext cx="5046979" cy="153791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320821694" name="Text 1"/>
          <p:cNvSpPr/>
          <p:nvPr/>
        </p:nvSpPr>
        <p:spPr bwMode="auto">
          <a:xfrm flipH="0" flipV="0">
            <a:off x="5227920" y="155879"/>
            <a:ext cx="2193119"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Rol e interior</a:t>
            </a:r>
            <a:endParaRPr lang="es-ES" sz="2900" b="0" u="none" strike="noStrike">
              <a:solidFill>
                <a:srgbClr val="000000"/>
              </a:solidFill>
              <a:latin typeface="Arial"/>
            </a:endParaRPr>
          </a:p>
        </p:txBody>
      </p:sp>
      <p:sp>
        <p:nvSpPr>
          <p:cNvPr id="1220453181" name="Text 2"/>
          <p:cNvSpPr/>
          <p:nvPr/>
        </p:nvSpPr>
        <p:spPr bwMode="auto">
          <a:xfrm>
            <a:off x="595080" y="631079"/>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USG% — % de uso del jugador</a:t>
            </a:r>
            <a:endParaRPr lang="es-ES" sz="1500" b="0" u="none" strike="noStrike">
              <a:solidFill>
                <a:srgbClr val="000000"/>
              </a:solidFill>
              <a:latin typeface="Arial"/>
            </a:endParaRPr>
          </a:p>
        </p:txBody>
      </p:sp>
      <p:sp>
        <p:nvSpPr>
          <p:cNvPr id="1011406146" name="Text 3"/>
          <p:cNvSpPr/>
          <p:nvPr/>
        </p:nvSpPr>
        <p:spPr bwMode="auto">
          <a:xfrm>
            <a:off x="59508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18.905</a:t>
            </a:r>
            <a:endParaRPr lang="es-ES" sz="1300" b="0" u="none" strike="noStrike">
              <a:solidFill>
                <a:srgbClr val="000000"/>
              </a:solidFill>
              <a:latin typeface="Arial"/>
            </a:endParaRPr>
          </a:p>
        </p:txBody>
      </p:sp>
      <p:sp>
        <p:nvSpPr>
          <p:cNvPr id="133018479" name="Text 4"/>
          <p:cNvSpPr/>
          <p:nvPr/>
        </p:nvSpPr>
        <p:spPr bwMode="auto">
          <a:xfrm>
            <a:off x="59508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195354686" name="Text 5"/>
          <p:cNvSpPr/>
          <p:nvPr/>
        </p:nvSpPr>
        <p:spPr bwMode="auto">
          <a:xfrm>
            <a:off x="148140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18.6</a:t>
            </a:r>
            <a:endParaRPr lang="es-ES" sz="1300" b="0" u="none" strike="noStrike">
              <a:solidFill>
                <a:srgbClr val="000000"/>
              </a:solidFill>
              <a:latin typeface="Arial"/>
            </a:endParaRPr>
          </a:p>
        </p:txBody>
      </p:sp>
      <p:sp>
        <p:nvSpPr>
          <p:cNvPr id="146449212" name="Text 6"/>
          <p:cNvSpPr/>
          <p:nvPr/>
        </p:nvSpPr>
        <p:spPr bwMode="auto">
          <a:xfrm>
            <a:off x="148140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396852309" name="Text 7"/>
          <p:cNvSpPr/>
          <p:nvPr/>
        </p:nvSpPr>
        <p:spPr bwMode="auto">
          <a:xfrm>
            <a:off x="236808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4.974</a:t>
            </a:r>
            <a:endParaRPr lang="es-ES" sz="1300" b="0" u="none" strike="noStrike">
              <a:solidFill>
                <a:srgbClr val="000000"/>
              </a:solidFill>
              <a:latin typeface="Arial"/>
            </a:endParaRPr>
          </a:p>
        </p:txBody>
      </p:sp>
      <p:sp>
        <p:nvSpPr>
          <p:cNvPr id="2126029660" name="Text 8"/>
          <p:cNvSpPr/>
          <p:nvPr/>
        </p:nvSpPr>
        <p:spPr bwMode="auto">
          <a:xfrm>
            <a:off x="236808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905281077" name="Text 9"/>
          <p:cNvSpPr/>
          <p:nvPr/>
        </p:nvSpPr>
        <p:spPr bwMode="auto">
          <a:xfrm>
            <a:off x="325440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3.7</a:t>
            </a:r>
            <a:endParaRPr lang="es-ES" sz="1300" b="0" u="none" strike="noStrike">
              <a:solidFill>
                <a:srgbClr val="000000"/>
              </a:solidFill>
              <a:latin typeface="Arial"/>
            </a:endParaRPr>
          </a:p>
        </p:txBody>
      </p:sp>
      <p:sp>
        <p:nvSpPr>
          <p:cNvPr id="1771401928" name="Text 10"/>
          <p:cNvSpPr/>
          <p:nvPr/>
        </p:nvSpPr>
        <p:spPr bwMode="auto">
          <a:xfrm>
            <a:off x="325440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846997653" name="Text 11"/>
          <p:cNvSpPr/>
          <p:nvPr/>
        </p:nvSpPr>
        <p:spPr bwMode="auto">
          <a:xfrm>
            <a:off x="414072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41.7</a:t>
            </a:r>
            <a:endParaRPr lang="es-ES" sz="1300" b="0" u="none" strike="noStrike">
              <a:solidFill>
                <a:srgbClr val="000000"/>
              </a:solidFill>
              <a:latin typeface="Arial"/>
            </a:endParaRPr>
          </a:p>
        </p:txBody>
      </p:sp>
      <p:sp>
        <p:nvSpPr>
          <p:cNvPr id="186031320" name="Text 12"/>
          <p:cNvSpPr/>
          <p:nvPr/>
        </p:nvSpPr>
        <p:spPr bwMode="auto">
          <a:xfrm>
            <a:off x="414072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6186781" name="Text 13"/>
          <p:cNvSpPr/>
          <p:nvPr/>
        </p:nvSpPr>
        <p:spPr bwMode="auto">
          <a:xfrm>
            <a:off x="502740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0.378</a:t>
            </a:r>
            <a:endParaRPr lang="es-ES" sz="1300" b="0" u="none" strike="noStrike">
              <a:solidFill>
                <a:srgbClr val="000000"/>
              </a:solidFill>
              <a:latin typeface="Arial"/>
            </a:endParaRPr>
          </a:p>
        </p:txBody>
      </p:sp>
      <p:sp>
        <p:nvSpPr>
          <p:cNvPr id="1740292436" name="Text 14"/>
          <p:cNvSpPr/>
          <p:nvPr/>
        </p:nvSpPr>
        <p:spPr bwMode="auto">
          <a:xfrm>
            <a:off x="502740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1000901126" name="Shape 15"/>
          <p:cNvSpPr/>
          <p:nvPr/>
        </p:nvSpPr>
        <p:spPr bwMode="auto">
          <a:xfrm>
            <a:off x="861120" y="1417319"/>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851322408" name="Image 0" descr="/tmp/claude-0/-home-claude/c0a8783c-8817-5425-bc4f-190e5f64548a/scratchpad/work/imgs/img_008.png"/>
          <p:cNvPicPr/>
          <p:nvPr/>
        </p:nvPicPr>
        <p:blipFill rotWithShape="1">
          <a:blip r:embed="rId3"/>
          <a:stretch/>
        </p:blipFill>
        <p:spPr bwMode="auto">
          <a:xfrm>
            <a:off x="952560" y="1508759"/>
            <a:ext cx="4603680" cy="2435400"/>
          </a:xfrm>
          <a:prstGeom prst="rect">
            <a:avLst/>
          </a:prstGeom>
          <a:noFill/>
          <a:ln w="0">
            <a:noFill/>
          </a:ln>
        </p:spPr>
      </p:pic>
      <p:sp>
        <p:nvSpPr>
          <p:cNvPr id="215372711" name="Text 16"/>
          <p:cNvSpPr/>
          <p:nvPr/>
        </p:nvSpPr>
        <p:spPr bwMode="auto">
          <a:xfrm flipH="0" flipV="0">
            <a:off x="494211" y="4106934"/>
            <a:ext cx="5318279" cy="476404"/>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Notablemente simétrica y compacta: los USG% de los cinco jugadores en cancha suman ≈100, así que el promedio de la liga está anclado cerca del 20%. Máximo observado: 41,7%.</a:t>
            </a:r>
            <a:endParaRPr lang="es-ES" sz="1100" b="0" u="none" strike="noStrike">
              <a:solidFill>
                <a:srgbClr val="000000"/>
              </a:solidFill>
              <a:latin typeface="Arial"/>
            </a:endParaRPr>
          </a:p>
        </p:txBody>
      </p:sp>
      <p:sp>
        <p:nvSpPr>
          <p:cNvPr id="1834013733" name="Text 17"/>
          <p:cNvSpPr/>
          <p:nvPr/>
        </p:nvSpPr>
        <p:spPr bwMode="auto">
          <a:xfrm>
            <a:off x="6370920" y="631079"/>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TRB% — % de rebotes capturados</a:t>
            </a:r>
            <a:endParaRPr lang="es-ES" sz="1500" b="0" u="none" strike="noStrike">
              <a:solidFill>
                <a:srgbClr val="000000"/>
              </a:solidFill>
              <a:latin typeface="Arial"/>
            </a:endParaRPr>
          </a:p>
        </p:txBody>
      </p:sp>
      <p:sp>
        <p:nvSpPr>
          <p:cNvPr id="1836014980" name="Text 18"/>
          <p:cNvSpPr/>
          <p:nvPr/>
        </p:nvSpPr>
        <p:spPr bwMode="auto">
          <a:xfrm>
            <a:off x="637092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10.079</a:t>
            </a:r>
            <a:endParaRPr lang="es-ES" sz="1300" b="0" u="none" strike="noStrike">
              <a:solidFill>
                <a:srgbClr val="000000"/>
              </a:solidFill>
              <a:latin typeface="Arial"/>
            </a:endParaRPr>
          </a:p>
        </p:txBody>
      </p:sp>
      <p:sp>
        <p:nvSpPr>
          <p:cNvPr id="463421095" name="Text 19"/>
          <p:cNvSpPr/>
          <p:nvPr/>
        </p:nvSpPr>
        <p:spPr bwMode="auto">
          <a:xfrm>
            <a:off x="637092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783137759" name="Text 20"/>
          <p:cNvSpPr/>
          <p:nvPr/>
        </p:nvSpPr>
        <p:spPr bwMode="auto">
          <a:xfrm>
            <a:off x="725724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9.3</a:t>
            </a:r>
            <a:endParaRPr lang="es-ES" sz="1300" b="0" u="none" strike="noStrike">
              <a:solidFill>
                <a:srgbClr val="000000"/>
              </a:solidFill>
              <a:latin typeface="Arial"/>
            </a:endParaRPr>
          </a:p>
        </p:txBody>
      </p:sp>
      <p:sp>
        <p:nvSpPr>
          <p:cNvPr id="2079143668" name="Text 21"/>
          <p:cNvSpPr/>
          <p:nvPr/>
        </p:nvSpPr>
        <p:spPr bwMode="auto">
          <a:xfrm>
            <a:off x="725724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2095389834" name="Text 22"/>
          <p:cNvSpPr/>
          <p:nvPr/>
        </p:nvSpPr>
        <p:spPr bwMode="auto">
          <a:xfrm>
            <a:off x="814392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4.481</a:t>
            </a:r>
            <a:endParaRPr lang="es-ES" sz="1300" b="0" u="none" strike="noStrike">
              <a:solidFill>
                <a:srgbClr val="000000"/>
              </a:solidFill>
              <a:latin typeface="Arial"/>
            </a:endParaRPr>
          </a:p>
        </p:txBody>
      </p:sp>
      <p:sp>
        <p:nvSpPr>
          <p:cNvPr id="2070348135" name="Text 23"/>
          <p:cNvSpPr/>
          <p:nvPr/>
        </p:nvSpPr>
        <p:spPr bwMode="auto">
          <a:xfrm>
            <a:off x="814392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327986020" name="Text 24"/>
          <p:cNvSpPr/>
          <p:nvPr/>
        </p:nvSpPr>
        <p:spPr bwMode="auto">
          <a:xfrm>
            <a:off x="903024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a:t>
            </a:r>
            <a:endParaRPr lang="es-ES" sz="1300" b="0" u="none" strike="noStrike">
              <a:solidFill>
                <a:srgbClr val="000000"/>
              </a:solidFill>
              <a:latin typeface="Arial"/>
            </a:endParaRPr>
          </a:p>
        </p:txBody>
      </p:sp>
      <p:sp>
        <p:nvSpPr>
          <p:cNvPr id="1169756688" name="Text 25"/>
          <p:cNvSpPr/>
          <p:nvPr/>
        </p:nvSpPr>
        <p:spPr bwMode="auto">
          <a:xfrm>
            <a:off x="903024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288528564" name="Text 26"/>
          <p:cNvSpPr/>
          <p:nvPr/>
        </p:nvSpPr>
        <p:spPr bwMode="auto">
          <a:xfrm>
            <a:off x="991656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29.7</a:t>
            </a:r>
            <a:endParaRPr lang="es-ES" sz="1300" b="0" u="none" strike="noStrike">
              <a:solidFill>
                <a:srgbClr val="000000"/>
              </a:solidFill>
              <a:latin typeface="Arial"/>
            </a:endParaRPr>
          </a:p>
        </p:txBody>
      </p:sp>
      <p:sp>
        <p:nvSpPr>
          <p:cNvPr id="1053206933" name="Text 27"/>
          <p:cNvSpPr/>
          <p:nvPr/>
        </p:nvSpPr>
        <p:spPr bwMode="auto">
          <a:xfrm>
            <a:off x="991656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233611047" name="Text 28"/>
          <p:cNvSpPr/>
          <p:nvPr/>
        </p:nvSpPr>
        <p:spPr bwMode="auto">
          <a:xfrm>
            <a:off x="10803240" y="96011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0.566</a:t>
            </a:r>
            <a:endParaRPr lang="es-ES" sz="1300" b="0" u="none" strike="noStrike">
              <a:solidFill>
                <a:srgbClr val="000000"/>
              </a:solidFill>
              <a:latin typeface="Arial"/>
            </a:endParaRPr>
          </a:p>
        </p:txBody>
      </p:sp>
      <p:sp>
        <p:nvSpPr>
          <p:cNvPr id="1767435014" name="Text 29"/>
          <p:cNvSpPr/>
          <p:nvPr/>
        </p:nvSpPr>
        <p:spPr bwMode="auto">
          <a:xfrm>
            <a:off x="10803240" y="120707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1554679802" name="Shape 30"/>
          <p:cNvSpPr/>
          <p:nvPr/>
        </p:nvSpPr>
        <p:spPr bwMode="auto">
          <a:xfrm>
            <a:off x="6636960" y="1417319"/>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457747177" name="Image 1" descr="/tmp/claude-0/-home-claude/c0a8783c-8817-5425-bc4f-190e5f64548a/scratchpad/work/imgs/img_010.png"/>
          <p:cNvPicPr/>
          <p:nvPr/>
        </p:nvPicPr>
        <p:blipFill rotWithShape="1">
          <a:blip r:embed="rId4"/>
          <a:stretch/>
        </p:blipFill>
        <p:spPr bwMode="auto">
          <a:xfrm>
            <a:off x="6728400" y="1508759"/>
            <a:ext cx="4603680" cy="2435400"/>
          </a:xfrm>
          <a:prstGeom prst="rect">
            <a:avLst/>
          </a:prstGeom>
          <a:noFill/>
          <a:ln w="0">
            <a:noFill/>
          </a:ln>
        </p:spPr>
      </p:pic>
      <p:sp>
        <p:nvSpPr>
          <p:cNvPr id="1025598663" name="Text 31"/>
          <p:cNvSpPr/>
          <p:nvPr/>
        </p:nvSpPr>
        <p:spPr bwMode="auto">
          <a:xfrm flipH="0" flipV="0">
            <a:off x="6370920" y="4106934"/>
            <a:ext cx="5318279" cy="476404"/>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La separación por rol más nítida del dataset: las medianas crecen de 5,5% en bases a 14,8% en pívots, con rangos intercuartílicos que casi no se solapan entre posiciones.</a:t>
            </a:r>
            <a:endParaRPr lang="es-ES" sz="1100" b="0" u="none" strike="noStrike">
              <a:solidFill>
                <a:srgbClr val="000000"/>
              </a:solidFill>
              <a:latin typeface="Arial"/>
            </a:endParaRPr>
          </a:p>
        </p:txBody>
      </p:sp>
      <p:pic>
        <p:nvPicPr>
          <p:cNvPr id="228087784" name="Image 2" descr="/tmp/claude-0/-home-claude/c0a8783c-8817-5425-bc4f-190e5f64548a/scratchpad/work/icons/basketball_E1590F.png"/>
          <p:cNvPicPr/>
          <p:nvPr/>
        </p:nvPicPr>
        <p:blipFill rotWithShape="1">
          <a:blip r:embed="rId5"/>
          <a:stretch/>
        </p:blipFill>
        <p:spPr bwMode="auto">
          <a:xfrm>
            <a:off x="548640" y="6546960"/>
            <a:ext cx="145800" cy="145800"/>
          </a:xfrm>
          <a:prstGeom prst="rect">
            <a:avLst/>
          </a:prstGeom>
          <a:noFill/>
          <a:ln w="0">
            <a:noFill/>
          </a:ln>
        </p:spPr>
      </p:pic>
      <p:sp>
        <p:nvSpPr>
          <p:cNvPr id="644249104" name="Text 32"/>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1722653326" name="Text 33"/>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08 / 23</a:t>
            </a:r>
            <a:endParaRPr lang="es-ES" sz="850" b="0" u="none" strike="noStrike">
              <a:solidFill>
                <a:srgbClr val="000000"/>
              </a:solidFill>
              <a:latin typeface="Arial"/>
            </a:endParaRPr>
          </a:p>
        </p:txBody>
      </p:sp>
      <p:pic>
        <p:nvPicPr>
          <p:cNvPr id="530125104" name="Imagen 1"/>
          <p:cNvPicPr/>
          <p:nvPr/>
        </p:nvPicPr>
        <p:blipFill rotWithShape="1">
          <a:blip r:embed="rId6"/>
          <a:stretch/>
        </p:blipFill>
        <p:spPr bwMode="auto">
          <a:xfrm flipH="0" flipV="0">
            <a:off x="814704" y="4646838"/>
            <a:ext cx="4785994" cy="1567089"/>
          </a:xfrm>
          <a:prstGeom prst="rect">
            <a:avLst/>
          </a:prstGeom>
        </p:spPr>
      </p:pic>
      <p:pic>
        <p:nvPicPr>
          <p:cNvPr id="1264712384" name="Imagen 3"/>
          <p:cNvPicPr/>
          <p:nvPr/>
        </p:nvPicPr>
        <p:blipFill rotWithShape="1">
          <a:blip r:embed="rId7"/>
          <a:stretch/>
        </p:blipFill>
        <p:spPr bwMode="auto">
          <a:xfrm flipH="0" flipV="0">
            <a:off x="6590664" y="4646838"/>
            <a:ext cx="4786629" cy="156708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761834197" name="Text 1"/>
          <p:cNvSpPr/>
          <p:nvPr/>
        </p:nvSpPr>
        <p:spPr bwMode="auto">
          <a:xfrm flipH="0" flipV="0">
            <a:off x="4591530" y="155879"/>
            <a:ext cx="4180859"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Creación y estilo de época</a:t>
            </a:r>
            <a:endParaRPr lang="es-ES" sz="2900" b="0" u="none" strike="noStrike">
              <a:solidFill>
                <a:srgbClr val="000000"/>
              </a:solidFill>
              <a:latin typeface="Arial"/>
            </a:endParaRPr>
          </a:p>
        </p:txBody>
      </p:sp>
      <p:sp>
        <p:nvSpPr>
          <p:cNvPr id="1211929047" name="Text 2"/>
          <p:cNvSpPr/>
          <p:nvPr/>
        </p:nvSpPr>
        <p:spPr bwMode="auto">
          <a:xfrm>
            <a:off x="549377" y="722028"/>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AST% — % de asistencias del equipo</a:t>
            </a:r>
            <a:endParaRPr lang="es-ES" sz="1500" b="0" u="none" strike="noStrike">
              <a:solidFill>
                <a:srgbClr val="000000"/>
              </a:solidFill>
              <a:latin typeface="Arial"/>
            </a:endParaRPr>
          </a:p>
        </p:txBody>
      </p:sp>
      <p:sp>
        <p:nvSpPr>
          <p:cNvPr id="1143752211" name="Text 3"/>
          <p:cNvSpPr/>
          <p:nvPr/>
        </p:nvSpPr>
        <p:spPr bwMode="auto">
          <a:xfrm>
            <a:off x="54937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13.547</a:t>
            </a:r>
            <a:endParaRPr lang="es-ES" sz="1300" b="0" u="none" strike="noStrike">
              <a:solidFill>
                <a:srgbClr val="000000"/>
              </a:solidFill>
              <a:latin typeface="Arial"/>
            </a:endParaRPr>
          </a:p>
        </p:txBody>
      </p:sp>
      <p:sp>
        <p:nvSpPr>
          <p:cNvPr id="345403438" name="Text 4"/>
          <p:cNvSpPr/>
          <p:nvPr/>
        </p:nvSpPr>
        <p:spPr bwMode="auto">
          <a:xfrm>
            <a:off x="54937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772413464" name="Text 5"/>
          <p:cNvSpPr/>
          <p:nvPr/>
        </p:nvSpPr>
        <p:spPr bwMode="auto">
          <a:xfrm>
            <a:off x="143569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10.7</a:t>
            </a:r>
            <a:endParaRPr lang="es-ES" sz="1300" b="0" u="none" strike="noStrike">
              <a:solidFill>
                <a:srgbClr val="000000"/>
              </a:solidFill>
              <a:latin typeface="Arial"/>
            </a:endParaRPr>
          </a:p>
        </p:txBody>
      </p:sp>
      <p:sp>
        <p:nvSpPr>
          <p:cNvPr id="188176211" name="Text 6"/>
          <p:cNvSpPr/>
          <p:nvPr/>
        </p:nvSpPr>
        <p:spPr bwMode="auto">
          <a:xfrm>
            <a:off x="143569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385727492" name="Text 7"/>
          <p:cNvSpPr/>
          <p:nvPr/>
        </p:nvSpPr>
        <p:spPr bwMode="auto">
          <a:xfrm>
            <a:off x="232237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9.16</a:t>
            </a:r>
            <a:endParaRPr lang="es-ES" sz="1300" b="0" u="none" strike="noStrike">
              <a:solidFill>
                <a:srgbClr val="000000"/>
              </a:solidFill>
              <a:latin typeface="Arial"/>
            </a:endParaRPr>
          </a:p>
        </p:txBody>
      </p:sp>
      <p:sp>
        <p:nvSpPr>
          <p:cNvPr id="1442452588" name="Text 8"/>
          <p:cNvSpPr/>
          <p:nvPr/>
        </p:nvSpPr>
        <p:spPr bwMode="auto">
          <a:xfrm>
            <a:off x="232237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935111212" name="Text 9"/>
          <p:cNvSpPr/>
          <p:nvPr/>
        </p:nvSpPr>
        <p:spPr bwMode="auto">
          <a:xfrm>
            <a:off x="320869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a:t>
            </a:r>
            <a:endParaRPr lang="es-ES" sz="1300" b="0" u="none" strike="noStrike">
              <a:solidFill>
                <a:srgbClr val="000000"/>
              </a:solidFill>
              <a:latin typeface="Arial"/>
            </a:endParaRPr>
          </a:p>
        </p:txBody>
      </p:sp>
      <p:sp>
        <p:nvSpPr>
          <p:cNvPr id="1902151993" name="Text 10"/>
          <p:cNvSpPr/>
          <p:nvPr/>
        </p:nvSpPr>
        <p:spPr bwMode="auto">
          <a:xfrm>
            <a:off x="320869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325918138" name="Text 11"/>
          <p:cNvSpPr/>
          <p:nvPr/>
        </p:nvSpPr>
        <p:spPr bwMode="auto">
          <a:xfrm>
            <a:off x="409501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57.5</a:t>
            </a:r>
            <a:endParaRPr lang="es-ES" sz="1300" b="0" u="none" strike="noStrike">
              <a:solidFill>
                <a:srgbClr val="000000"/>
              </a:solidFill>
              <a:latin typeface="Arial"/>
            </a:endParaRPr>
          </a:p>
        </p:txBody>
      </p:sp>
      <p:sp>
        <p:nvSpPr>
          <p:cNvPr id="258571133" name="Text 12"/>
          <p:cNvSpPr/>
          <p:nvPr/>
        </p:nvSpPr>
        <p:spPr bwMode="auto">
          <a:xfrm>
            <a:off x="409501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907396125" name="Text 13"/>
          <p:cNvSpPr/>
          <p:nvPr/>
        </p:nvSpPr>
        <p:spPr bwMode="auto">
          <a:xfrm>
            <a:off x="498169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1.239</a:t>
            </a:r>
            <a:endParaRPr lang="es-ES" sz="1300" b="0" u="none" strike="noStrike">
              <a:solidFill>
                <a:srgbClr val="000000"/>
              </a:solidFill>
              <a:latin typeface="Arial"/>
            </a:endParaRPr>
          </a:p>
        </p:txBody>
      </p:sp>
      <p:sp>
        <p:nvSpPr>
          <p:cNvPr id="1130670321" name="Text 14"/>
          <p:cNvSpPr/>
          <p:nvPr/>
        </p:nvSpPr>
        <p:spPr bwMode="auto">
          <a:xfrm>
            <a:off x="498169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388145834" name="Shape 15"/>
          <p:cNvSpPr/>
          <p:nvPr/>
        </p:nvSpPr>
        <p:spPr bwMode="auto">
          <a:xfrm>
            <a:off x="815417" y="1508268"/>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732877158" name="Image 0" descr="/tmp/claude-0/-home-claude/c0a8783c-8817-5425-bc4f-190e5f64548a/scratchpad/work/imgs/img_012.png"/>
          <p:cNvPicPr/>
          <p:nvPr/>
        </p:nvPicPr>
        <p:blipFill rotWithShape="1">
          <a:blip r:embed="rId3"/>
          <a:stretch/>
        </p:blipFill>
        <p:spPr bwMode="auto">
          <a:xfrm>
            <a:off x="906857" y="1599708"/>
            <a:ext cx="4603680" cy="2435400"/>
          </a:xfrm>
          <a:prstGeom prst="rect">
            <a:avLst/>
          </a:prstGeom>
          <a:noFill/>
          <a:ln w="0">
            <a:noFill/>
          </a:ln>
        </p:spPr>
      </p:pic>
      <p:sp>
        <p:nvSpPr>
          <p:cNvPr id="747460095" name="Text 16"/>
          <p:cNvSpPr/>
          <p:nvPr/>
        </p:nvSpPr>
        <p:spPr bwMode="auto">
          <a:xfrm flipH="0" flipV="0">
            <a:off x="621540" y="4191751"/>
            <a:ext cx="5318279" cy="456084"/>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La asimetría positiva más marcada después del VORP: media 13,5% frente a mediana 10,7%, con cola larga hasta 57,5%. Es el contrapeso exacto del rebote (r = −0,5).</a:t>
            </a:r>
            <a:endParaRPr lang="es-ES" sz="1100" b="0" u="none" strike="noStrike">
              <a:solidFill>
                <a:srgbClr val="000000"/>
              </a:solidFill>
              <a:latin typeface="Arial"/>
            </a:endParaRPr>
          </a:p>
        </p:txBody>
      </p:sp>
      <p:sp>
        <p:nvSpPr>
          <p:cNvPr id="718558495" name="Text 17"/>
          <p:cNvSpPr/>
          <p:nvPr/>
        </p:nvSpPr>
        <p:spPr bwMode="auto">
          <a:xfrm>
            <a:off x="6325217" y="722028"/>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 de intentos que son de triple</a:t>
            </a:r>
            <a:endParaRPr lang="es-ES" sz="1500" b="0" u="none" strike="noStrike">
              <a:solidFill>
                <a:srgbClr val="000000"/>
              </a:solidFill>
              <a:latin typeface="Arial"/>
            </a:endParaRPr>
          </a:p>
        </p:txBody>
      </p:sp>
      <p:sp>
        <p:nvSpPr>
          <p:cNvPr id="1243415506" name="Text 18"/>
          <p:cNvSpPr/>
          <p:nvPr/>
        </p:nvSpPr>
        <p:spPr bwMode="auto">
          <a:xfrm>
            <a:off x="632521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0.19</a:t>
            </a:r>
            <a:endParaRPr lang="es-ES" sz="1300" b="0" u="none" strike="noStrike">
              <a:solidFill>
                <a:srgbClr val="000000"/>
              </a:solidFill>
              <a:latin typeface="Arial"/>
            </a:endParaRPr>
          </a:p>
        </p:txBody>
      </p:sp>
      <p:sp>
        <p:nvSpPr>
          <p:cNvPr id="2031524095" name="Text 19"/>
          <p:cNvSpPr/>
          <p:nvPr/>
        </p:nvSpPr>
        <p:spPr bwMode="auto">
          <a:xfrm>
            <a:off x="632521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1303701084" name="Text 20"/>
          <p:cNvSpPr/>
          <p:nvPr/>
        </p:nvSpPr>
        <p:spPr bwMode="auto">
          <a:xfrm>
            <a:off x="721153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0.113</a:t>
            </a:r>
            <a:endParaRPr lang="es-ES" sz="1300" b="0" u="none" strike="noStrike">
              <a:solidFill>
                <a:srgbClr val="000000"/>
              </a:solidFill>
              <a:latin typeface="Arial"/>
            </a:endParaRPr>
          </a:p>
        </p:txBody>
      </p:sp>
      <p:sp>
        <p:nvSpPr>
          <p:cNvPr id="532606605" name="Text 21"/>
          <p:cNvSpPr/>
          <p:nvPr/>
        </p:nvSpPr>
        <p:spPr bwMode="auto">
          <a:xfrm>
            <a:off x="721153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503329053" name="Text 22"/>
          <p:cNvSpPr/>
          <p:nvPr/>
        </p:nvSpPr>
        <p:spPr bwMode="auto">
          <a:xfrm>
            <a:off x="809821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0.201</a:t>
            </a:r>
            <a:endParaRPr lang="es-ES" sz="1300" b="0" u="none" strike="noStrike">
              <a:solidFill>
                <a:srgbClr val="000000"/>
              </a:solidFill>
              <a:latin typeface="Arial"/>
            </a:endParaRPr>
          </a:p>
        </p:txBody>
      </p:sp>
      <p:sp>
        <p:nvSpPr>
          <p:cNvPr id="467184740" name="Text 23"/>
          <p:cNvSpPr/>
          <p:nvPr/>
        </p:nvSpPr>
        <p:spPr bwMode="auto">
          <a:xfrm>
            <a:off x="809821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060238705" name="Text 24"/>
          <p:cNvSpPr/>
          <p:nvPr/>
        </p:nvSpPr>
        <p:spPr bwMode="auto">
          <a:xfrm>
            <a:off x="898453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a:t>
            </a:r>
            <a:endParaRPr lang="es-ES" sz="1300" b="0" u="none" strike="noStrike">
              <a:solidFill>
                <a:srgbClr val="000000"/>
              </a:solidFill>
              <a:latin typeface="Arial"/>
            </a:endParaRPr>
          </a:p>
        </p:txBody>
      </p:sp>
      <p:sp>
        <p:nvSpPr>
          <p:cNvPr id="2010780973" name="Text 25"/>
          <p:cNvSpPr/>
          <p:nvPr/>
        </p:nvSpPr>
        <p:spPr bwMode="auto">
          <a:xfrm>
            <a:off x="898453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1959888479" name="Text 26"/>
          <p:cNvSpPr/>
          <p:nvPr/>
        </p:nvSpPr>
        <p:spPr bwMode="auto">
          <a:xfrm>
            <a:off x="987085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a:t>
            </a:r>
            <a:endParaRPr lang="es-ES" sz="1300" b="0" u="none" strike="noStrike">
              <a:solidFill>
                <a:srgbClr val="000000"/>
              </a:solidFill>
              <a:latin typeface="Arial"/>
            </a:endParaRPr>
          </a:p>
        </p:txBody>
      </p:sp>
      <p:sp>
        <p:nvSpPr>
          <p:cNvPr id="753596618" name="Text 27"/>
          <p:cNvSpPr/>
          <p:nvPr/>
        </p:nvSpPr>
        <p:spPr bwMode="auto">
          <a:xfrm>
            <a:off x="987085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572000008" name="Text 28"/>
          <p:cNvSpPr/>
          <p:nvPr/>
        </p:nvSpPr>
        <p:spPr bwMode="auto">
          <a:xfrm>
            <a:off x="10757537" y="1051068"/>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0.874</a:t>
            </a:r>
            <a:endParaRPr lang="es-ES" sz="1300" b="0" u="none" strike="noStrike">
              <a:solidFill>
                <a:srgbClr val="000000"/>
              </a:solidFill>
              <a:latin typeface="Arial"/>
            </a:endParaRPr>
          </a:p>
        </p:txBody>
      </p:sp>
      <p:sp>
        <p:nvSpPr>
          <p:cNvPr id="197650787" name="Text 29"/>
          <p:cNvSpPr/>
          <p:nvPr/>
        </p:nvSpPr>
        <p:spPr bwMode="auto">
          <a:xfrm>
            <a:off x="10757537" y="1298028"/>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1641451411" name="Shape 30"/>
          <p:cNvSpPr/>
          <p:nvPr/>
        </p:nvSpPr>
        <p:spPr bwMode="auto">
          <a:xfrm>
            <a:off x="6591257" y="1508268"/>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129899318" name="Image 1" descr="/tmp/claude-0/-home-claude/c0a8783c-8817-5425-bc4f-190e5f64548a/scratchpad/work/imgs/img_014.png"/>
          <p:cNvPicPr/>
          <p:nvPr/>
        </p:nvPicPr>
        <p:blipFill rotWithShape="1">
          <a:blip r:embed="rId4"/>
          <a:stretch/>
        </p:blipFill>
        <p:spPr bwMode="auto">
          <a:xfrm>
            <a:off x="6682697" y="1599708"/>
            <a:ext cx="4603680" cy="2435400"/>
          </a:xfrm>
          <a:prstGeom prst="rect">
            <a:avLst/>
          </a:prstGeom>
          <a:noFill/>
          <a:ln w="0">
            <a:noFill/>
          </a:ln>
        </p:spPr>
      </p:pic>
      <p:sp>
        <p:nvSpPr>
          <p:cNvPr id="116628530" name="Text 31"/>
          <p:cNvSpPr/>
          <p:nvPr/>
        </p:nvSpPr>
        <p:spPr bwMode="auto">
          <a:xfrm flipH="0" flipV="0">
            <a:off x="6325217" y="4191751"/>
            <a:ext cx="5318279" cy="649396"/>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El histograma más peculiar del dataset: gran masa cerca de cero (11,1% en 0 exacto) y cola hasta el 100%. Correlaciona r=0,5 con la temporada: mezcla 41 años de estilos de juego distintos.</a:t>
            </a:r>
            <a:endParaRPr lang="es-ES" sz="1100" b="0" u="none" strike="noStrike">
              <a:solidFill>
                <a:srgbClr val="000000"/>
              </a:solidFill>
              <a:latin typeface="Arial"/>
            </a:endParaRPr>
          </a:p>
        </p:txBody>
      </p:sp>
      <p:pic>
        <p:nvPicPr>
          <p:cNvPr id="819238966" name="Image 2" descr="/tmp/claude-0/-home-claude/c0a8783c-8817-5425-bc4f-190e5f64548a/scratchpad/work/icons/basketball_E1590F.png"/>
          <p:cNvPicPr/>
          <p:nvPr/>
        </p:nvPicPr>
        <p:blipFill rotWithShape="1">
          <a:blip r:embed="rId5"/>
          <a:stretch/>
        </p:blipFill>
        <p:spPr bwMode="auto">
          <a:xfrm>
            <a:off x="548640" y="6546960"/>
            <a:ext cx="145800" cy="145800"/>
          </a:xfrm>
          <a:prstGeom prst="rect">
            <a:avLst/>
          </a:prstGeom>
          <a:noFill/>
          <a:ln w="0">
            <a:noFill/>
          </a:ln>
        </p:spPr>
      </p:pic>
      <p:sp>
        <p:nvSpPr>
          <p:cNvPr id="245213539" name="Text 32"/>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2133663746" name="Text 33"/>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09 / 23</a:t>
            </a:r>
            <a:endParaRPr lang="es-ES" sz="850" b="0" u="none" strike="noStrike">
              <a:solidFill>
                <a:srgbClr val="000000"/>
              </a:solidFill>
              <a:latin typeface="Arial"/>
            </a:endParaRPr>
          </a:p>
        </p:txBody>
      </p:sp>
      <p:pic>
        <p:nvPicPr>
          <p:cNvPr id="1102727227" name="Imagen 1"/>
          <p:cNvPicPr/>
          <p:nvPr/>
        </p:nvPicPr>
        <p:blipFill rotWithShape="1">
          <a:blip r:embed="rId6"/>
          <a:stretch/>
        </p:blipFill>
        <p:spPr bwMode="auto">
          <a:xfrm flipH="0" flipV="0">
            <a:off x="814704" y="4841148"/>
            <a:ext cx="4695824" cy="1581875"/>
          </a:xfrm>
          <a:prstGeom prst="rect">
            <a:avLst/>
          </a:prstGeom>
        </p:spPr>
      </p:pic>
      <p:pic>
        <p:nvPicPr>
          <p:cNvPr id="1089176991" name="Imagen 2"/>
          <p:cNvPicPr/>
          <p:nvPr/>
        </p:nvPicPr>
        <p:blipFill rotWithShape="1">
          <a:blip r:embed="rId7"/>
          <a:stretch/>
        </p:blipFill>
        <p:spPr bwMode="auto">
          <a:xfrm flipH="0" flipV="0">
            <a:off x="6591257" y="4841148"/>
            <a:ext cx="4786629" cy="15818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444025290" name="Text 1"/>
          <p:cNvSpPr/>
          <p:nvPr/>
        </p:nvSpPr>
        <p:spPr bwMode="auto">
          <a:xfrm flipH="0" flipV="0">
            <a:off x="4779679" y="155879"/>
            <a:ext cx="3069279"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Defensa y contexto</a:t>
            </a:r>
            <a:endParaRPr lang="es-ES" sz="2900" b="0" u="none" strike="noStrike">
              <a:solidFill>
                <a:srgbClr val="000000"/>
              </a:solidFill>
              <a:latin typeface="Arial"/>
            </a:endParaRPr>
          </a:p>
        </p:txBody>
      </p:sp>
      <p:sp>
        <p:nvSpPr>
          <p:cNvPr id="104370591" name="Text 2"/>
          <p:cNvSpPr/>
          <p:nvPr/>
        </p:nvSpPr>
        <p:spPr bwMode="auto">
          <a:xfrm>
            <a:off x="538479" y="638719"/>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DBPM — Box Plus/Minus defensivo</a:t>
            </a:r>
            <a:endParaRPr lang="es-ES" sz="1500" b="0" u="none" strike="noStrike">
              <a:solidFill>
                <a:srgbClr val="000000"/>
              </a:solidFill>
              <a:latin typeface="Arial"/>
            </a:endParaRPr>
          </a:p>
        </p:txBody>
      </p:sp>
      <p:sp>
        <p:nvSpPr>
          <p:cNvPr id="795108394" name="Text 3"/>
          <p:cNvSpPr/>
          <p:nvPr/>
        </p:nvSpPr>
        <p:spPr bwMode="auto">
          <a:xfrm>
            <a:off x="53847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-0.048</a:t>
            </a:r>
            <a:endParaRPr lang="es-ES" sz="1300" b="0" u="none" strike="noStrike">
              <a:solidFill>
                <a:srgbClr val="000000"/>
              </a:solidFill>
              <a:latin typeface="Arial"/>
            </a:endParaRPr>
          </a:p>
        </p:txBody>
      </p:sp>
      <p:sp>
        <p:nvSpPr>
          <p:cNvPr id="1340976308" name="Text 4"/>
          <p:cNvSpPr/>
          <p:nvPr/>
        </p:nvSpPr>
        <p:spPr bwMode="auto">
          <a:xfrm>
            <a:off x="53847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348820514" name="Text 5"/>
          <p:cNvSpPr/>
          <p:nvPr/>
        </p:nvSpPr>
        <p:spPr bwMode="auto">
          <a:xfrm>
            <a:off x="142479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a:t>
            </a:r>
            <a:endParaRPr lang="es-ES" sz="1300" b="0" u="none" strike="noStrike">
              <a:solidFill>
                <a:srgbClr val="000000"/>
              </a:solidFill>
              <a:latin typeface="Arial"/>
            </a:endParaRPr>
          </a:p>
        </p:txBody>
      </p:sp>
      <p:sp>
        <p:nvSpPr>
          <p:cNvPr id="810573479" name="Text 6"/>
          <p:cNvSpPr/>
          <p:nvPr/>
        </p:nvSpPr>
        <p:spPr bwMode="auto">
          <a:xfrm>
            <a:off x="142479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961422061" name="Text 7"/>
          <p:cNvSpPr/>
          <p:nvPr/>
        </p:nvSpPr>
        <p:spPr bwMode="auto">
          <a:xfrm>
            <a:off x="231147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1.214</a:t>
            </a:r>
            <a:endParaRPr lang="es-ES" sz="1300" b="0" u="none" strike="noStrike">
              <a:solidFill>
                <a:srgbClr val="000000"/>
              </a:solidFill>
              <a:latin typeface="Arial"/>
            </a:endParaRPr>
          </a:p>
        </p:txBody>
      </p:sp>
      <p:sp>
        <p:nvSpPr>
          <p:cNvPr id="124009745" name="Text 8"/>
          <p:cNvSpPr/>
          <p:nvPr/>
        </p:nvSpPr>
        <p:spPr bwMode="auto">
          <a:xfrm>
            <a:off x="231147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2054745025" name="Text 9"/>
          <p:cNvSpPr/>
          <p:nvPr/>
        </p:nvSpPr>
        <p:spPr bwMode="auto">
          <a:xfrm>
            <a:off x="319779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-6.7</a:t>
            </a:r>
            <a:endParaRPr lang="es-ES" sz="1300" b="0" u="none" strike="noStrike">
              <a:solidFill>
                <a:srgbClr val="000000"/>
              </a:solidFill>
              <a:latin typeface="Arial"/>
            </a:endParaRPr>
          </a:p>
        </p:txBody>
      </p:sp>
      <p:sp>
        <p:nvSpPr>
          <p:cNvPr id="572349465" name="Text 10"/>
          <p:cNvSpPr/>
          <p:nvPr/>
        </p:nvSpPr>
        <p:spPr bwMode="auto">
          <a:xfrm>
            <a:off x="319779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2092582711" name="Text 11"/>
          <p:cNvSpPr/>
          <p:nvPr/>
        </p:nvSpPr>
        <p:spPr bwMode="auto">
          <a:xfrm>
            <a:off x="408411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5.5</a:t>
            </a:r>
            <a:endParaRPr lang="es-ES" sz="1300" b="0" u="none" strike="noStrike">
              <a:solidFill>
                <a:srgbClr val="000000"/>
              </a:solidFill>
              <a:latin typeface="Arial"/>
            </a:endParaRPr>
          </a:p>
        </p:txBody>
      </p:sp>
      <p:sp>
        <p:nvSpPr>
          <p:cNvPr id="1639685457" name="Text 12"/>
          <p:cNvSpPr/>
          <p:nvPr/>
        </p:nvSpPr>
        <p:spPr bwMode="auto">
          <a:xfrm>
            <a:off x="408411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808183045" name="Text 13"/>
          <p:cNvSpPr/>
          <p:nvPr/>
        </p:nvSpPr>
        <p:spPr bwMode="auto">
          <a:xfrm>
            <a:off x="497079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0.283</a:t>
            </a:r>
            <a:endParaRPr lang="es-ES" sz="1300" b="0" u="none" strike="noStrike">
              <a:solidFill>
                <a:srgbClr val="000000"/>
              </a:solidFill>
              <a:latin typeface="Arial"/>
            </a:endParaRPr>
          </a:p>
        </p:txBody>
      </p:sp>
      <p:sp>
        <p:nvSpPr>
          <p:cNvPr id="1114880590" name="Text 14"/>
          <p:cNvSpPr/>
          <p:nvPr/>
        </p:nvSpPr>
        <p:spPr bwMode="auto">
          <a:xfrm>
            <a:off x="497079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542833546" name="Shape 15"/>
          <p:cNvSpPr/>
          <p:nvPr/>
        </p:nvSpPr>
        <p:spPr bwMode="auto">
          <a:xfrm>
            <a:off x="804519" y="1424959"/>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886205489" name="Image 0" descr="/tmp/claude-0/-home-claude/c0a8783c-8817-5425-bc4f-190e5f64548a/scratchpad/work/imgs/img_017.png"/>
          <p:cNvPicPr/>
          <p:nvPr/>
        </p:nvPicPr>
        <p:blipFill rotWithShape="1">
          <a:blip r:embed="rId3"/>
          <a:stretch/>
        </p:blipFill>
        <p:spPr bwMode="auto">
          <a:xfrm>
            <a:off x="895959" y="1516399"/>
            <a:ext cx="4603680" cy="2435400"/>
          </a:xfrm>
          <a:prstGeom prst="rect">
            <a:avLst/>
          </a:prstGeom>
          <a:noFill/>
          <a:ln w="0">
            <a:noFill/>
          </a:ln>
        </p:spPr>
      </p:pic>
      <p:sp>
        <p:nvSpPr>
          <p:cNvPr id="838898873" name="Text 16"/>
          <p:cNvSpPr/>
          <p:nvPr/>
        </p:nvSpPr>
        <p:spPr bwMode="auto">
          <a:xfrm flipH="0" flipV="0">
            <a:off x="538479" y="4126619"/>
            <a:ext cx="5318279" cy="626808"/>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Centrada en cero por diseño y casi simétrica. Desviación de solo 1,21 puntos por 100 posesiones, frente a 2,66 del BPM ofensivo: la variación entre jugadores es mucho mayor en ataque que en defensa.</a:t>
            </a:r>
            <a:endParaRPr lang="es-ES" sz="1100" b="0" u="none" strike="noStrike">
              <a:solidFill>
                <a:srgbClr val="000000"/>
              </a:solidFill>
              <a:latin typeface="Arial"/>
            </a:endParaRPr>
          </a:p>
        </p:txBody>
      </p:sp>
      <p:sp>
        <p:nvSpPr>
          <p:cNvPr id="1159666388" name="Text 17"/>
          <p:cNvSpPr/>
          <p:nvPr/>
        </p:nvSpPr>
        <p:spPr bwMode="auto">
          <a:xfrm>
            <a:off x="6314319" y="638719"/>
            <a:ext cx="531828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500" b="1" u="none" strike="noStrike">
                <a:solidFill>
                  <a:srgbClr val="0B1E3D"/>
                </a:solidFill>
                <a:latin typeface="Calibri"/>
                <a:ea typeface="Calibri"/>
              </a:rPr>
              <a:t>% de victorias del equipo</a:t>
            </a:r>
            <a:endParaRPr lang="es-ES" sz="1500" b="0" u="none" strike="noStrike">
              <a:solidFill>
                <a:srgbClr val="000000"/>
              </a:solidFill>
              <a:latin typeface="Arial"/>
            </a:endParaRPr>
          </a:p>
        </p:txBody>
      </p:sp>
      <p:sp>
        <p:nvSpPr>
          <p:cNvPr id="870643098" name="Text 18"/>
          <p:cNvSpPr/>
          <p:nvPr/>
        </p:nvSpPr>
        <p:spPr bwMode="auto">
          <a:xfrm>
            <a:off x="631431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0.499</a:t>
            </a:r>
            <a:endParaRPr lang="es-ES" sz="1300" b="0" u="none" strike="noStrike">
              <a:solidFill>
                <a:srgbClr val="000000"/>
              </a:solidFill>
              <a:latin typeface="Arial"/>
            </a:endParaRPr>
          </a:p>
        </p:txBody>
      </p:sp>
      <p:sp>
        <p:nvSpPr>
          <p:cNvPr id="1092785242" name="Text 19"/>
          <p:cNvSpPr/>
          <p:nvPr/>
        </p:nvSpPr>
        <p:spPr bwMode="auto">
          <a:xfrm>
            <a:off x="631431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a:t>
            </a:r>
            <a:endParaRPr lang="es-ES" sz="750" b="0" u="none" strike="noStrike">
              <a:solidFill>
                <a:srgbClr val="000000"/>
              </a:solidFill>
              <a:latin typeface="Arial"/>
            </a:endParaRPr>
          </a:p>
        </p:txBody>
      </p:sp>
      <p:sp>
        <p:nvSpPr>
          <p:cNvPr id="480408921" name="Text 20"/>
          <p:cNvSpPr/>
          <p:nvPr/>
        </p:nvSpPr>
        <p:spPr bwMode="auto">
          <a:xfrm>
            <a:off x="720063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0.512</a:t>
            </a:r>
            <a:endParaRPr lang="es-ES" sz="1300" b="0" u="none" strike="noStrike">
              <a:solidFill>
                <a:srgbClr val="000000"/>
              </a:solidFill>
              <a:latin typeface="Arial"/>
            </a:endParaRPr>
          </a:p>
        </p:txBody>
      </p:sp>
      <p:sp>
        <p:nvSpPr>
          <p:cNvPr id="502736702" name="Text 21"/>
          <p:cNvSpPr/>
          <p:nvPr/>
        </p:nvSpPr>
        <p:spPr bwMode="auto">
          <a:xfrm>
            <a:off x="720063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Mediana</a:t>
            </a:r>
            <a:endParaRPr lang="es-ES" sz="750" b="0" u="none" strike="noStrike">
              <a:solidFill>
                <a:srgbClr val="000000"/>
              </a:solidFill>
              <a:latin typeface="Arial"/>
            </a:endParaRPr>
          </a:p>
        </p:txBody>
      </p:sp>
      <p:sp>
        <p:nvSpPr>
          <p:cNvPr id="1021195090" name="Text 22"/>
          <p:cNvSpPr/>
          <p:nvPr/>
        </p:nvSpPr>
        <p:spPr bwMode="auto">
          <a:xfrm>
            <a:off x="808731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0.155</a:t>
            </a:r>
            <a:endParaRPr lang="es-ES" sz="1300" b="0" u="none" strike="noStrike">
              <a:solidFill>
                <a:srgbClr val="000000"/>
              </a:solidFill>
              <a:latin typeface="Arial"/>
            </a:endParaRPr>
          </a:p>
        </p:txBody>
      </p:sp>
      <p:sp>
        <p:nvSpPr>
          <p:cNvPr id="954828035" name="Text 23"/>
          <p:cNvSpPr/>
          <p:nvPr/>
        </p:nvSpPr>
        <p:spPr bwMode="auto">
          <a:xfrm>
            <a:off x="808731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Desv. Est.</a:t>
            </a:r>
            <a:endParaRPr lang="es-ES" sz="750" b="0" u="none" strike="noStrike">
              <a:solidFill>
                <a:srgbClr val="000000"/>
              </a:solidFill>
              <a:latin typeface="Arial"/>
            </a:endParaRPr>
          </a:p>
        </p:txBody>
      </p:sp>
      <p:sp>
        <p:nvSpPr>
          <p:cNvPr id="166569253" name="Text 24"/>
          <p:cNvSpPr/>
          <p:nvPr/>
        </p:nvSpPr>
        <p:spPr bwMode="auto">
          <a:xfrm>
            <a:off x="897363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0.106</a:t>
            </a:r>
            <a:endParaRPr lang="es-ES" sz="1300" b="0" u="none" strike="noStrike">
              <a:solidFill>
                <a:srgbClr val="000000"/>
              </a:solidFill>
              <a:latin typeface="Arial"/>
            </a:endParaRPr>
          </a:p>
        </p:txBody>
      </p:sp>
      <p:sp>
        <p:nvSpPr>
          <p:cNvPr id="2002861347" name="Text 25"/>
          <p:cNvSpPr/>
          <p:nvPr/>
        </p:nvSpPr>
        <p:spPr bwMode="auto">
          <a:xfrm>
            <a:off x="897363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Mín</a:t>
            </a:r>
            <a:endParaRPr lang="es-ES" sz="750" b="0" u="none" strike="noStrike">
              <a:solidFill>
                <a:srgbClr val="000000"/>
              </a:solidFill>
              <a:latin typeface="Arial"/>
            </a:endParaRPr>
          </a:p>
        </p:txBody>
      </p:sp>
      <p:sp>
        <p:nvSpPr>
          <p:cNvPr id="794050344" name="Text 26"/>
          <p:cNvSpPr/>
          <p:nvPr/>
        </p:nvSpPr>
        <p:spPr bwMode="auto">
          <a:xfrm>
            <a:off x="985995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0.89</a:t>
            </a:r>
            <a:endParaRPr lang="es-ES" sz="1300" b="0" u="none" strike="noStrike">
              <a:solidFill>
                <a:srgbClr val="000000"/>
              </a:solidFill>
              <a:latin typeface="Arial"/>
            </a:endParaRPr>
          </a:p>
        </p:txBody>
      </p:sp>
      <p:sp>
        <p:nvSpPr>
          <p:cNvPr id="865885095" name="Text 27"/>
          <p:cNvSpPr/>
          <p:nvPr/>
        </p:nvSpPr>
        <p:spPr bwMode="auto">
          <a:xfrm>
            <a:off x="985995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Máx</a:t>
            </a:r>
            <a:endParaRPr lang="es-ES" sz="750" b="0" u="none" strike="noStrike">
              <a:solidFill>
                <a:srgbClr val="000000"/>
              </a:solidFill>
              <a:latin typeface="Arial"/>
            </a:endParaRPr>
          </a:p>
        </p:txBody>
      </p:sp>
      <p:sp>
        <p:nvSpPr>
          <p:cNvPr id="1161134575" name="Text 28"/>
          <p:cNvSpPr/>
          <p:nvPr/>
        </p:nvSpPr>
        <p:spPr bwMode="auto">
          <a:xfrm>
            <a:off x="10746639" y="967759"/>
            <a:ext cx="840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b">
            <a:noAutofit/>
          </a:bodyPr>
          <a:p>
            <a:pPr defTabSz="914400">
              <a:lnSpc>
                <a:spcPct val="100000"/>
              </a:lnSpc>
              <a:tabLst>
                <a:tab pos="0" algn="l"/>
              </a:tabLst>
              <a:defRPr/>
            </a:pPr>
            <a:r>
              <a:rPr lang="en-US" sz="1300" b="1" u="none" strike="noStrike">
                <a:solidFill>
                  <a:srgbClr val="0B1E3D"/>
                </a:solidFill>
                <a:latin typeface="Calibri"/>
                <a:ea typeface="Calibri"/>
              </a:rPr>
              <a:t>-0.18</a:t>
            </a:r>
            <a:endParaRPr lang="es-ES" sz="1300" b="0" u="none" strike="noStrike">
              <a:solidFill>
                <a:srgbClr val="000000"/>
              </a:solidFill>
              <a:latin typeface="Arial"/>
            </a:endParaRPr>
          </a:p>
        </p:txBody>
      </p:sp>
      <p:sp>
        <p:nvSpPr>
          <p:cNvPr id="1094251600" name="Text 29"/>
          <p:cNvSpPr/>
          <p:nvPr/>
        </p:nvSpPr>
        <p:spPr bwMode="auto">
          <a:xfrm>
            <a:off x="10746639" y="1214719"/>
            <a:ext cx="840240" cy="182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750" b="0" u="none" strike="noStrike">
                <a:solidFill>
                  <a:srgbClr val="5B6B85"/>
                </a:solidFill>
                <a:latin typeface="Calibri"/>
                <a:ea typeface="Calibri"/>
              </a:rPr>
              <a:t>Asimetría</a:t>
            </a:r>
            <a:endParaRPr lang="es-ES" sz="750" b="0" u="none" strike="noStrike">
              <a:solidFill>
                <a:srgbClr val="000000"/>
              </a:solidFill>
              <a:latin typeface="Arial"/>
            </a:endParaRPr>
          </a:p>
        </p:txBody>
      </p:sp>
      <p:sp>
        <p:nvSpPr>
          <p:cNvPr id="1864078279" name="Shape 30"/>
          <p:cNvSpPr/>
          <p:nvPr/>
        </p:nvSpPr>
        <p:spPr bwMode="auto">
          <a:xfrm>
            <a:off x="6580359" y="1424959"/>
            <a:ext cx="4786560" cy="2618280"/>
          </a:xfrm>
          <a:prstGeom prst="roundRect">
            <a:avLst>
              <a:gd name="adj" fmla="val 209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443461396" name="Image 1" descr="/tmp/claude-0/-home-claude/c0a8783c-8817-5425-bc4f-190e5f64548a/scratchpad/work/imgs/img_020.png"/>
          <p:cNvPicPr/>
          <p:nvPr/>
        </p:nvPicPr>
        <p:blipFill rotWithShape="1">
          <a:blip r:embed="rId4"/>
          <a:stretch/>
        </p:blipFill>
        <p:spPr bwMode="auto">
          <a:xfrm>
            <a:off x="6671799" y="1516399"/>
            <a:ext cx="4603680" cy="2435400"/>
          </a:xfrm>
          <a:prstGeom prst="rect">
            <a:avLst/>
          </a:prstGeom>
          <a:noFill/>
          <a:ln w="0">
            <a:noFill/>
          </a:ln>
        </p:spPr>
      </p:pic>
      <p:sp>
        <p:nvSpPr>
          <p:cNvPr id="297630481" name="Text 31"/>
          <p:cNvSpPr/>
          <p:nvPr/>
        </p:nvSpPr>
        <p:spPr bwMode="auto">
          <a:xfrm flipH="0" flipV="0">
            <a:off x="6314319" y="4138489"/>
            <a:ext cx="5318279" cy="43630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5999"/>
              </a:lnSpc>
              <a:tabLst>
                <a:tab pos="0" algn="l"/>
              </a:tabLst>
              <a:defRPr/>
            </a:pPr>
            <a:r>
              <a:rPr lang="en-US" sz="1100" b="0" u="none" strike="noStrike">
                <a:solidFill>
                  <a:srgbClr val="12203D"/>
                </a:solidFill>
                <a:latin typeface="Calibri"/>
                <a:ea typeface="Calibri"/>
              </a:rPr>
              <a:t>Centrada en 0,5 por construcción de la competición: cada victoria de un equipo es la derrota de otro. Es un atributo de equipo repetido en todas las filas de sus jugadores.</a:t>
            </a:r>
            <a:endParaRPr lang="es-ES" sz="1100" b="0" u="none" strike="noStrike">
              <a:solidFill>
                <a:srgbClr val="000000"/>
              </a:solidFill>
              <a:latin typeface="Arial"/>
            </a:endParaRPr>
          </a:p>
        </p:txBody>
      </p:sp>
      <p:pic>
        <p:nvPicPr>
          <p:cNvPr id="1891727680" name="Image 2" descr="/tmp/claude-0/-home-claude/c0a8783c-8817-5425-bc4f-190e5f64548a/scratchpad/work/icons/basketball_E1590F.png"/>
          <p:cNvPicPr/>
          <p:nvPr/>
        </p:nvPicPr>
        <p:blipFill rotWithShape="1">
          <a:blip r:embed="rId5"/>
          <a:stretch/>
        </p:blipFill>
        <p:spPr bwMode="auto">
          <a:xfrm>
            <a:off x="548640" y="6546960"/>
            <a:ext cx="145800" cy="145800"/>
          </a:xfrm>
          <a:prstGeom prst="rect">
            <a:avLst/>
          </a:prstGeom>
          <a:noFill/>
          <a:ln w="0">
            <a:noFill/>
          </a:ln>
        </p:spPr>
      </p:pic>
      <p:sp>
        <p:nvSpPr>
          <p:cNvPr id="900837658" name="Text 32"/>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02 · Análisis univariado</a:t>
            </a:r>
            <a:endParaRPr lang="es-ES" sz="850" b="0" u="none" strike="noStrike">
              <a:solidFill>
                <a:srgbClr val="000000"/>
              </a:solidFill>
              <a:latin typeface="Arial"/>
            </a:endParaRPr>
          </a:p>
        </p:txBody>
      </p:sp>
      <p:sp>
        <p:nvSpPr>
          <p:cNvPr id="1752923153" name="Text 33"/>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10 / 23</a:t>
            </a:r>
            <a:endParaRPr lang="es-ES" sz="850" b="0" u="none" strike="noStrike">
              <a:solidFill>
                <a:srgbClr val="000000"/>
              </a:solidFill>
              <a:latin typeface="Arial"/>
            </a:endParaRPr>
          </a:p>
        </p:txBody>
      </p:sp>
      <p:pic>
        <p:nvPicPr>
          <p:cNvPr id="564200079" name="Imagen 1"/>
          <p:cNvPicPr/>
          <p:nvPr/>
        </p:nvPicPr>
        <p:blipFill rotWithShape="1">
          <a:blip r:embed="rId6"/>
          <a:stretch/>
        </p:blipFill>
        <p:spPr bwMode="auto">
          <a:xfrm flipH="0" flipV="0">
            <a:off x="804544" y="4753428"/>
            <a:ext cx="4786629" cy="1579244"/>
          </a:xfrm>
          <a:prstGeom prst="rect">
            <a:avLst/>
          </a:prstGeom>
        </p:spPr>
      </p:pic>
      <p:pic>
        <p:nvPicPr>
          <p:cNvPr id="1884199802" name="Imagen 2"/>
          <p:cNvPicPr/>
          <p:nvPr/>
        </p:nvPicPr>
        <p:blipFill rotWithShape="1">
          <a:blip r:embed="rId7"/>
          <a:stretch/>
        </p:blipFill>
        <p:spPr bwMode="auto">
          <a:xfrm flipH="0" flipV="0">
            <a:off x="6580504" y="4753428"/>
            <a:ext cx="4787264" cy="1527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57054256"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03 · ESTANDARIZACIÓN Y CORRELACIÓN</a:t>
            </a:r>
            <a:endParaRPr lang="es-ES" sz="1150" b="0" u="none" strike="noStrike">
              <a:solidFill>
                <a:srgbClr val="000000"/>
              </a:solidFill>
              <a:latin typeface="Arial"/>
            </a:endParaRPr>
          </a:p>
        </p:txBody>
      </p:sp>
      <p:sp>
        <p:nvSpPr>
          <p:cNvPr id="159898293"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Matriz de correlación — 10 variables clave</a:t>
            </a:r>
            <a:endParaRPr lang="es-ES" sz="2900" b="0" u="none" strike="noStrike">
              <a:solidFill>
                <a:srgbClr val="000000"/>
              </a:solidFill>
              <a:latin typeface="Arial"/>
            </a:endParaRPr>
          </a:p>
        </p:txBody>
      </p:sp>
      <p:sp>
        <p:nvSpPr>
          <p:cNvPr id="1314643968" name="Text 2"/>
          <p:cNvSpPr/>
          <p:nvPr/>
        </p:nvSpPr>
        <p:spPr bwMode="auto">
          <a:xfrm>
            <a:off x="548640" y="1353240"/>
            <a:ext cx="110941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Coeficientes de Pearson sobre datos estandarizados (pairwise.complete.obs). Ninguna pareja supera |r| = 0.78: el panel no contiene variables redundantes.</a:t>
            </a:r>
            <a:endParaRPr lang="es-ES" sz="1350" b="0" u="none" strike="noStrike">
              <a:solidFill>
                <a:srgbClr val="000000"/>
              </a:solidFill>
              <a:latin typeface="Arial"/>
            </a:endParaRPr>
          </a:p>
        </p:txBody>
      </p:sp>
      <p:sp>
        <p:nvSpPr>
          <p:cNvPr id="1771804228" name="Shape 3"/>
          <p:cNvSpPr/>
          <p:nvPr/>
        </p:nvSpPr>
        <p:spPr bwMode="auto">
          <a:xfrm>
            <a:off x="548640" y="1920240"/>
            <a:ext cx="5495400" cy="4708800"/>
          </a:xfrm>
          <a:prstGeom prst="roundRect">
            <a:avLst>
              <a:gd name="adj" fmla="val 1165"/>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2088686130" name="Image 0" descr="/tmp/claude-0/-home-claude/c0a8783c-8817-5425-bc4f-190e5f64548a/scratchpad/work/imgs/img_065.png"/>
          <p:cNvPicPr/>
          <p:nvPr/>
        </p:nvPicPr>
        <p:blipFill rotWithShape="1">
          <a:blip r:embed="rId3"/>
          <a:stretch/>
        </p:blipFill>
        <p:spPr bwMode="auto">
          <a:xfrm>
            <a:off x="676800" y="2048400"/>
            <a:ext cx="5239080" cy="4452840"/>
          </a:xfrm>
          <a:prstGeom prst="rect">
            <a:avLst/>
          </a:prstGeom>
          <a:noFill/>
          <a:ln w="0">
            <a:noFill/>
          </a:ln>
        </p:spPr>
      </p:pic>
      <p:sp>
        <p:nvSpPr>
          <p:cNvPr id="1492902317" name="Shape 4"/>
          <p:cNvSpPr/>
          <p:nvPr/>
        </p:nvSpPr>
        <p:spPr bwMode="auto">
          <a:xfrm>
            <a:off x="6501600" y="1920240"/>
            <a:ext cx="5141160" cy="1206720"/>
          </a:xfrm>
          <a:prstGeom prst="roundRect">
            <a:avLst>
              <a:gd name="adj" fmla="val 5303"/>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2103194625" name="Text 5"/>
          <p:cNvSpPr/>
          <p:nvPr/>
        </p:nvSpPr>
        <p:spPr bwMode="auto">
          <a:xfrm>
            <a:off x="6702480" y="2048400"/>
            <a:ext cx="4739039"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150" b="1" u="none" strike="noStrike">
                <a:solidFill>
                  <a:srgbClr val="E1590F"/>
                </a:solidFill>
                <a:latin typeface="Calibri"/>
                <a:ea typeface="Calibri"/>
              </a:rPr>
              <a:t>Correlación más fuerte</a:t>
            </a:r>
            <a:endParaRPr lang="es-ES" sz="1150" b="0" u="none" strike="noStrike">
              <a:solidFill>
                <a:srgbClr val="000000"/>
              </a:solidFill>
              <a:latin typeface="Arial"/>
            </a:endParaRPr>
          </a:p>
        </p:txBody>
      </p:sp>
      <p:sp>
        <p:nvSpPr>
          <p:cNvPr id="1144799478" name="Text 6"/>
          <p:cNvSpPr/>
          <p:nvPr/>
        </p:nvSpPr>
        <p:spPr bwMode="auto">
          <a:xfrm>
            <a:off x="6702480" y="233172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5000"/>
              </a:lnSpc>
              <a:tabLst>
                <a:tab pos="0" algn="l"/>
              </a:tabLst>
              <a:defRPr/>
            </a:pPr>
            <a:r>
              <a:rPr lang="en-US" sz="1100" b="0" u="none" strike="noStrike">
                <a:solidFill>
                  <a:srgbClr val="12203D"/>
                </a:solidFill>
                <a:latin typeface="Calibri"/>
                <a:ea typeface="Calibri"/>
              </a:rPr>
              <a:t>puntos_pp ↔ valor_sobre_reemplazo</a:t>
            </a:r>
            <a:endParaRPr lang="es-ES" sz="1100" b="0" u="none" strike="noStrike">
              <a:solidFill>
                <a:srgbClr val="000000"/>
              </a:solidFill>
              <a:latin typeface="Arial"/>
            </a:endParaRPr>
          </a:p>
        </p:txBody>
      </p:sp>
      <p:sp>
        <p:nvSpPr>
          <p:cNvPr id="1612929303" name="Text 7"/>
          <p:cNvSpPr/>
          <p:nvPr/>
        </p:nvSpPr>
        <p:spPr bwMode="auto">
          <a:xfrm>
            <a:off x="6702480" y="267012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0B1E3D"/>
                </a:solidFill>
                <a:latin typeface="Calibri"/>
                <a:ea typeface="Calibri"/>
              </a:rPr>
              <a:t>r = 0.74</a:t>
            </a:r>
            <a:endParaRPr lang="es-ES" sz="2000" b="0" u="none" strike="noStrike">
              <a:solidFill>
                <a:srgbClr val="000000"/>
              </a:solidFill>
              <a:latin typeface="Arial"/>
            </a:endParaRPr>
          </a:p>
        </p:txBody>
      </p:sp>
      <p:sp>
        <p:nvSpPr>
          <p:cNvPr id="1673776705" name="Shape 8"/>
          <p:cNvSpPr/>
          <p:nvPr/>
        </p:nvSpPr>
        <p:spPr bwMode="auto">
          <a:xfrm>
            <a:off x="6501600" y="3337560"/>
            <a:ext cx="5141160" cy="1206720"/>
          </a:xfrm>
          <a:prstGeom prst="roundRect">
            <a:avLst>
              <a:gd name="adj" fmla="val 5303"/>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397168465" name="Text 9"/>
          <p:cNvSpPr/>
          <p:nvPr/>
        </p:nvSpPr>
        <p:spPr bwMode="auto">
          <a:xfrm>
            <a:off x="6702480" y="3465720"/>
            <a:ext cx="4739039"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150" b="1" u="none" strike="noStrike">
                <a:solidFill>
                  <a:srgbClr val="E1590F"/>
                </a:solidFill>
                <a:latin typeface="Calibri"/>
                <a:ea typeface="Calibri"/>
              </a:rPr>
              <a:t>Contexto de equipo</a:t>
            </a:r>
            <a:endParaRPr lang="es-ES" sz="1150" b="0" u="none" strike="noStrike">
              <a:solidFill>
                <a:srgbClr val="000000"/>
              </a:solidFill>
              <a:latin typeface="Arial"/>
            </a:endParaRPr>
          </a:p>
        </p:txBody>
      </p:sp>
      <p:sp>
        <p:nvSpPr>
          <p:cNvPr id="283855574" name="Text 10"/>
          <p:cNvSpPr/>
          <p:nvPr/>
        </p:nvSpPr>
        <p:spPr bwMode="auto">
          <a:xfrm>
            <a:off x="6702480" y="374904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5000"/>
              </a:lnSpc>
              <a:tabLst>
                <a:tab pos="0" algn="l"/>
              </a:tabLst>
              <a:defRPr/>
            </a:pPr>
            <a:r>
              <a:rPr lang="en-US" sz="1100" b="0" u="none" strike="noStrike">
                <a:solidFill>
                  <a:srgbClr val="12203D"/>
                </a:solidFill>
                <a:latin typeface="Calibri"/>
                <a:ea typeface="Calibri"/>
              </a:rPr>
              <a:t>masmenos_defensivo ↔ porc_victorias_equipo</a:t>
            </a:r>
            <a:endParaRPr lang="es-ES" sz="1100" b="0" u="none" strike="noStrike">
              <a:solidFill>
                <a:srgbClr val="000000"/>
              </a:solidFill>
              <a:latin typeface="Arial"/>
            </a:endParaRPr>
          </a:p>
        </p:txBody>
      </p:sp>
      <p:sp>
        <p:nvSpPr>
          <p:cNvPr id="1613686829" name="Text 11"/>
          <p:cNvSpPr/>
          <p:nvPr/>
        </p:nvSpPr>
        <p:spPr bwMode="auto">
          <a:xfrm>
            <a:off x="6702480" y="408744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0B1E3D"/>
                </a:solidFill>
                <a:latin typeface="Calibri"/>
                <a:ea typeface="Calibri"/>
              </a:rPr>
              <a:t>r = 0.34</a:t>
            </a:r>
            <a:endParaRPr lang="es-ES" sz="2000" b="0" u="none" strike="noStrike">
              <a:solidFill>
                <a:srgbClr val="000000"/>
              </a:solidFill>
              <a:latin typeface="Arial"/>
            </a:endParaRPr>
          </a:p>
        </p:txBody>
      </p:sp>
      <p:sp>
        <p:nvSpPr>
          <p:cNvPr id="101009795" name="Shape 12"/>
          <p:cNvSpPr/>
          <p:nvPr/>
        </p:nvSpPr>
        <p:spPr bwMode="auto">
          <a:xfrm>
            <a:off x="6501600" y="4754880"/>
            <a:ext cx="5141160" cy="1206720"/>
          </a:xfrm>
          <a:prstGeom prst="roundRect">
            <a:avLst>
              <a:gd name="adj" fmla="val 5303"/>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657045479" name="Text 13"/>
          <p:cNvSpPr/>
          <p:nvPr/>
        </p:nvSpPr>
        <p:spPr bwMode="auto">
          <a:xfrm>
            <a:off x="6702480" y="4883039"/>
            <a:ext cx="4739039"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150" b="1" u="none" strike="noStrike">
                <a:solidFill>
                  <a:srgbClr val="E1590F"/>
                </a:solidFill>
                <a:latin typeface="Calibri"/>
                <a:ea typeface="Calibri"/>
              </a:rPr>
              <a:t>Independencia</a:t>
            </a:r>
            <a:endParaRPr lang="es-ES" sz="1150" b="0" u="none" strike="noStrike">
              <a:solidFill>
                <a:srgbClr val="000000"/>
              </a:solidFill>
              <a:latin typeface="Arial"/>
            </a:endParaRPr>
          </a:p>
        </p:txBody>
      </p:sp>
      <p:sp>
        <p:nvSpPr>
          <p:cNvPr id="1228563542" name="Text 14"/>
          <p:cNvSpPr/>
          <p:nvPr/>
        </p:nvSpPr>
        <p:spPr bwMode="auto">
          <a:xfrm>
            <a:off x="6702480" y="516636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5000"/>
              </a:lnSpc>
              <a:tabLst>
                <a:tab pos="0" algn="l"/>
              </a:tabLst>
              <a:defRPr/>
            </a:pPr>
            <a:r>
              <a:rPr lang="en-US" sz="1100" b="0" u="none" strike="noStrike">
                <a:solidFill>
                  <a:srgbClr val="12203D"/>
                </a:solidFill>
                <a:latin typeface="Calibri"/>
                <a:ea typeface="Calibri"/>
              </a:rPr>
              <a:t>mediana |r| entre las 10 variables</a:t>
            </a:r>
            <a:endParaRPr lang="es-ES" sz="1100" b="0" u="none" strike="noStrike">
              <a:solidFill>
                <a:srgbClr val="000000"/>
              </a:solidFill>
              <a:latin typeface="Arial"/>
            </a:endParaRPr>
          </a:p>
        </p:txBody>
      </p:sp>
      <p:sp>
        <p:nvSpPr>
          <p:cNvPr id="1115699330" name="Text 15"/>
          <p:cNvSpPr/>
          <p:nvPr/>
        </p:nvSpPr>
        <p:spPr bwMode="auto">
          <a:xfrm>
            <a:off x="6702480" y="5504760"/>
            <a:ext cx="4739039"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0B1E3D"/>
                </a:solidFill>
                <a:latin typeface="Calibri"/>
                <a:ea typeface="Calibri"/>
              </a:rPr>
              <a:t>0.174</a:t>
            </a:r>
            <a:endParaRPr lang="es-ES" sz="2000" b="0" u="none" strike="noStrike">
              <a:solidFill>
                <a:srgbClr val="000000"/>
              </a:solidFill>
              <a:latin typeface="Arial"/>
            </a:endParaRPr>
          </a:p>
        </p:txBody>
      </p:sp>
      <p:pic>
        <p:nvPicPr>
          <p:cNvPr id="226220062"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1742406580" name="Text 1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03 · Correlación</a:t>
            </a:r>
            <a:endParaRPr lang="es-ES" sz="850" b="0" u="none" strike="noStrike">
              <a:solidFill>
                <a:srgbClr val="000000"/>
              </a:solidFill>
              <a:latin typeface="Arial"/>
            </a:endParaRPr>
          </a:p>
        </p:txBody>
      </p:sp>
      <p:sp>
        <p:nvSpPr>
          <p:cNvPr id="974232891" name="Text 1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11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228182184"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481059052" name="Text 1"/>
          <p:cNvSpPr/>
          <p:nvPr/>
        </p:nvSpPr>
        <p:spPr bwMode="auto">
          <a:xfrm>
            <a:off x="548640" y="749879"/>
            <a:ext cx="1109412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900" b="1" u="none" strike="noStrike">
                <a:solidFill>
                  <a:srgbClr val="0B1E3D"/>
                </a:solidFill>
                <a:latin typeface="Calibri"/>
                <a:ea typeface="Calibri"/>
              </a:rPr>
              <a:t>Las relaciones escogidas, y por qué</a:t>
            </a:r>
            <a:endParaRPr lang="es-ES" sz="2900" b="0" u="none" strike="noStrike">
              <a:solidFill>
                <a:srgbClr val="000000"/>
              </a:solidFill>
              <a:latin typeface="Arial"/>
            </a:endParaRPr>
          </a:p>
        </p:txBody>
      </p:sp>
      <p:sp>
        <p:nvSpPr>
          <p:cNvPr id="1373643771" name="Text 2"/>
          <p:cNvSpPr/>
          <p:nvPr/>
        </p:nvSpPr>
        <p:spPr bwMode="auto">
          <a:xfrm>
            <a:off x="548640" y="1353240"/>
            <a:ext cx="1109412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4999"/>
              </a:lnSpc>
              <a:tabLst>
                <a:tab pos="0" algn="l"/>
              </a:tabLst>
              <a:defRPr/>
            </a:pPr>
            <a:r>
              <a:rPr lang="en-US" sz="1350" b="0" u="none" strike="noStrike">
                <a:solidFill>
                  <a:srgbClr val="5B6B85"/>
                </a:solidFill>
                <a:latin typeface="Calibri"/>
                <a:ea typeface="Calibri"/>
              </a:rPr>
              <a:t>La matriz de correlación responde "¿cuánto se mueven juntas dos variables, en promedio, de forma lineal?". El bivariado cambia la pregunta: ¿es una recta o una curva? ¿es la misma para todos o cambia según la posición?</a:t>
            </a:r>
            <a:endParaRPr lang="es-ES" sz="1350" b="0" u="none" strike="noStrike">
              <a:solidFill>
                <a:srgbClr val="000000"/>
              </a:solidFill>
              <a:latin typeface="Arial"/>
            </a:endParaRPr>
          </a:p>
        </p:txBody>
      </p:sp>
      <p:sp>
        <p:nvSpPr>
          <p:cNvPr id="842092784" name="Text 3"/>
          <p:cNvSpPr/>
          <p:nvPr/>
        </p:nvSpPr>
        <p:spPr bwMode="auto">
          <a:xfrm>
            <a:off x="548640" y="214884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01</a:t>
            </a:r>
            <a:endParaRPr lang="es-ES" sz="2000" b="0" u="none" strike="noStrike">
              <a:solidFill>
                <a:srgbClr val="000000"/>
              </a:solidFill>
              <a:latin typeface="Arial"/>
            </a:endParaRPr>
          </a:p>
        </p:txBody>
      </p:sp>
      <p:sp>
        <p:nvSpPr>
          <p:cNvPr id="2108218119" name="Text 4"/>
          <p:cNvSpPr/>
          <p:nvPr/>
        </p:nvSpPr>
        <p:spPr bwMode="auto">
          <a:xfrm>
            <a:off x="1051560" y="214884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Uso ofensivo vs. eficiencia de tiro</a:t>
            </a:r>
            <a:endParaRPr lang="es-ES" sz="1350" b="0" u="none" strike="noStrike">
              <a:solidFill>
                <a:srgbClr val="000000"/>
              </a:solidFill>
              <a:latin typeface="Arial"/>
            </a:endParaRPr>
          </a:p>
        </p:txBody>
      </p:sp>
      <p:sp>
        <p:nvSpPr>
          <p:cNvPr id="1459466197" name="Text 5"/>
          <p:cNvSpPr/>
          <p:nvPr/>
        </p:nvSpPr>
        <p:spPr bwMode="auto">
          <a:xfrm>
            <a:off x="1051560" y="2450519"/>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¿Tomar más volumen de tiro cuesta eficiencia?   </a:t>
            </a:r>
            <a:endParaRPr lang="es-ES" sz="1100" b="0" u="none" strike="noStrike">
              <a:solidFill>
                <a:srgbClr val="000000"/>
              </a:solidFill>
              <a:latin typeface="Arial"/>
            </a:endParaRPr>
          </a:p>
        </p:txBody>
      </p:sp>
      <p:sp>
        <p:nvSpPr>
          <p:cNvPr id="627559446" name="Text 6"/>
          <p:cNvSpPr/>
          <p:nvPr/>
        </p:nvSpPr>
        <p:spPr bwMode="auto">
          <a:xfrm>
            <a:off x="548640" y="308160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02</a:t>
            </a:r>
            <a:endParaRPr lang="es-ES" sz="2000" b="0" u="none" strike="noStrike">
              <a:solidFill>
                <a:srgbClr val="000000"/>
              </a:solidFill>
              <a:latin typeface="Arial"/>
            </a:endParaRPr>
          </a:p>
        </p:txBody>
      </p:sp>
      <p:sp>
        <p:nvSpPr>
          <p:cNvPr id="971666274" name="Text 7"/>
          <p:cNvSpPr/>
          <p:nvPr/>
        </p:nvSpPr>
        <p:spPr bwMode="auto">
          <a:xfrm>
            <a:off x="1051560" y="308160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Rendimiento vs. edad</a:t>
            </a:r>
            <a:endParaRPr lang="es-ES" sz="1350" b="0" u="none" strike="noStrike">
              <a:solidFill>
                <a:srgbClr val="000000"/>
              </a:solidFill>
              <a:latin typeface="Arial"/>
            </a:endParaRPr>
          </a:p>
        </p:txBody>
      </p:sp>
      <p:sp>
        <p:nvSpPr>
          <p:cNvPr id="528965576" name="Text 8"/>
          <p:cNvSpPr/>
          <p:nvPr/>
        </p:nvSpPr>
        <p:spPr bwMode="auto">
          <a:xfrm>
            <a:off x="1051560" y="338328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¿Es una recta o una curva?  </a:t>
            </a:r>
            <a:endParaRPr lang="es-ES" sz="1100" b="0" u="none" strike="noStrike">
              <a:solidFill>
                <a:srgbClr val="000000"/>
              </a:solidFill>
              <a:latin typeface="Arial"/>
            </a:endParaRPr>
          </a:p>
        </p:txBody>
      </p:sp>
      <p:sp>
        <p:nvSpPr>
          <p:cNvPr id="1111366980" name="Text 9"/>
          <p:cNvSpPr/>
          <p:nvPr/>
        </p:nvSpPr>
        <p:spPr bwMode="auto">
          <a:xfrm>
            <a:off x="548640" y="401436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03</a:t>
            </a:r>
            <a:endParaRPr lang="es-ES" sz="2000" b="0" u="none" strike="noStrike">
              <a:solidFill>
                <a:srgbClr val="000000"/>
              </a:solidFill>
              <a:latin typeface="Arial"/>
            </a:endParaRPr>
          </a:p>
        </p:txBody>
      </p:sp>
      <p:sp>
        <p:nvSpPr>
          <p:cNvPr id="1990272878" name="Text 10"/>
          <p:cNvSpPr/>
          <p:nvPr/>
        </p:nvSpPr>
        <p:spPr bwMode="auto">
          <a:xfrm>
            <a:off x="1051560" y="401436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 de intentos de triple vs. temporada</a:t>
            </a:r>
            <a:endParaRPr lang="es-ES" sz="1350" b="0" u="none" strike="noStrike">
              <a:solidFill>
                <a:srgbClr val="000000"/>
              </a:solidFill>
              <a:latin typeface="Arial"/>
            </a:endParaRPr>
          </a:p>
        </p:txBody>
      </p:sp>
      <p:sp>
        <p:nvSpPr>
          <p:cNvPr id="1578471709" name="Text 11"/>
          <p:cNvSpPr/>
          <p:nvPr/>
        </p:nvSpPr>
        <p:spPr bwMode="auto">
          <a:xfrm>
            <a:off x="1051560" y="431604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¿Dónde está el punto de quiebre del juego?  </a:t>
            </a:r>
            <a:endParaRPr lang="es-ES" sz="1100" b="0" u="none" strike="noStrike">
              <a:solidFill>
                <a:srgbClr val="000000"/>
              </a:solidFill>
              <a:latin typeface="Arial"/>
            </a:endParaRPr>
          </a:p>
        </p:txBody>
      </p:sp>
      <p:sp>
        <p:nvSpPr>
          <p:cNvPr id="2062624007" name="Text 12"/>
          <p:cNvSpPr/>
          <p:nvPr/>
        </p:nvSpPr>
        <p:spPr bwMode="auto">
          <a:xfrm>
            <a:off x="548640" y="494676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04</a:t>
            </a:r>
            <a:endParaRPr lang="es-ES" sz="2000" b="0" u="none" strike="noStrike">
              <a:solidFill>
                <a:srgbClr val="000000"/>
              </a:solidFill>
              <a:latin typeface="Arial"/>
            </a:endParaRPr>
          </a:p>
        </p:txBody>
      </p:sp>
      <p:sp>
        <p:nvSpPr>
          <p:cNvPr id="2003674694" name="Text 13"/>
          <p:cNvSpPr/>
          <p:nvPr/>
        </p:nvSpPr>
        <p:spPr bwMode="auto">
          <a:xfrm>
            <a:off x="1051560" y="494676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Rebote vs. creación de juego</a:t>
            </a:r>
            <a:endParaRPr lang="es-ES" sz="1350" b="0" u="none" strike="noStrike">
              <a:solidFill>
                <a:srgbClr val="000000"/>
              </a:solidFill>
              <a:latin typeface="Arial"/>
            </a:endParaRPr>
          </a:p>
        </p:txBody>
      </p:sp>
      <p:sp>
        <p:nvSpPr>
          <p:cNvPr id="1551659753" name="Text 14"/>
          <p:cNvSpPr/>
          <p:nvPr/>
        </p:nvSpPr>
        <p:spPr bwMode="auto">
          <a:xfrm>
            <a:off x="1051560" y="524880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¿Existe un trade-off posicional?   </a:t>
            </a:r>
            <a:endParaRPr lang="es-ES" sz="1100" b="0" u="none" strike="noStrike">
              <a:solidFill>
                <a:srgbClr val="000000"/>
              </a:solidFill>
              <a:latin typeface="Arial"/>
            </a:endParaRPr>
          </a:p>
        </p:txBody>
      </p:sp>
      <p:sp>
        <p:nvSpPr>
          <p:cNvPr id="994620169" name="Text 15"/>
          <p:cNvSpPr/>
          <p:nvPr/>
        </p:nvSpPr>
        <p:spPr bwMode="auto">
          <a:xfrm>
            <a:off x="6324480" y="214884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05</a:t>
            </a:r>
            <a:endParaRPr lang="es-ES" sz="2000" b="0" u="none" strike="noStrike">
              <a:solidFill>
                <a:srgbClr val="000000"/>
              </a:solidFill>
              <a:latin typeface="Arial"/>
            </a:endParaRPr>
          </a:p>
        </p:txBody>
      </p:sp>
      <p:sp>
        <p:nvSpPr>
          <p:cNvPr id="1128207037" name="Text 16"/>
          <p:cNvSpPr/>
          <p:nvPr/>
        </p:nvSpPr>
        <p:spPr bwMode="auto">
          <a:xfrm>
            <a:off x="6827400" y="214884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Protagonismo vs. producción</a:t>
            </a:r>
            <a:endParaRPr lang="es-ES" sz="1350" b="0" u="none" strike="noStrike">
              <a:solidFill>
                <a:srgbClr val="000000"/>
              </a:solidFill>
              <a:latin typeface="Arial"/>
            </a:endParaRPr>
          </a:p>
        </p:txBody>
      </p:sp>
      <p:sp>
        <p:nvSpPr>
          <p:cNvPr id="754902291" name="Text 17"/>
          <p:cNvSpPr/>
          <p:nvPr/>
        </p:nvSpPr>
        <p:spPr bwMode="auto">
          <a:xfrm>
            <a:off x="6827400" y="2450519"/>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¿Se puede anotar mucho sin ser el protagonista?   </a:t>
            </a:r>
            <a:endParaRPr lang="es-ES" sz="1100" b="0" u="none" strike="noStrike">
              <a:solidFill>
                <a:srgbClr val="000000"/>
              </a:solidFill>
              <a:latin typeface="Arial"/>
            </a:endParaRPr>
          </a:p>
        </p:txBody>
      </p:sp>
      <p:sp>
        <p:nvSpPr>
          <p:cNvPr id="1885978537" name="Text 18"/>
          <p:cNvSpPr/>
          <p:nvPr/>
        </p:nvSpPr>
        <p:spPr bwMode="auto">
          <a:xfrm>
            <a:off x="6324480" y="308160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06</a:t>
            </a:r>
            <a:endParaRPr lang="es-ES" sz="2000" b="0" u="none" strike="noStrike">
              <a:solidFill>
                <a:srgbClr val="000000"/>
              </a:solidFill>
              <a:latin typeface="Arial"/>
            </a:endParaRPr>
          </a:p>
        </p:txBody>
      </p:sp>
      <p:sp>
        <p:nvSpPr>
          <p:cNvPr id="1784364844" name="Text 19"/>
          <p:cNvSpPr/>
          <p:nvPr/>
        </p:nvSpPr>
        <p:spPr bwMode="auto">
          <a:xfrm>
            <a:off x="6827400" y="308160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Minutos totales vs. VORP</a:t>
            </a:r>
            <a:endParaRPr lang="es-ES" sz="1350" b="0" u="none" strike="noStrike">
              <a:solidFill>
                <a:srgbClr val="000000"/>
              </a:solidFill>
              <a:latin typeface="Arial"/>
            </a:endParaRPr>
          </a:p>
        </p:txBody>
      </p:sp>
      <p:sp>
        <p:nvSpPr>
          <p:cNvPr id="1018895267" name="Text 20"/>
          <p:cNvSpPr/>
          <p:nvPr/>
        </p:nvSpPr>
        <p:spPr bwMode="auto">
          <a:xfrm>
            <a:off x="6827400" y="338328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¿La oportunidad explica el valor acumulado?  </a:t>
            </a:r>
            <a:endParaRPr lang="es-ES" sz="1100" b="0" u="none" strike="noStrike">
              <a:solidFill>
                <a:srgbClr val="000000"/>
              </a:solidFill>
              <a:latin typeface="Arial"/>
            </a:endParaRPr>
          </a:p>
        </p:txBody>
      </p:sp>
      <p:sp>
        <p:nvSpPr>
          <p:cNvPr id="700535718" name="Text 21"/>
          <p:cNvSpPr/>
          <p:nvPr/>
        </p:nvSpPr>
        <p:spPr bwMode="auto">
          <a:xfrm>
            <a:off x="6324480" y="401436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07</a:t>
            </a:r>
            <a:endParaRPr lang="es-ES" sz="2000" b="0" u="none" strike="noStrike">
              <a:solidFill>
                <a:srgbClr val="000000"/>
              </a:solidFill>
              <a:latin typeface="Arial"/>
            </a:endParaRPr>
          </a:p>
        </p:txBody>
      </p:sp>
      <p:sp>
        <p:nvSpPr>
          <p:cNvPr id="162153020" name="Text 22"/>
          <p:cNvSpPr/>
          <p:nvPr/>
        </p:nvSpPr>
        <p:spPr bwMode="auto">
          <a:xfrm>
            <a:off x="6827400" y="401436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 de victorias del equipo vs. DBPM</a:t>
            </a:r>
            <a:endParaRPr lang="es-ES" sz="1350" b="0" u="none" strike="noStrike">
              <a:solidFill>
                <a:srgbClr val="000000"/>
              </a:solidFill>
              <a:latin typeface="Arial"/>
            </a:endParaRPr>
          </a:p>
        </p:txBody>
      </p:sp>
      <p:sp>
        <p:nvSpPr>
          <p:cNvPr id="1255136603" name="Text 23"/>
          <p:cNvSpPr/>
          <p:nvPr/>
        </p:nvSpPr>
        <p:spPr bwMode="auto">
          <a:xfrm>
            <a:off x="6827400" y="431604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¿El dato defensivo sobrevive en equipos malos?   </a:t>
            </a:r>
            <a:endParaRPr lang="es-ES" sz="1100" b="0" u="none" strike="noStrike">
              <a:solidFill>
                <a:srgbClr val="000000"/>
              </a:solidFill>
              <a:latin typeface="Arial"/>
            </a:endParaRPr>
          </a:p>
        </p:txBody>
      </p:sp>
      <p:sp>
        <p:nvSpPr>
          <p:cNvPr id="1528838592" name="Text 24"/>
          <p:cNvSpPr/>
          <p:nvPr/>
        </p:nvSpPr>
        <p:spPr bwMode="auto">
          <a:xfrm>
            <a:off x="6324480" y="4946760"/>
            <a:ext cx="45684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2000" b="1" u="none" strike="noStrike">
                <a:solidFill>
                  <a:srgbClr val="FF7A29"/>
                </a:solidFill>
                <a:latin typeface="Calibri"/>
                <a:ea typeface="Calibri"/>
              </a:rPr>
              <a:t>08</a:t>
            </a:r>
            <a:endParaRPr lang="es-ES" sz="2000" b="0" u="none" strike="noStrike">
              <a:solidFill>
                <a:srgbClr val="000000"/>
              </a:solidFill>
              <a:latin typeface="Arial"/>
            </a:endParaRPr>
          </a:p>
        </p:txBody>
      </p:sp>
      <p:sp>
        <p:nvSpPr>
          <p:cNvPr id="1177781451" name="Text 25"/>
          <p:cNvSpPr/>
          <p:nvPr/>
        </p:nvSpPr>
        <p:spPr bwMode="auto">
          <a:xfrm>
            <a:off x="6827400" y="4946760"/>
            <a:ext cx="4815360" cy="310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1" u="none" strike="noStrike">
                <a:solidFill>
                  <a:srgbClr val="0B1E3D"/>
                </a:solidFill>
                <a:latin typeface="Calibri"/>
                <a:ea typeface="Calibri"/>
              </a:rPr>
              <a:t>Experiencia vs. eficiencia, por edad de entrada</a:t>
            </a:r>
            <a:endParaRPr lang="es-ES" sz="1350" b="0" u="none" strike="noStrike">
              <a:solidFill>
                <a:srgbClr val="000000"/>
              </a:solidFill>
              <a:latin typeface="Arial"/>
            </a:endParaRPr>
          </a:p>
        </p:txBody>
      </p:sp>
      <p:sp>
        <p:nvSpPr>
          <p:cNvPr id="135353705" name="Text 26"/>
          <p:cNvSpPr/>
          <p:nvPr/>
        </p:nvSpPr>
        <p:spPr bwMode="auto">
          <a:xfrm>
            <a:off x="6827400" y="5248800"/>
            <a:ext cx="481536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0000"/>
              </a:lnSpc>
              <a:tabLst>
                <a:tab pos="0" algn="l"/>
              </a:tabLst>
              <a:defRPr/>
            </a:pPr>
            <a:r>
              <a:rPr lang="en-US" sz="1100" b="0" i="1" u="none" strike="noStrike">
                <a:solidFill>
                  <a:srgbClr val="5B6B85"/>
                </a:solidFill>
                <a:latin typeface="Calibri"/>
                <a:ea typeface="Calibri"/>
              </a:rPr>
              <a:t>¿Desarrollo real o sesgo de selección?   </a:t>
            </a:r>
            <a:endParaRPr lang="es-ES" sz="1100" b="0" u="none" strike="noStrike">
              <a:solidFill>
                <a:srgbClr val="000000"/>
              </a:solidFill>
              <a:latin typeface="Arial"/>
            </a:endParaRPr>
          </a:p>
        </p:txBody>
      </p:sp>
      <p:pic>
        <p:nvPicPr>
          <p:cNvPr id="586038589" name="Image 0" descr="/tmp/claude-0/-home-claude/c0a8783c-8817-5425-bc4f-190e5f64548a/scratchpad/work/icons/basketball_E1590F.png"/>
          <p:cNvPicPr/>
          <p:nvPr/>
        </p:nvPicPr>
        <p:blipFill rotWithShape="1">
          <a:blip r:embed="rId3"/>
          <a:stretch/>
        </p:blipFill>
        <p:spPr bwMode="auto">
          <a:xfrm>
            <a:off x="548640" y="6546960"/>
            <a:ext cx="145800" cy="145800"/>
          </a:xfrm>
          <a:prstGeom prst="rect">
            <a:avLst/>
          </a:prstGeom>
          <a:noFill/>
          <a:ln w="0">
            <a:noFill/>
          </a:ln>
        </p:spPr>
      </p:pic>
      <p:sp>
        <p:nvSpPr>
          <p:cNvPr id="454535847" name="Text 28"/>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Análisis bivariado</a:t>
            </a:r>
            <a:endParaRPr lang="es-ES" sz="850" b="0" u="none" strike="noStrike">
              <a:solidFill>
                <a:srgbClr val="000000"/>
              </a:solidFill>
              <a:latin typeface="Arial"/>
            </a:endParaRPr>
          </a:p>
        </p:txBody>
      </p:sp>
      <p:sp>
        <p:nvSpPr>
          <p:cNvPr id="1867398198" name="Text 29"/>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12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561497771"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739372227"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Uso ofensivo (USG%) vs. eficiencia de tiro (TS%)</a:t>
            </a:r>
            <a:endParaRPr lang="es-ES" sz="2400" b="0" u="none" strike="noStrike">
              <a:solidFill>
                <a:srgbClr val="000000"/>
              </a:solidFill>
              <a:latin typeface="Arial"/>
            </a:endParaRPr>
          </a:p>
        </p:txBody>
      </p:sp>
      <p:sp>
        <p:nvSpPr>
          <p:cNvPr id="1048329647"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668570055" name="Image 0" descr="/tmp/claude-0/-home-claude/c0a8783c-8817-5425-bc4f-190e5f64548a/scratchpad/work/imgs/img_066.png"/>
          <p:cNvPicPr/>
          <p:nvPr/>
        </p:nvPicPr>
        <p:blipFill rotWithShape="1">
          <a:blip r:embed="rId3"/>
          <a:stretch/>
        </p:blipFill>
        <p:spPr bwMode="auto">
          <a:xfrm>
            <a:off x="658440" y="1852560"/>
            <a:ext cx="6638039" cy="4112640"/>
          </a:xfrm>
          <a:prstGeom prst="rect">
            <a:avLst/>
          </a:prstGeom>
          <a:noFill/>
          <a:ln w="0">
            <a:noFill/>
          </a:ln>
        </p:spPr>
      </p:pic>
      <p:sp>
        <p:nvSpPr>
          <p:cNvPr id="2096559165"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560384917"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0.11</a:t>
            </a:r>
            <a:endParaRPr lang="es-ES" sz="1700" b="0" u="none" strike="noStrike">
              <a:solidFill>
                <a:srgbClr val="000000"/>
              </a:solidFill>
              <a:latin typeface="Arial"/>
            </a:endParaRPr>
          </a:p>
        </p:txBody>
      </p:sp>
      <p:sp>
        <p:nvSpPr>
          <p:cNvPr id="528459260"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Tomar más volumen de tiro casi no cuesta eficiencia. Un pequeño grupo de "estrellas eficientes" combina alto uso Y alta eficiencia a la vez — rompen el patrón general de la liga.</a:t>
            </a:r>
            <a:endParaRPr lang="es-ES" sz="1150" b="0" u="none" strike="noStrike">
              <a:solidFill>
                <a:srgbClr val="000000"/>
              </a:solidFill>
              <a:latin typeface="Arial"/>
            </a:endParaRPr>
          </a:p>
        </p:txBody>
      </p:sp>
      <p:graphicFrame>
        <p:nvGraphicFramePr>
          <p:cNvPr id="1952004684" name="Table 0"/>
          <p:cNvGraphicFramePr>
            <a:graphicFrameLocks xmlns:a="http://schemas.openxmlformats.org/drawingml/2006/main"/>
          </p:cNvGraphicFramePr>
          <p:nvPr/>
        </p:nvGraphicFramePr>
        <p:xfrm rot="0">
          <a:off x="7772400" y="4050720"/>
          <a:ext cx="3870360" cy="1444320"/>
        </p:xfrm>
        <a:graphic>
          <a:graphicData uri="http://schemas.openxmlformats.org/drawingml/2006/table">
            <a:tbl>
              <a:tblPr firstRow="0" firstCol="0" lastRow="0" lastCol="0" bandRow="0" bandCol="0"/>
              <a:tblGrid>
                <a:gridCol w="1315800"/>
                <a:gridCol w="638640"/>
                <a:gridCol w="638640"/>
                <a:gridCol w="638640"/>
                <a:gridCol w="63864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USG%</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TS%</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VORP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Michael Jordan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34.1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0.603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12.5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LeBron James</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2009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33.8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0.591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11.8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Michael Jordan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0.614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11.4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David Robinson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32.0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0.577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11.4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Michael Jordan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32.9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0.605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10.8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702910391"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848997840"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1/8</a:t>
            </a:r>
            <a:endParaRPr lang="es-ES" sz="850" b="0" u="none" strike="noStrike">
              <a:solidFill>
                <a:srgbClr val="000000"/>
              </a:solidFill>
              <a:latin typeface="Arial"/>
            </a:endParaRPr>
          </a:p>
        </p:txBody>
      </p:sp>
      <p:sp>
        <p:nvSpPr>
          <p:cNvPr id="650280922"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13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579578261"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612662340"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Rendimiento vs. edad, como curva y no como correlación</a:t>
            </a:r>
            <a:endParaRPr lang="es-ES" sz="2400" b="0" u="none" strike="noStrike">
              <a:solidFill>
                <a:srgbClr val="000000"/>
              </a:solidFill>
              <a:latin typeface="Arial"/>
            </a:endParaRPr>
          </a:p>
        </p:txBody>
      </p:sp>
      <p:sp>
        <p:nvSpPr>
          <p:cNvPr id="1680357033" name="Shape 2"/>
          <p:cNvSpPr/>
          <p:nvPr/>
        </p:nvSpPr>
        <p:spPr bwMode="auto">
          <a:xfrm>
            <a:off x="548640" y="1600200"/>
            <a:ext cx="4875840" cy="4617360"/>
          </a:xfrm>
          <a:prstGeom prst="roundRect">
            <a:avLst>
              <a:gd name="adj" fmla="val 1188"/>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497791604" name="Image 0" descr="/tmp/claude-0/-home-claude/c0a8783c-8817-5425-bc4f-190e5f64548a/scratchpad/work/imgs/img_067.png"/>
          <p:cNvPicPr/>
          <p:nvPr/>
        </p:nvPicPr>
        <p:blipFill rotWithShape="1">
          <a:blip r:embed="rId3"/>
          <a:stretch/>
        </p:blipFill>
        <p:spPr bwMode="auto">
          <a:xfrm>
            <a:off x="658440" y="1710000"/>
            <a:ext cx="4656600" cy="4397760"/>
          </a:xfrm>
          <a:prstGeom prst="rect">
            <a:avLst/>
          </a:prstGeom>
          <a:noFill/>
          <a:ln w="0">
            <a:noFill/>
          </a:ln>
        </p:spPr>
      </p:pic>
      <p:sp>
        <p:nvSpPr>
          <p:cNvPr id="1807078239" name="Shape 3"/>
          <p:cNvSpPr/>
          <p:nvPr/>
        </p:nvSpPr>
        <p:spPr bwMode="auto">
          <a:xfrm>
            <a:off x="57906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694418073" name="Text 4"/>
          <p:cNvSpPr/>
          <p:nvPr/>
        </p:nvSpPr>
        <p:spPr bwMode="auto">
          <a:xfrm>
            <a:off x="57906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a:t>
            </a:r>
            <a:endParaRPr lang="es-ES" sz="1700" b="0" u="none" strike="noStrike">
              <a:solidFill>
                <a:srgbClr val="000000"/>
              </a:solidFill>
              <a:latin typeface="Arial"/>
            </a:endParaRPr>
          </a:p>
        </p:txBody>
      </p:sp>
      <p:sp>
        <p:nvSpPr>
          <p:cNvPr id="1568876886" name="Text 5"/>
          <p:cNvSpPr/>
          <p:nvPr/>
        </p:nvSpPr>
        <p:spPr bwMode="auto">
          <a:xfrm>
            <a:off x="5790600" y="2221920"/>
            <a:ext cx="58521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El PER promedio alcanza su pico entre los 27-28 años (14.3) y después declina gradualmente: una curva con techo, no una correlación lineal. Los minutos por partido siguen el mismo patrón de arco.</a:t>
            </a:r>
            <a:endParaRPr lang="es-ES" sz="1150" b="0" u="none" strike="noStrike">
              <a:solidFill>
                <a:srgbClr val="000000"/>
              </a:solidFill>
              <a:latin typeface="Arial"/>
            </a:endParaRPr>
          </a:p>
        </p:txBody>
      </p:sp>
      <p:graphicFrame>
        <p:nvGraphicFramePr>
          <p:cNvPr id="1637204249" name="Table 0"/>
          <p:cNvGraphicFramePr>
            <a:graphicFrameLocks xmlns:a="http://schemas.openxmlformats.org/drawingml/2006/main"/>
          </p:cNvGraphicFramePr>
          <p:nvPr/>
        </p:nvGraphicFramePr>
        <p:xfrm rot="0">
          <a:off x="5790600" y="4050720"/>
          <a:ext cx="5852160" cy="1444320"/>
        </p:xfrm>
        <a:graphic>
          <a:graphicData uri="http://schemas.openxmlformats.org/drawingml/2006/table">
            <a:tbl>
              <a:tblPr firstRow="0" firstCol="0" lastRow="0" lastCol="0" bandRow="0" bandCol="0"/>
              <a:tblGrid>
                <a:gridCol w="1989720"/>
                <a:gridCol w="965520"/>
                <a:gridCol w="965520"/>
                <a:gridCol w="965520"/>
                <a:gridCol w="96552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Edad</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PER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TS%</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Min/pp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n</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19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0.506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130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14.1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0.530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23.1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1316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14.3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0.534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24.7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1004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34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12.8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21.6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326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38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12.0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0.493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18.0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68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244952444"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1320696609"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2/8</a:t>
            </a:r>
            <a:endParaRPr lang="es-ES" sz="850" b="0" u="none" strike="noStrike">
              <a:solidFill>
                <a:srgbClr val="000000"/>
              </a:solidFill>
              <a:latin typeface="Arial"/>
            </a:endParaRPr>
          </a:p>
        </p:txBody>
      </p:sp>
      <p:sp>
        <p:nvSpPr>
          <p:cNvPr id="354412345"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14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813225535"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94364030"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 de intentos de triple vs. temporada</a:t>
            </a:r>
            <a:endParaRPr lang="es-ES" sz="2400" b="0" u="none" strike="noStrike">
              <a:solidFill>
                <a:srgbClr val="000000"/>
              </a:solidFill>
              <a:latin typeface="Arial"/>
            </a:endParaRPr>
          </a:p>
        </p:txBody>
      </p:sp>
      <p:sp>
        <p:nvSpPr>
          <p:cNvPr id="113821103"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610211086" name="Image 0" descr="/tmp/claude-0/-home-claude/c0a8783c-8817-5425-bc4f-190e5f64548a/scratchpad/work/imgs/img_069.png"/>
          <p:cNvPicPr/>
          <p:nvPr/>
        </p:nvPicPr>
        <p:blipFill rotWithShape="1">
          <a:blip r:embed="rId3"/>
          <a:stretch/>
        </p:blipFill>
        <p:spPr bwMode="auto">
          <a:xfrm>
            <a:off x="658440" y="1852560"/>
            <a:ext cx="6638039" cy="4112640"/>
          </a:xfrm>
          <a:prstGeom prst="rect">
            <a:avLst/>
          </a:prstGeom>
          <a:noFill/>
          <a:ln w="0">
            <a:noFill/>
          </a:ln>
        </p:spPr>
      </p:pic>
      <p:sp>
        <p:nvSpPr>
          <p:cNvPr id="1946991257"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788818528"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0.497</a:t>
            </a:r>
            <a:endParaRPr lang="es-ES" sz="1700" b="0" u="none" strike="noStrike">
              <a:solidFill>
                <a:srgbClr val="000000"/>
              </a:solidFill>
              <a:latin typeface="Arial"/>
            </a:endParaRPr>
          </a:p>
        </p:txBody>
      </p:sp>
      <p:sp>
        <p:nvSpPr>
          <p:cNvPr id="719668469"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El triple pasó de ser un recurso marginal a casi 4 de cada 10 intentos de campo. El cambio de estilo ocurre por quiebres identificables entre eras, no de forma gradual y suave.</a:t>
            </a:r>
            <a:endParaRPr lang="es-ES" sz="1150" b="0" u="none" strike="noStrike">
              <a:solidFill>
                <a:srgbClr val="000000"/>
              </a:solidFill>
              <a:latin typeface="Arial"/>
            </a:endParaRPr>
          </a:p>
        </p:txBody>
      </p:sp>
      <p:graphicFrame>
        <p:nvGraphicFramePr>
          <p:cNvPr id="1859717293" name="Table 0"/>
          <p:cNvGraphicFramePr>
            <a:graphicFrameLocks xmlns:a="http://schemas.openxmlformats.org/drawingml/2006/main"/>
          </p:cNvGraphicFramePr>
          <p:nvPr/>
        </p:nvGraphicFramePr>
        <p:xfrm rot="0">
          <a:off x="7772400" y="4050720"/>
          <a:ext cx="3870360" cy="1444320"/>
        </p:xfrm>
        <a:graphic>
          <a:graphicData uri="http://schemas.openxmlformats.org/drawingml/2006/table">
            <a:tbl>
              <a:tblPr firstRow="0" firstCol="0" lastRow="0" lastCol="0" bandRow="0" bandCol="0"/>
              <a:tblGrid>
                <a:gridCol w="1315800"/>
                <a:gridCol w="255456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Prop. media de intentos de triple</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1982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0.027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1995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0.165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2005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0.172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2014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0.267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2022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0.397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665172904"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1153770746"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3/8</a:t>
            </a:r>
            <a:endParaRPr lang="es-ES" sz="850" b="0" u="none" strike="noStrike">
              <a:solidFill>
                <a:srgbClr val="000000"/>
              </a:solidFill>
              <a:latin typeface="Arial"/>
            </a:endParaRPr>
          </a:p>
        </p:txBody>
      </p:sp>
      <p:sp>
        <p:nvSpPr>
          <p:cNvPr id="1697336692"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15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300706640"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660425372"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Rebote (TRB%) vs. creación de juego (AST%)</a:t>
            </a:r>
            <a:endParaRPr lang="es-ES" sz="2400" b="0" u="none" strike="noStrike">
              <a:solidFill>
                <a:srgbClr val="000000"/>
              </a:solidFill>
              <a:latin typeface="Arial"/>
            </a:endParaRPr>
          </a:p>
        </p:txBody>
      </p:sp>
      <p:pic>
        <p:nvPicPr>
          <p:cNvPr id="1388424866" name="Image 0" descr="/tmp/claude-0/-home-claude/c0a8783c-8817-5425-bc4f-190e5f64548a/scratchpad/work/imgs/img_rebote_westbrook.png"/>
          <p:cNvPicPr/>
          <p:nvPr/>
        </p:nvPicPr>
        <p:blipFill rotWithShape="1">
          <a:blip r:embed="rId3"/>
          <a:stretch/>
        </p:blipFill>
        <p:spPr bwMode="auto">
          <a:xfrm flipH="0" flipV="0">
            <a:off x="418487" y="1828620"/>
            <a:ext cx="7060363" cy="3818699"/>
          </a:xfrm>
          <a:prstGeom prst="rect">
            <a:avLst/>
          </a:prstGeom>
          <a:noFill/>
          <a:ln w="0">
            <a:noFill/>
          </a:ln>
        </p:spPr>
      </p:pic>
      <p:sp>
        <p:nvSpPr>
          <p:cNvPr id="1374580291"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808375748"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-0.504</a:t>
            </a:r>
            <a:endParaRPr lang="es-ES" sz="1700" b="0" u="none" strike="noStrike">
              <a:solidFill>
                <a:srgbClr val="000000"/>
              </a:solidFill>
              <a:latin typeface="Arial"/>
            </a:endParaRPr>
          </a:p>
        </p:txBody>
      </p:sp>
      <p:sp>
        <p:nvSpPr>
          <p:cNvPr id="2134964652"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Un trade-off posicional claro: a más rebote, menos asistencias, en promedio. La temporada señalada en el gráfico —Russell Westbrook, 2017— es el mayor outlier del dataset: 57,3% de AST% con 17,1% de TRB%, un base que rebota como interior sin dejar de repartir.</a:t>
            </a:r>
            <a:endParaRPr lang="es-ES" sz="1150" b="0" u="none" strike="noStrike">
              <a:solidFill>
                <a:srgbClr val="000000"/>
              </a:solidFill>
              <a:latin typeface="Arial"/>
            </a:endParaRPr>
          </a:p>
        </p:txBody>
      </p:sp>
      <p:graphicFrame>
        <p:nvGraphicFramePr>
          <p:cNvPr id="1135002123" name="Table 0"/>
          <p:cNvGraphicFramePr>
            <a:graphicFrameLocks xmlns:a="http://schemas.openxmlformats.org/drawingml/2006/main"/>
          </p:cNvGraphicFramePr>
          <p:nvPr/>
        </p:nvGraphicFramePr>
        <p:xfrm rot="0">
          <a:off x="7772400" y="4050720"/>
          <a:ext cx="3870360" cy="1444320"/>
        </p:xfrm>
        <a:graphic>
          <a:graphicData uri="http://schemas.openxmlformats.org/drawingml/2006/table">
            <a:tbl>
              <a:tblPr firstRow="0" firstCol="0" lastRow="0" lastCol="0" bandRow="0" bandCol="0"/>
              <a:tblGrid>
                <a:gridCol w="1315800"/>
                <a:gridCol w="638640"/>
                <a:gridCol w="638640"/>
                <a:gridCol w="638640"/>
                <a:gridCol w="63864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Pos.</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TRB%</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AST%</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David Robinson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C</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14.8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21.6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Kevin Garnett</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2004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PF</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24.4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Nikola Jokić</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2022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C</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23.0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42.6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Russell Westbrook</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2017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PG</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57.3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Kevin Garnett</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2005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PF</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27.1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214200903"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1202761180"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4/8</a:t>
            </a:r>
            <a:endParaRPr lang="es-ES" sz="850" b="0" u="none" strike="noStrike">
              <a:solidFill>
                <a:srgbClr val="000000"/>
              </a:solidFill>
              <a:latin typeface="Arial"/>
            </a:endParaRPr>
          </a:p>
        </p:txBody>
      </p:sp>
      <p:sp>
        <p:nvSpPr>
          <p:cNvPr id="1067469149"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16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92450513"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677870339"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Protagonismo (USG%) vs. producción (puntos por partido)</a:t>
            </a:r>
            <a:endParaRPr lang="es-ES" sz="2400" b="0" u="none" strike="noStrike">
              <a:solidFill>
                <a:srgbClr val="000000"/>
              </a:solidFill>
              <a:latin typeface="Arial"/>
            </a:endParaRPr>
          </a:p>
        </p:txBody>
      </p:sp>
      <p:sp>
        <p:nvSpPr>
          <p:cNvPr id="1651775737"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824840161" name="Image 0" descr="/tmp/claude-0/-home-claude/c0a8783c-8817-5425-bc4f-190e5f64548a/scratchpad/work/imgs/img_071.png"/>
          <p:cNvPicPr/>
          <p:nvPr/>
        </p:nvPicPr>
        <p:blipFill rotWithShape="1">
          <a:blip r:embed="rId3"/>
          <a:stretch/>
        </p:blipFill>
        <p:spPr bwMode="auto">
          <a:xfrm>
            <a:off x="658440" y="1852560"/>
            <a:ext cx="6638039" cy="4112640"/>
          </a:xfrm>
          <a:prstGeom prst="rect">
            <a:avLst/>
          </a:prstGeom>
          <a:noFill/>
          <a:ln w="0">
            <a:noFill/>
          </a:ln>
        </p:spPr>
      </p:pic>
      <p:sp>
        <p:nvSpPr>
          <p:cNvPr id="343655561"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903898561"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0.731</a:t>
            </a:r>
            <a:endParaRPr lang="es-ES" sz="1700" b="0" u="none" strike="noStrike">
              <a:solidFill>
                <a:srgbClr val="000000"/>
              </a:solidFill>
              <a:latin typeface="Arial"/>
            </a:endParaRPr>
          </a:p>
        </p:txBody>
      </p:sp>
      <p:sp>
        <p:nvSpPr>
          <p:cNvPr id="372613175"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La correlación más fuerte del panel bivariado: a más protagonismo ofensivo, más puntos. Pero existen excepciones — jugadores que anotan mucho sin ser el protagonista ofensivo de su equipo.</a:t>
            </a:r>
            <a:endParaRPr lang="es-ES" sz="1150" b="0" u="none" strike="noStrike">
              <a:solidFill>
                <a:srgbClr val="000000"/>
              </a:solidFill>
              <a:latin typeface="Arial"/>
            </a:endParaRPr>
          </a:p>
        </p:txBody>
      </p:sp>
      <p:graphicFrame>
        <p:nvGraphicFramePr>
          <p:cNvPr id="1449959177" name="Table 0"/>
          <p:cNvGraphicFramePr>
            <a:graphicFrameLocks xmlns:a="http://schemas.openxmlformats.org/drawingml/2006/main"/>
          </p:cNvGraphicFramePr>
          <p:nvPr/>
        </p:nvGraphicFramePr>
        <p:xfrm rot="0">
          <a:off x="7772400" y="4050720"/>
          <a:ext cx="3870360" cy="1444320"/>
        </p:xfrm>
        <a:graphic>
          <a:graphicData uri="http://schemas.openxmlformats.org/drawingml/2006/table">
            <a:tbl>
              <a:tblPr firstRow="0" firstCol="0" lastRow="0" lastCol="0" bandRow="0" bandCol="0"/>
              <a:tblGrid>
                <a:gridCol w="1315800"/>
                <a:gridCol w="638640"/>
                <a:gridCol w="638640"/>
                <a:gridCol w="638640"/>
                <a:gridCol w="63864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USG%</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Pts/p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TS%</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Dan Majerle</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16.9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0.573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Harrison Barnes</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16.1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0.626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Michael Cage</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15.7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0.579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Danny Ainge</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15.7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0.598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Rudy Gobert</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2022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16.9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15.6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0.732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071988746"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83150734"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5/8</a:t>
            </a:r>
            <a:endParaRPr lang="es-ES" sz="850" b="0" u="none" strike="noStrike">
              <a:solidFill>
                <a:srgbClr val="000000"/>
              </a:solidFill>
              <a:latin typeface="Arial"/>
            </a:endParaRPr>
          </a:p>
        </p:txBody>
      </p:sp>
      <p:sp>
        <p:nvSpPr>
          <p:cNvPr id="357999488"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17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679659238"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202938101"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Minutos totales vs. valor sobre el reemplazo (VORP)</a:t>
            </a:r>
            <a:endParaRPr lang="es-ES" sz="2400" b="0" u="none" strike="noStrike">
              <a:solidFill>
                <a:srgbClr val="000000"/>
              </a:solidFill>
              <a:latin typeface="Arial"/>
            </a:endParaRPr>
          </a:p>
        </p:txBody>
      </p:sp>
      <p:sp>
        <p:nvSpPr>
          <p:cNvPr id="1889660937"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436832970" name="Image 0" descr="/tmp/claude-0/-home-claude/c0a8783c-8817-5425-bc4f-190e5f64548a/scratchpad/work/imgs/img_072.png"/>
          <p:cNvPicPr/>
          <p:nvPr/>
        </p:nvPicPr>
        <p:blipFill rotWithShape="1">
          <a:blip r:embed="rId3"/>
          <a:stretch/>
        </p:blipFill>
        <p:spPr bwMode="auto">
          <a:xfrm>
            <a:off x="658440" y="1852560"/>
            <a:ext cx="6638039" cy="4112640"/>
          </a:xfrm>
          <a:prstGeom prst="rect">
            <a:avLst/>
          </a:prstGeom>
          <a:noFill/>
          <a:ln w="0">
            <a:noFill/>
          </a:ln>
        </p:spPr>
      </p:pic>
      <p:sp>
        <p:nvSpPr>
          <p:cNvPr id="179348897"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992846705"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0.662</a:t>
            </a:r>
            <a:endParaRPr lang="es-ES" sz="1700" b="0" u="none" strike="noStrike">
              <a:solidFill>
                <a:srgbClr val="000000"/>
              </a:solidFill>
              <a:latin typeface="Arial"/>
            </a:endParaRPr>
          </a:p>
        </p:txBody>
      </p:sp>
      <p:sp>
        <p:nvSpPr>
          <p:cNvPr id="1753234889"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La correlación es fuerte, pero el boxplot por decil de minutos muestra que la relación no es lineal: el VORP se acelera de forma notoria en el último decil de oportunidad.</a:t>
            </a:r>
            <a:endParaRPr lang="es-ES" sz="1150" b="0" u="none" strike="noStrike">
              <a:solidFill>
                <a:srgbClr val="000000"/>
              </a:solidFill>
              <a:latin typeface="Arial"/>
            </a:endParaRPr>
          </a:p>
        </p:txBody>
      </p:sp>
      <p:graphicFrame>
        <p:nvGraphicFramePr>
          <p:cNvPr id="1429342053" name="Table 0"/>
          <p:cNvGraphicFramePr>
            <a:graphicFrameLocks xmlns:a="http://schemas.openxmlformats.org/drawingml/2006/main"/>
          </p:cNvGraphicFramePr>
          <p:nvPr/>
        </p:nvGraphicFramePr>
        <p:xfrm rot="0">
          <a:off x="7772400" y="3011714"/>
          <a:ext cx="3870360" cy="1444320"/>
        </p:xfrm>
        <a:graphic>
          <a:graphicData uri="http://schemas.openxmlformats.org/drawingml/2006/table">
            <a:tbl>
              <a:tblPr firstRow="0" firstCol="0" lastRow="0" lastCol="0" bandRow="0" bandCol="0"/>
              <a:tblGrid>
                <a:gridCol w="1315800"/>
                <a:gridCol w="1277280"/>
                <a:gridCol w="1277280"/>
              </a:tblGrid>
              <a:tr h="440137">
                <a:tc>
                  <a:txBody>
                    <a:bodyPr/>
                    <a:p>
                      <a:pPr defTabSz="914400">
                        <a:lnSpc>
                          <a:spcPct val="100000"/>
                        </a:lnSpc>
                        <a:tabLst>
                          <a:tab pos="0" algn="l"/>
                        </a:tabLst>
                        <a:defRPr/>
                      </a:pPr>
                      <a:r>
                        <a:rPr lang="en-US" sz="850" b="1" u="none" strike="noStrike">
                          <a:solidFill>
                            <a:srgbClr val="FFFFFF"/>
                          </a:solidFill>
                          <a:latin typeface="Calibri"/>
                          <a:ea typeface="Calibri"/>
                        </a:rPr>
                        <a:t>Decil</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Min. prom.</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VORP prom.</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408565">
                <a:tc>
                  <a:txBody>
                    <a:bodyPr/>
                    <a:p>
                      <a:pPr defTabSz="914400">
                        <a:lnSpc>
                          <a:spcPct val="100000"/>
                        </a:lnSpc>
                        <a:tabLst>
                          <a:tab pos="0" algn="l"/>
                        </a:tabLst>
                        <a:defRPr/>
                      </a:pPr>
                      <a:r>
                        <a:rPr lang="en-US" sz="900" b="0" u="none" strike="noStrike">
                          <a:solidFill>
                            <a:srgbClr val="12203D"/>
                          </a:solidFill>
                          <a:latin typeface="Calibri"/>
                          <a:ea typeface="Calibri"/>
                        </a:rPr>
                        <a:t>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182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-0.09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408565">
                <a:tc>
                  <a:txBody>
                    <a:bodyPr/>
                    <a:p>
                      <a:pPr defTabSz="914400">
                        <a:lnSpc>
                          <a:spcPct val="100000"/>
                        </a:lnSpc>
                        <a:tabLst>
                          <a:tab pos="0" algn="l"/>
                        </a:tabLst>
                        <a:defRPr/>
                      </a:pPr>
                      <a:r>
                        <a:rPr lang="en-US" sz="900" b="0" u="none" strike="noStrike">
                          <a:solidFill>
                            <a:srgbClr val="12203D"/>
                          </a:solidFill>
                          <a:latin typeface="Calibri"/>
                          <a:ea typeface="Calibri"/>
                        </a:rPr>
                        <a:t>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968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0.05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408565">
                <a:tc>
                  <a:txBody>
                    <a:bodyPr/>
                    <a:p>
                      <a:pPr defTabSz="914400">
                        <a:lnSpc>
                          <a:spcPct val="100000"/>
                        </a:lnSpc>
                        <a:tabLst>
                          <a:tab pos="0" algn="l"/>
                        </a:tabLst>
                        <a:defRPr/>
                      </a:pPr>
                      <a:r>
                        <a:rPr lang="en-US" sz="900" b="0" u="none" strike="noStrike">
                          <a:solidFill>
                            <a:srgbClr val="12203D"/>
                          </a:solidFill>
                          <a:latin typeface="Calibri"/>
                          <a:ea typeface="Calibri"/>
                        </a:rPr>
                        <a:t>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1838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0.85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408565">
                <a:tc>
                  <a:txBody>
                    <a:bodyPr/>
                    <a:p>
                      <a:pPr defTabSz="914400">
                        <a:lnSpc>
                          <a:spcPct val="100000"/>
                        </a:lnSpc>
                        <a:tabLst>
                          <a:tab pos="0" algn="l"/>
                        </a:tabLst>
                        <a:defRPr/>
                      </a:pPr>
                      <a:r>
                        <a:rPr lang="en-US" sz="900" b="0" u="none" strike="noStrike">
                          <a:solidFill>
                            <a:srgbClr val="12203D"/>
                          </a:solidFill>
                          <a:latin typeface="Calibri"/>
                          <a:ea typeface="Calibri"/>
                        </a:rPr>
                        <a:t>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2482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1.87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408565">
                <a:tc>
                  <a:txBody>
                    <a:bodyPr/>
                    <a:p>
                      <a:pPr defTabSz="914400">
                        <a:lnSpc>
                          <a:spcPct val="100000"/>
                        </a:lnSpc>
                        <a:tabLst>
                          <a:tab pos="0" algn="l"/>
                        </a:tabLst>
                        <a:defRPr/>
                      </a:pPr>
                      <a:r>
                        <a:rPr lang="en-US" sz="900" b="0" u="none" strike="noStrike">
                          <a:solidFill>
                            <a:srgbClr val="12203D"/>
                          </a:solidFill>
                          <a:latin typeface="Calibri"/>
                          <a:ea typeface="Calibri"/>
                        </a:rPr>
                        <a:t>10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2920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3.30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264699928"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573142045"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6/8</a:t>
            </a:r>
            <a:endParaRPr lang="es-ES" sz="850" b="0" u="none" strike="noStrike">
              <a:solidFill>
                <a:srgbClr val="000000"/>
              </a:solidFill>
              <a:latin typeface="Arial"/>
            </a:endParaRPr>
          </a:p>
        </p:txBody>
      </p:sp>
      <p:sp>
        <p:nvSpPr>
          <p:cNvPr id="1461126247"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18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859218582"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822704573"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 de victorias del equipo vs. impacto defensivo (DBPM)</a:t>
            </a:r>
            <a:endParaRPr lang="es-ES" sz="2400" b="0" u="none" strike="noStrike">
              <a:solidFill>
                <a:srgbClr val="000000"/>
              </a:solidFill>
              <a:latin typeface="Arial"/>
            </a:endParaRPr>
          </a:p>
        </p:txBody>
      </p:sp>
      <p:sp>
        <p:nvSpPr>
          <p:cNvPr id="1653379223"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2101554099" name="Image 0" descr="/tmp/claude-0/-home-claude/c0a8783c-8817-5425-bc4f-190e5f64548a/scratchpad/work/imgs/img_074.png"/>
          <p:cNvPicPr/>
          <p:nvPr/>
        </p:nvPicPr>
        <p:blipFill rotWithShape="1">
          <a:blip r:embed="rId3"/>
          <a:stretch/>
        </p:blipFill>
        <p:spPr bwMode="auto">
          <a:xfrm>
            <a:off x="658440" y="1852560"/>
            <a:ext cx="6638039" cy="4112640"/>
          </a:xfrm>
          <a:prstGeom prst="rect">
            <a:avLst/>
          </a:prstGeom>
          <a:noFill/>
          <a:ln w="0">
            <a:noFill/>
          </a:ln>
        </p:spPr>
      </p:pic>
      <p:sp>
        <p:nvSpPr>
          <p:cNvPr id="809969146" name="Shape 3"/>
          <p:cNvSpPr/>
          <p:nvPr/>
        </p:nvSpPr>
        <p:spPr bwMode="auto">
          <a:xfrm>
            <a:off x="7772400" y="1600200"/>
            <a:ext cx="1416960" cy="456840"/>
          </a:xfrm>
          <a:prstGeom prst="roundRect">
            <a:avLst>
              <a:gd name="adj" fmla="val 50000"/>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22879595" name="Text 4"/>
          <p:cNvSpPr/>
          <p:nvPr/>
        </p:nvSpPr>
        <p:spPr bwMode="auto">
          <a:xfrm>
            <a:off x="7772400" y="1600200"/>
            <a:ext cx="1416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defRPr/>
            </a:pPr>
            <a:r>
              <a:rPr lang="en-US" sz="1700" b="1" u="none" strike="noStrike">
                <a:solidFill>
                  <a:srgbClr val="FFFFFF"/>
                </a:solidFill>
                <a:latin typeface="Calibri"/>
                <a:ea typeface="Calibri"/>
              </a:rPr>
              <a:t>r = 0.343</a:t>
            </a:r>
            <a:endParaRPr lang="es-ES" sz="1700" b="0" u="none" strike="noStrike">
              <a:solidFill>
                <a:srgbClr val="000000"/>
              </a:solidFill>
              <a:latin typeface="Arial"/>
            </a:endParaRPr>
          </a:p>
        </p:txBody>
      </p:sp>
      <p:sp>
        <p:nvSpPr>
          <p:cNvPr id="1301699726" name="Text 5"/>
          <p:cNvSpPr/>
          <p:nvPr/>
        </p:nvSpPr>
        <p:spPr bwMode="auto">
          <a:xfrm>
            <a:off x="7772400" y="222192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Las métricas defensivas individuales son las menos fiables porque dependen del sistema del equipo. Existen "defensores escondidos": DBPM alto que sobrevive incluso en equipos con pocas victorias.</a:t>
            </a:r>
            <a:endParaRPr lang="es-ES" sz="1150" b="0" u="none" strike="noStrike">
              <a:solidFill>
                <a:srgbClr val="000000"/>
              </a:solidFill>
              <a:latin typeface="Arial"/>
            </a:endParaRPr>
          </a:p>
        </p:txBody>
      </p:sp>
      <p:graphicFrame>
        <p:nvGraphicFramePr>
          <p:cNvPr id="1743404619" name="Table 0"/>
          <p:cNvGraphicFramePr>
            <a:graphicFrameLocks xmlns:a="http://schemas.openxmlformats.org/drawingml/2006/main"/>
          </p:cNvGraphicFramePr>
          <p:nvPr/>
        </p:nvGraphicFramePr>
        <p:xfrm rot="0">
          <a:off x="7772400" y="3320142"/>
          <a:ext cx="3870360" cy="2065679"/>
        </p:xfrm>
        <a:graphic>
          <a:graphicData uri="http://schemas.openxmlformats.org/drawingml/2006/table">
            <a:tbl>
              <a:tblPr firstRow="0" firstCol="0" lastRow="0" lastCol="0" bandRow="0" bandCol="0"/>
              <a:tblGrid>
                <a:gridCol w="1315800"/>
                <a:gridCol w="638640"/>
                <a:gridCol w="638640"/>
                <a:gridCol w="638640"/>
                <a:gridCol w="638640"/>
              </a:tblGrid>
              <a:tr h="366168">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Equipo</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DBPM</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 Vict.</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339902">
                <a:tc>
                  <a:txBody>
                    <a:bodyPr/>
                    <a:p>
                      <a:pPr defTabSz="914400">
                        <a:lnSpc>
                          <a:spcPct val="100000"/>
                        </a:lnSpc>
                        <a:tabLst>
                          <a:tab pos="0" algn="l"/>
                        </a:tabLst>
                        <a:defRPr/>
                      </a:pPr>
                      <a:r>
                        <a:rPr lang="en-US" sz="900" b="0" u="none" strike="noStrike">
                          <a:solidFill>
                            <a:srgbClr val="12203D"/>
                          </a:solidFill>
                          <a:latin typeface="Calibri"/>
                          <a:ea typeface="Calibri"/>
                        </a:rPr>
                        <a:t>Mark Eaton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UTA</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4.3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0.366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39902">
                <a:tc>
                  <a:txBody>
                    <a:bodyPr/>
                    <a:p>
                      <a:pPr defTabSz="914400">
                        <a:lnSpc>
                          <a:spcPct val="100000"/>
                        </a:lnSpc>
                        <a:tabLst>
                          <a:tab pos="0" algn="l"/>
                        </a:tabLst>
                        <a:defRPr/>
                      </a:pPr>
                      <a:r>
                        <a:rPr lang="en-US" sz="900" b="0" u="none" strike="noStrike">
                          <a:solidFill>
                            <a:srgbClr val="12203D"/>
                          </a:solidFill>
                          <a:latin typeface="Calibri"/>
                          <a:ea typeface="Calibri"/>
                        </a:rPr>
                        <a:t>Eric Murdock</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1997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DEN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0.256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39902">
                <a:tc>
                  <a:txBody>
                    <a:bodyPr/>
                    <a:p>
                      <a:pPr defTabSz="914400">
                        <a:lnSpc>
                          <a:spcPct val="100000"/>
                        </a:lnSpc>
                        <a:tabLst>
                          <a:tab pos="0" algn="l"/>
                        </a:tabLst>
                        <a:defRPr/>
                      </a:pPr>
                      <a:r>
                        <a:rPr lang="en-US" sz="900" b="0" u="none" strike="noStrike">
                          <a:solidFill>
                            <a:srgbClr val="12203D"/>
                          </a:solidFill>
                          <a:latin typeface="Calibri"/>
                          <a:ea typeface="Calibri"/>
                        </a:rPr>
                        <a:t>Andrei Kirilenko</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2005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UTA</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0.317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39902">
                <a:tc>
                  <a:txBody>
                    <a:bodyPr/>
                    <a:p>
                      <a:pPr defTabSz="914400">
                        <a:lnSpc>
                          <a:spcPct val="100000"/>
                        </a:lnSpc>
                        <a:tabLst>
                          <a:tab pos="0" algn="l"/>
                        </a:tabLst>
                        <a:defRPr/>
                      </a:pPr>
                      <a:r>
                        <a:rPr lang="en-US" sz="900" b="0" u="none" strike="noStrike">
                          <a:solidFill>
                            <a:srgbClr val="12203D"/>
                          </a:solidFill>
                          <a:latin typeface="Calibri"/>
                          <a:ea typeface="Calibri"/>
                        </a:rPr>
                        <a:t>Kyle Lowry</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2007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MEM</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0.268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39902">
                <a:tc>
                  <a:txBody>
                    <a:bodyPr/>
                    <a:p>
                      <a:pPr defTabSz="914400">
                        <a:lnSpc>
                          <a:spcPct val="100000"/>
                        </a:lnSpc>
                        <a:tabLst>
                          <a:tab pos="0" algn="l"/>
                        </a:tabLst>
                        <a:defRPr/>
                      </a:pPr>
                      <a:r>
                        <a:rPr lang="en-US" sz="900" b="0" u="none" strike="noStrike">
                          <a:solidFill>
                            <a:srgbClr val="12203D"/>
                          </a:solidFill>
                          <a:latin typeface="Calibri"/>
                          <a:ea typeface="Calibri"/>
                        </a:rPr>
                        <a:t>Quinn Buckner</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1986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IND</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0.317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333042789"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54812136" name="Text 6"/>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7/8</a:t>
            </a:r>
            <a:endParaRPr lang="es-ES" sz="850" b="0" u="none" strike="noStrike">
              <a:solidFill>
                <a:srgbClr val="000000"/>
              </a:solidFill>
              <a:latin typeface="Arial"/>
            </a:endParaRPr>
          </a:p>
        </p:txBody>
      </p:sp>
      <p:sp>
        <p:nvSpPr>
          <p:cNvPr id="1268502654" name="Text 7"/>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19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34021477"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04 · ANÁLISIS BIVARIADO</a:t>
            </a:r>
            <a:endParaRPr lang="es-ES" sz="1150" b="0" u="none" strike="noStrike">
              <a:solidFill>
                <a:srgbClr val="000000"/>
              </a:solidFill>
              <a:latin typeface="Arial"/>
            </a:endParaRPr>
          </a:p>
        </p:txBody>
      </p:sp>
      <p:sp>
        <p:nvSpPr>
          <p:cNvPr id="118996180"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Años de experiencia vs. eficiencia, por edad de entrada</a:t>
            </a:r>
            <a:endParaRPr lang="es-ES" sz="2400" b="0" u="none" strike="noStrike">
              <a:solidFill>
                <a:srgbClr val="000000"/>
              </a:solidFill>
              <a:latin typeface="Arial"/>
            </a:endParaRPr>
          </a:p>
        </p:txBody>
      </p:sp>
      <p:sp>
        <p:nvSpPr>
          <p:cNvPr id="612746227" name="Shape 2"/>
          <p:cNvSpPr/>
          <p:nvPr/>
        </p:nvSpPr>
        <p:spPr bwMode="auto">
          <a:xfrm>
            <a:off x="548640" y="1742759"/>
            <a:ext cx="6857640" cy="4331880"/>
          </a:xfrm>
          <a:prstGeom prst="roundRect">
            <a:avLst>
              <a:gd name="adj" fmla="val 1266"/>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27114075" name="Image 0" descr="/tmp/claude-0/-home-claude/c0a8783c-8817-5425-bc4f-190e5f64548a/scratchpad/work/imgs/img_075.png"/>
          <p:cNvPicPr/>
          <p:nvPr/>
        </p:nvPicPr>
        <p:blipFill rotWithShape="1">
          <a:blip r:embed="rId3"/>
          <a:stretch/>
        </p:blipFill>
        <p:spPr bwMode="auto">
          <a:xfrm>
            <a:off x="658440" y="1852560"/>
            <a:ext cx="6638039" cy="4112640"/>
          </a:xfrm>
          <a:prstGeom prst="rect">
            <a:avLst/>
          </a:prstGeom>
          <a:noFill/>
          <a:ln w="0">
            <a:noFill/>
          </a:ln>
        </p:spPr>
      </p:pic>
      <p:sp>
        <p:nvSpPr>
          <p:cNvPr id="1763595941" name="Text 3"/>
          <p:cNvSpPr/>
          <p:nvPr/>
        </p:nvSpPr>
        <p:spPr bwMode="auto">
          <a:xfrm>
            <a:off x="7772400" y="160020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A igual experiencia, entrar más joven a la liga se asocia con mayor PER. A 5 años de experiencia, quienes entraron con ≤19 años promedian 17.8 de PER frente a 13.1 de quienes entraron con 24+ años.</a:t>
            </a:r>
            <a:endParaRPr lang="es-ES" sz="1150" b="0" u="none" strike="noStrike">
              <a:solidFill>
                <a:srgbClr val="000000"/>
              </a:solidFill>
              <a:latin typeface="Arial"/>
            </a:endParaRPr>
          </a:p>
        </p:txBody>
      </p:sp>
      <p:graphicFrame>
        <p:nvGraphicFramePr>
          <p:cNvPr id="1156494486" name="Table 0"/>
          <p:cNvGraphicFramePr>
            <a:graphicFrameLocks xmlns:a="http://schemas.openxmlformats.org/drawingml/2006/main"/>
          </p:cNvGraphicFramePr>
          <p:nvPr/>
        </p:nvGraphicFramePr>
        <p:xfrm rot="0">
          <a:off x="7772400" y="2857500"/>
          <a:ext cx="3870360" cy="1832288"/>
        </p:xfrm>
        <a:graphic>
          <a:graphicData uri="http://schemas.openxmlformats.org/drawingml/2006/table">
            <a:tbl>
              <a:tblPr firstRow="0" firstCol="0" lastRow="0" lastCol="0" bandRow="0" bandCol="0"/>
              <a:tblGrid>
                <a:gridCol w="1315800"/>
                <a:gridCol w="1277280"/>
                <a:gridCol w="1277280"/>
              </a:tblGrid>
              <a:tr h="388767">
                <a:tc>
                  <a:txBody>
                    <a:bodyPr/>
                    <a:p>
                      <a:pPr defTabSz="914400">
                        <a:lnSpc>
                          <a:spcPct val="100000"/>
                        </a:lnSpc>
                        <a:tabLst>
                          <a:tab pos="0" algn="l"/>
                        </a:tabLst>
                        <a:defRPr/>
                      </a:pPr>
                      <a:r>
                        <a:rPr lang="en-US" sz="850" b="1" u="none" strike="noStrike">
                          <a:solidFill>
                            <a:srgbClr val="FFFFFF"/>
                          </a:solidFill>
                          <a:latin typeface="Calibri"/>
                          <a:ea typeface="Calibri"/>
                        </a:rPr>
                        <a:t>Edad entrada</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PER (año 5)</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Jugadores</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360880">
                <a:tc>
                  <a:txBody>
                    <a:bodyPr/>
                    <a:p>
                      <a:pPr defTabSz="914400">
                        <a:lnSpc>
                          <a:spcPct val="100000"/>
                        </a:lnSpc>
                        <a:tabLst>
                          <a:tab pos="0" algn="l"/>
                        </a:tabLst>
                        <a:defRPr/>
                      </a:pPr>
                      <a:r>
                        <a:rPr lang="en-US" sz="900" b="0" u="none" strike="noStrike">
                          <a:solidFill>
                            <a:srgbClr val="12203D"/>
                          </a:solidFill>
                          <a:latin typeface="Calibri"/>
                          <a:ea typeface="Calibri"/>
                        </a:rPr>
                        <a:t>≤19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17.83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132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60880">
                <a:tc>
                  <a:txBody>
                    <a:bodyPr/>
                    <a:p>
                      <a:pPr defTabSz="914400">
                        <a:lnSpc>
                          <a:spcPct val="100000"/>
                        </a:lnSpc>
                        <a:tabLst>
                          <a:tab pos="0" algn="l"/>
                        </a:tabLst>
                        <a:defRPr/>
                      </a:pPr>
                      <a:r>
                        <a:rPr lang="en-US" sz="900" b="0" u="none" strike="noStrike">
                          <a:solidFill>
                            <a:srgbClr val="12203D"/>
                          </a:solidFill>
                          <a:latin typeface="Calibri"/>
                          <a:ea typeface="Calibri"/>
                        </a:rPr>
                        <a:t>20-21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16.63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515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360880">
                <a:tc>
                  <a:txBody>
                    <a:bodyPr/>
                    <a:p>
                      <a:pPr defTabSz="914400">
                        <a:lnSpc>
                          <a:spcPct val="100000"/>
                        </a:lnSpc>
                        <a:tabLst>
                          <a:tab pos="0" algn="l"/>
                        </a:tabLst>
                        <a:defRPr/>
                      </a:pPr>
                      <a:r>
                        <a:rPr lang="en-US" sz="900" b="0" u="none" strike="noStrike">
                          <a:solidFill>
                            <a:srgbClr val="12203D"/>
                          </a:solidFill>
                          <a:latin typeface="Calibri"/>
                          <a:ea typeface="Calibri"/>
                        </a:rPr>
                        <a:t>22-23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13.99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1245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360880">
                <a:tc>
                  <a:txBody>
                    <a:bodyPr/>
                    <a:p>
                      <a:pPr defTabSz="914400">
                        <a:lnSpc>
                          <a:spcPct val="100000"/>
                        </a:lnSpc>
                        <a:tabLst>
                          <a:tab pos="0" algn="l"/>
                        </a:tabLst>
                        <a:defRPr/>
                      </a:pPr>
                      <a:r>
                        <a:rPr lang="en-US" sz="900" b="0" u="none" strike="noStrike">
                          <a:solidFill>
                            <a:srgbClr val="12203D"/>
                          </a:solidFill>
                          <a:latin typeface="Calibri"/>
                          <a:ea typeface="Calibri"/>
                        </a:rPr>
                        <a:t>24+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13.11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803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bl>
          </a:graphicData>
        </a:graphic>
      </p:graphicFrame>
      <p:pic>
        <p:nvPicPr>
          <p:cNvPr id="1777645769"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296969275" name="Text 4"/>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04 · Bivariado · 8/8</a:t>
            </a:r>
            <a:endParaRPr lang="es-ES" sz="850" b="0" u="none" strike="noStrike">
              <a:solidFill>
                <a:srgbClr val="000000"/>
              </a:solidFill>
              <a:latin typeface="Arial"/>
            </a:endParaRPr>
          </a:p>
        </p:txBody>
      </p:sp>
      <p:sp>
        <p:nvSpPr>
          <p:cNvPr id="2063064120" name="Text 5"/>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20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1892380169"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05 · DATOS INTERESANTES ENCONTRADOS</a:t>
            </a:r>
            <a:endParaRPr lang="es-ES" sz="1150" b="0" u="none" strike="noStrike">
              <a:solidFill>
                <a:srgbClr val="000000"/>
              </a:solidFill>
              <a:latin typeface="Arial"/>
            </a:endParaRPr>
          </a:p>
        </p:txBody>
      </p:sp>
      <p:sp>
        <p:nvSpPr>
          <p:cNvPr id="110167978"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Puntos por partido según temporada — el listón histórico</a:t>
            </a:r>
            <a:endParaRPr lang="es-ES" sz="2400" b="0" u="none" strike="noStrike">
              <a:solidFill>
                <a:srgbClr val="000000"/>
              </a:solidFill>
              <a:latin typeface="Arial"/>
            </a:endParaRPr>
          </a:p>
        </p:txBody>
      </p:sp>
      <p:sp>
        <p:nvSpPr>
          <p:cNvPr id="341002966" name="Shape 2"/>
          <p:cNvSpPr/>
          <p:nvPr/>
        </p:nvSpPr>
        <p:spPr bwMode="auto">
          <a:xfrm>
            <a:off x="548640" y="2004120"/>
            <a:ext cx="6857640" cy="3809519"/>
          </a:xfrm>
          <a:prstGeom prst="roundRect">
            <a:avLst>
              <a:gd name="adj" fmla="val 1440"/>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943721149" name="Image 0" descr="/tmp/claude-0/-home-claude/c0a8783c-8817-5425-bc4f-190e5f64548a/scratchpad/work/imgs/img_puntos_temporada.png"/>
          <p:cNvPicPr/>
          <p:nvPr/>
        </p:nvPicPr>
        <p:blipFill rotWithShape="1">
          <a:blip r:embed="rId3"/>
          <a:stretch/>
        </p:blipFill>
        <p:spPr bwMode="auto">
          <a:xfrm>
            <a:off x="658440" y="2113920"/>
            <a:ext cx="6638039" cy="3590280"/>
          </a:xfrm>
          <a:prstGeom prst="rect">
            <a:avLst/>
          </a:prstGeom>
          <a:noFill/>
          <a:ln w="0">
            <a:noFill/>
          </a:ln>
        </p:spPr>
      </p:pic>
      <p:sp>
        <p:nvSpPr>
          <p:cNvPr id="1848217760" name="Text 3"/>
          <p:cNvSpPr/>
          <p:nvPr/>
        </p:nvSpPr>
        <p:spPr bwMode="auto">
          <a:xfrm>
            <a:off x="7772400" y="160020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Cada caja es una temporada completa de la liga; los puntos dorados marcan al máximo anotador de cada año. La mediana de la liga apenas se mueve entre 7 y 9 puntos por partido en 41 años, pero el techo de las estrellas sí varía con fuerza: la temporada 1987 de Michael Jordan sigue siendo, en este dataset, la mayor anotación promedio jamás registrada.</a:t>
            </a:r>
            <a:endParaRPr lang="es-ES" sz="1150" b="0" u="none" strike="noStrike">
              <a:solidFill>
                <a:srgbClr val="000000"/>
              </a:solidFill>
              <a:latin typeface="Arial"/>
            </a:endParaRPr>
          </a:p>
        </p:txBody>
      </p:sp>
      <p:graphicFrame>
        <p:nvGraphicFramePr>
          <p:cNvPr id="647795815" name="Table 0"/>
          <p:cNvGraphicFramePr>
            <a:graphicFrameLocks xmlns:a="http://schemas.openxmlformats.org/drawingml/2006/main"/>
          </p:cNvGraphicFramePr>
          <p:nvPr/>
        </p:nvGraphicFramePr>
        <p:xfrm rot="0">
          <a:off x="7772400" y="3429000"/>
          <a:ext cx="3870360" cy="1960920"/>
        </p:xfrm>
        <a:graphic>
          <a:graphicData uri="http://schemas.openxmlformats.org/drawingml/2006/table">
            <a:tbl>
              <a:tblPr firstRow="0" firstCol="0" lastRow="0" lastCol="0" bandRow="0" bandCol="0"/>
              <a:tblGrid>
                <a:gridCol w="1315800"/>
                <a:gridCol w="851400"/>
                <a:gridCol w="851400"/>
                <a:gridCol w="85140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Equipo</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Pts/p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1987</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Michael Jordan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CHI</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37.1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2019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James Harden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HOU</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36.1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2006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Kobe Bryant</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LAL</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35.4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1988</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Michael Jordan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CHI</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35.0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2020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James Harden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HOU</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34.3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1214325407"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928198929" name="Text 4"/>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05 · Datos interesantes · 1/2</a:t>
            </a:r>
            <a:endParaRPr lang="es-ES" sz="850" b="0" u="none" strike="noStrike">
              <a:solidFill>
                <a:srgbClr val="000000"/>
              </a:solidFill>
              <a:latin typeface="Arial"/>
            </a:endParaRPr>
          </a:p>
        </p:txBody>
      </p:sp>
      <p:sp>
        <p:nvSpPr>
          <p:cNvPr id="781598225" name="Text 5"/>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21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4F6F9"/>
        </a:solidFill>
      </p:bgPr>
    </p:bg>
    <p:spTree>
      <p:nvGrpSpPr>
        <p:cNvPr id="1" name=""/>
        <p:cNvGrpSpPr/>
        <p:nvPr/>
      </p:nvGrpSpPr>
      <p:grpSpPr bwMode="auto">
        <a:xfrm>
          <a:off x="0" y="0"/>
          <a:ext cx="0" cy="0"/>
          <a:chOff x="0" y="0"/>
          <a:chExt cx="0" cy="0"/>
        </a:xfrm>
      </p:grpSpPr>
      <p:sp>
        <p:nvSpPr>
          <p:cNvPr id="258989152" name="Text 0"/>
          <p:cNvSpPr/>
          <p:nvPr/>
        </p:nvSpPr>
        <p:spPr bwMode="auto">
          <a:xfrm>
            <a:off x="548640" y="411480"/>
            <a:ext cx="7314840" cy="292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1150" b="1" u="none" strike="noStrike" spc="201">
                <a:solidFill>
                  <a:srgbClr val="E1590F"/>
                </a:solidFill>
                <a:latin typeface="Calibri"/>
                <a:ea typeface="Calibri"/>
              </a:rPr>
              <a:t>05 · DATOS INTERESANTES ENCONTRADOS</a:t>
            </a:r>
            <a:endParaRPr lang="es-ES" sz="1150" b="0" u="none" strike="noStrike">
              <a:solidFill>
                <a:srgbClr val="000000"/>
              </a:solidFill>
              <a:latin typeface="Arial"/>
            </a:endParaRPr>
          </a:p>
        </p:txBody>
      </p:sp>
      <p:sp>
        <p:nvSpPr>
          <p:cNvPr id="1201372079" name="Text 1"/>
          <p:cNvSpPr/>
          <p:nvPr/>
        </p:nvSpPr>
        <p:spPr bwMode="auto">
          <a:xfrm>
            <a:off x="548640" y="749879"/>
            <a:ext cx="11094120" cy="776879"/>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2000"/>
              </a:lnSpc>
              <a:tabLst>
                <a:tab pos="0" algn="l"/>
              </a:tabLst>
              <a:defRPr/>
            </a:pPr>
            <a:r>
              <a:rPr lang="en-US" sz="2400" b="1" u="none" strike="noStrike">
                <a:solidFill>
                  <a:srgbClr val="0B1E3D"/>
                </a:solidFill>
                <a:latin typeface="Calibri"/>
                <a:ea typeface="Calibri"/>
              </a:rPr>
              <a:t>Triples anotados por partido según temporada — la era Curry</a:t>
            </a:r>
            <a:endParaRPr lang="es-ES" sz="2400" b="0" u="none" strike="noStrike">
              <a:solidFill>
                <a:srgbClr val="000000"/>
              </a:solidFill>
              <a:latin typeface="Arial"/>
            </a:endParaRPr>
          </a:p>
        </p:txBody>
      </p:sp>
      <p:sp>
        <p:nvSpPr>
          <p:cNvPr id="1099055274" name="Shape 2"/>
          <p:cNvSpPr/>
          <p:nvPr/>
        </p:nvSpPr>
        <p:spPr bwMode="auto">
          <a:xfrm>
            <a:off x="548640" y="2004120"/>
            <a:ext cx="6857640" cy="3809519"/>
          </a:xfrm>
          <a:prstGeom prst="roundRect">
            <a:avLst>
              <a:gd name="adj" fmla="val 1440"/>
            </a:avLst>
          </a:prstGeom>
          <a:solidFill>
            <a:srgbClr val="FFFFFF"/>
          </a:solidFill>
          <a:ln w="0">
            <a:noFill/>
          </a:ln>
          <a:effectLst>
            <a:outerShdw algn="bl" rotWithShape="0">
              <a:srgbClr val="8798AD">
                <a:alpha val="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pic>
        <p:nvPicPr>
          <p:cNvPr id="1428980668" name="Image 0" descr="/tmp/claude-0/-home-claude/c0a8783c-8817-5425-bc4f-190e5f64548a/scratchpad/work/imgs/img_triples_temporada.png"/>
          <p:cNvPicPr/>
          <p:nvPr/>
        </p:nvPicPr>
        <p:blipFill rotWithShape="1">
          <a:blip r:embed="rId3"/>
          <a:stretch/>
        </p:blipFill>
        <p:spPr bwMode="auto">
          <a:xfrm>
            <a:off x="658440" y="2113920"/>
            <a:ext cx="6638039" cy="3590280"/>
          </a:xfrm>
          <a:prstGeom prst="rect">
            <a:avLst/>
          </a:prstGeom>
          <a:noFill/>
          <a:ln w="0">
            <a:noFill/>
          </a:ln>
        </p:spPr>
      </p:pic>
      <p:sp>
        <p:nvSpPr>
          <p:cNvPr id="1706123165" name="Text 3"/>
          <p:cNvSpPr/>
          <p:nvPr/>
        </p:nvSpPr>
        <p:spPr bwMode="auto">
          <a:xfrm>
            <a:off x="7772400" y="1600200"/>
            <a:ext cx="3870360" cy="1782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20000"/>
              </a:lnSpc>
              <a:tabLst>
                <a:tab pos="0" algn="l"/>
              </a:tabLst>
              <a:defRPr/>
            </a:pPr>
            <a:r>
              <a:rPr lang="en-US" sz="1150" b="0" u="none" strike="noStrike">
                <a:solidFill>
                  <a:srgbClr val="12203D"/>
                </a:solidFill>
                <a:latin typeface="Calibri"/>
                <a:ea typeface="Calibri"/>
              </a:rPr>
              <a:t>Hasta 2012 ningún líder de temporada superaba los 3,5 triples anotados por partido. Desde que Stephen Curry irrumpe en 2013, redefine el techo de la posición ocho veces en nueve temporadas — la contraparte exacta del cambio de estilo que ya mostraba el % de intentos de triple por época.</a:t>
            </a:r>
            <a:endParaRPr lang="es-ES" sz="1150" b="0" u="none" strike="noStrike">
              <a:solidFill>
                <a:srgbClr val="000000"/>
              </a:solidFill>
              <a:latin typeface="Arial"/>
            </a:endParaRPr>
          </a:p>
        </p:txBody>
      </p:sp>
      <p:graphicFrame>
        <p:nvGraphicFramePr>
          <p:cNvPr id="114563354" name="Table 0"/>
          <p:cNvGraphicFramePr>
            <a:graphicFrameLocks xmlns:a="http://schemas.openxmlformats.org/drawingml/2006/main"/>
          </p:cNvGraphicFramePr>
          <p:nvPr/>
        </p:nvGraphicFramePr>
        <p:xfrm rot="0">
          <a:off x="7772400" y="3429000"/>
          <a:ext cx="3870360" cy="2090160"/>
        </p:xfrm>
        <a:graphic>
          <a:graphicData uri="http://schemas.openxmlformats.org/drawingml/2006/table">
            <a:tbl>
              <a:tblPr firstRow="0" firstCol="0" lastRow="0" lastCol="0" bandRow="0" bandCol="0"/>
              <a:tblGrid>
                <a:gridCol w="1315800"/>
                <a:gridCol w="851400"/>
                <a:gridCol w="851400"/>
                <a:gridCol w="851400"/>
              </a:tblGrid>
              <a:tr h="255960">
                <a:tc>
                  <a:txBody>
                    <a:bodyPr/>
                    <a:p>
                      <a:pPr defTabSz="914400">
                        <a:lnSpc>
                          <a:spcPct val="100000"/>
                        </a:lnSpc>
                        <a:tabLst>
                          <a:tab pos="0" algn="l"/>
                        </a:tabLst>
                        <a:defRPr/>
                      </a:pPr>
                      <a:r>
                        <a:rPr lang="en-US" sz="850" b="1" u="none" strike="noStrike">
                          <a:solidFill>
                            <a:srgbClr val="FFFFFF"/>
                          </a:solidFill>
                          <a:latin typeface="Calibri"/>
                          <a:ea typeface="Calibri"/>
                        </a:rPr>
                        <a:t>Temp.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Jugador</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Equipo</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c>
                  <a:txBody>
                    <a:bodyPr/>
                    <a:p>
                      <a:pPr defTabSz="914400">
                        <a:lnSpc>
                          <a:spcPct val="100000"/>
                        </a:lnSpc>
                        <a:tabLst>
                          <a:tab pos="0" algn="l"/>
                        </a:tabLst>
                        <a:defRPr/>
                      </a:pPr>
                      <a:r>
                        <a:rPr lang="en-US" sz="850" b="1" u="none" strike="noStrike">
                          <a:solidFill>
                            <a:srgbClr val="FFFFFF"/>
                          </a:solidFill>
                          <a:latin typeface="Calibri"/>
                          <a:ea typeface="Calibri"/>
                        </a:rPr>
                        <a:t>3P/p</a:t>
                      </a:r>
                      <a:endParaRPr lang="es-ES" sz="850" b="0" u="none" strike="noStrike">
                        <a:solidFill>
                          <a:srgbClr val="FFFFFF"/>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0B1E3D"/>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2021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Stephen Curry</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GSW</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5.3</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2016</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Stephen Curry</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GSW</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5.1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2019</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Stephen Curry</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GSW</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5.1</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2022</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Stephen Curry</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GSW</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4.5</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0F3F8"/>
                    </a:solidFill>
                  </a:tcPr>
                </a:tc>
              </a:tr>
              <a:tr h="237600">
                <a:tc>
                  <a:txBody>
                    <a:bodyPr/>
                    <a:p>
                      <a:pPr defTabSz="914400">
                        <a:lnSpc>
                          <a:spcPct val="100000"/>
                        </a:lnSpc>
                        <a:tabLst>
                          <a:tab pos="0" algn="l"/>
                        </a:tabLst>
                        <a:defRPr/>
                      </a:pPr>
                      <a:r>
                        <a:rPr lang="en-US" sz="900" b="0" u="none" strike="noStrike">
                          <a:solidFill>
                            <a:srgbClr val="12203D"/>
                          </a:solidFill>
                          <a:latin typeface="Calibri"/>
                          <a:ea typeface="Calibri"/>
                        </a:rPr>
                        <a:t>2020</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James Harden</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HOU</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c>
                  <a:txBody>
                    <a:bodyPr/>
                    <a:p>
                      <a:pPr defTabSz="914400">
                        <a:lnSpc>
                          <a:spcPct val="100000"/>
                        </a:lnSpc>
                        <a:tabLst>
                          <a:tab pos="0" algn="l"/>
                        </a:tabLst>
                        <a:defRPr/>
                      </a:pPr>
                      <a:r>
                        <a:rPr lang="en-US" sz="900" b="0" u="none" strike="noStrike">
                          <a:solidFill>
                            <a:srgbClr val="12203D"/>
                          </a:solidFill>
                          <a:latin typeface="Calibri"/>
                          <a:ea typeface="Calibri"/>
                        </a:rPr>
                        <a:t>4.4</a:t>
                      </a:r>
                      <a:endParaRPr lang="es-ES" sz="900" b="0" u="none" strike="noStrike">
                        <a:solidFill>
                          <a:srgbClr val="000000"/>
                        </a:solidFill>
                        <a:latin typeface="Arial"/>
                      </a:endParaRPr>
                    </a:p>
                  </a:txBody>
                  <a:tcPr anchor="ctr">
                    <a:lnL w="6480" algn="ctr">
                      <a:solidFill>
                        <a:srgbClr val="E3E7EE"/>
                      </a:solidFill>
                    </a:lnL>
                    <a:lnR w="6480" algn="ctr">
                      <a:solidFill>
                        <a:srgbClr val="E3E7EE"/>
                      </a:solidFill>
                    </a:lnR>
                    <a:lnT w="6480" algn="ctr">
                      <a:solidFill>
                        <a:srgbClr val="E3E7EE"/>
                      </a:solidFill>
                    </a:lnT>
                    <a:lnB w="6480" algn="ctr">
                      <a:solidFill>
                        <a:srgbClr val="E3E7EE"/>
                      </a:solidFill>
                    </a:lnB>
                    <a:solidFill>
                      <a:srgbClr val="FFFFFF"/>
                    </a:solidFill>
                  </a:tcPr>
                </a:tc>
              </a:tr>
            </a:tbl>
          </a:graphicData>
        </a:graphic>
      </p:graphicFrame>
      <p:pic>
        <p:nvPicPr>
          <p:cNvPr id="2104220157" name="Image 1" descr="/tmp/claude-0/-home-claude/c0a8783c-8817-5425-bc4f-190e5f64548a/scratchpad/work/icons/basketball_E1590F.png"/>
          <p:cNvPicPr/>
          <p:nvPr/>
        </p:nvPicPr>
        <p:blipFill rotWithShape="1">
          <a:blip r:embed="rId4"/>
          <a:stretch/>
        </p:blipFill>
        <p:spPr bwMode="auto">
          <a:xfrm>
            <a:off x="548640" y="6546960"/>
            <a:ext cx="145800" cy="145800"/>
          </a:xfrm>
          <a:prstGeom prst="rect">
            <a:avLst/>
          </a:prstGeom>
          <a:noFill/>
          <a:ln w="0">
            <a:noFill/>
          </a:ln>
        </p:spPr>
      </p:pic>
      <p:sp>
        <p:nvSpPr>
          <p:cNvPr id="1720333846" name="Text 4"/>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5B6B85"/>
                </a:solidFill>
                <a:latin typeface="Calibri"/>
                <a:ea typeface="Calibri"/>
              </a:rPr>
              <a:t>05 · Datos interesantes · 2/2</a:t>
            </a:r>
            <a:endParaRPr lang="es-ES" sz="850" b="0" u="none" strike="noStrike">
              <a:solidFill>
                <a:srgbClr val="000000"/>
              </a:solidFill>
              <a:latin typeface="Arial"/>
            </a:endParaRPr>
          </a:p>
        </p:txBody>
      </p:sp>
      <p:sp>
        <p:nvSpPr>
          <p:cNvPr id="1494005750" name="Text 5"/>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5B6B85"/>
                </a:solidFill>
                <a:latin typeface="Calibri"/>
                <a:ea typeface="Calibri"/>
              </a:rPr>
              <a:t>22 / 23</a:t>
            </a:r>
            <a:endParaRPr lang="es-ES" sz="850" b="0" u="none" strike="noStrike">
              <a:solidFill>
                <a:srgbClr val="000000"/>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B1E3D"/>
        </a:solidFill>
      </p:bgPr>
    </p:bg>
    <p:spTree>
      <p:nvGrpSpPr>
        <p:cNvPr id="1" name=""/>
        <p:cNvGrpSpPr/>
        <p:nvPr/>
      </p:nvGrpSpPr>
      <p:grpSpPr bwMode="auto">
        <a:xfrm>
          <a:off x="0" y="0"/>
          <a:ext cx="0" cy="0"/>
          <a:chOff x="0" y="0"/>
          <a:chExt cx="0" cy="0"/>
        </a:xfrm>
      </p:grpSpPr>
      <p:pic>
        <p:nvPicPr>
          <p:cNvPr id="450903445" name="Image 0" descr="/tmp/claude-0/-home-claude/c0a8783c-8817-5425-bc4f-190e5f64548a/scratchpad/work/icons/basketball_1B3760.png"/>
          <p:cNvPicPr/>
          <p:nvPr/>
        </p:nvPicPr>
        <p:blipFill rotWithShape="1">
          <a:blip r:embed="rId3">
            <a:alphaModFix amt="70000"/>
          </a:blip>
          <a:stretch/>
        </p:blipFill>
        <p:spPr bwMode="auto">
          <a:xfrm>
            <a:off x="-1371600" y="2926080"/>
            <a:ext cx="4754520" cy="4754520"/>
          </a:xfrm>
          <a:prstGeom prst="rect">
            <a:avLst/>
          </a:prstGeom>
          <a:noFill/>
          <a:ln w="0">
            <a:noFill/>
          </a:ln>
        </p:spPr>
      </p:pic>
      <p:sp>
        <p:nvSpPr>
          <p:cNvPr id="1467955560" name="Text 0"/>
          <p:cNvSpPr/>
          <p:nvPr/>
        </p:nvSpPr>
        <p:spPr bwMode="auto">
          <a:xfrm>
            <a:off x="548640" y="502920"/>
            <a:ext cx="11094120" cy="685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3400" b="1" u="none" strike="noStrike">
                <a:solidFill>
                  <a:srgbClr val="FFFFFF"/>
                </a:solidFill>
                <a:latin typeface="Calibri"/>
                <a:ea typeface="Calibri"/>
              </a:rPr>
              <a:t>Conclusiones</a:t>
            </a:r>
            <a:endParaRPr lang="es-ES" sz="3400" b="0" u="none" strike="noStrike">
              <a:solidFill>
                <a:srgbClr val="FFFFFF"/>
              </a:solidFill>
              <a:latin typeface="Arial"/>
            </a:endParaRPr>
          </a:p>
        </p:txBody>
      </p:sp>
      <p:sp>
        <p:nvSpPr>
          <p:cNvPr id="1091398850" name="Text 1"/>
          <p:cNvSpPr/>
          <p:nvPr/>
        </p:nvSpPr>
        <p:spPr bwMode="auto">
          <a:xfrm>
            <a:off x="548640" y="1170360"/>
            <a:ext cx="1109412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350" b="0" u="none" strike="noStrike">
                <a:solidFill>
                  <a:srgbClr val="AAB8D6"/>
                </a:solidFill>
                <a:latin typeface="Calibri"/>
                <a:ea typeface="Calibri"/>
              </a:rPr>
              <a:t>Lo que deja el análisis univariado, multivariado y bivariado del dataset nbaFINAL.csv</a:t>
            </a:r>
            <a:endParaRPr lang="es-ES" sz="1350" b="0" u="none" strike="noStrike">
              <a:solidFill>
                <a:srgbClr val="FFFFFF"/>
              </a:solidFill>
              <a:latin typeface="Arial"/>
            </a:endParaRPr>
          </a:p>
        </p:txBody>
      </p:sp>
      <p:sp>
        <p:nvSpPr>
          <p:cNvPr id="528223138" name="Shape 2"/>
          <p:cNvSpPr/>
          <p:nvPr/>
        </p:nvSpPr>
        <p:spPr bwMode="auto">
          <a:xfrm>
            <a:off x="548640" y="19292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710475111" name="Text 3"/>
          <p:cNvSpPr/>
          <p:nvPr/>
        </p:nvSpPr>
        <p:spPr bwMode="auto">
          <a:xfrm>
            <a:off x="804600" y="18745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Dataset depurado</a:t>
            </a:r>
            <a:endParaRPr lang="es-ES" sz="1250" b="0" u="none" strike="noStrike">
              <a:solidFill>
                <a:srgbClr val="FFFFFF"/>
              </a:solidFill>
              <a:latin typeface="Arial"/>
            </a:endParaRPr>
          </a:p>
        </p:txBody>
      </p:sp>
      <p:sp>
        <p:nvSpPr>
          <p:cNvPr id="624782985" name="Text 4"/>
          <p:cNvSpPr/>
          <p:nvPr/>
        </p:nvSpPr>
        <p:spPr bwMode="auto">
          <a:xfrm>
            <a:off x="804600" y="21214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14.078 registros temporada-jugador, 54 variables (1982–2022), solo 0,21% de celdas con NA tras filtrar minutos_totales ≥ 100 y retirar filas "TOT".</a:t>
            </a:r>
            <a:endParaRPr lang="es-ES" sz="1000" b="0" u="none" strike="noStrike">
              <a:solidFill>
                <a:srgbClr val="FFFFFF"/>
              </a:solidFill>
              <a:latin typeface="Arial"/>
            </a:endParaRPr>
          </a:p>
        </p:txBody>
      </p:sp>
      <p:sp>
        <p:nvSpPr>
          <p:cNvPr id="407919391" name="Shape 5"/>
          <p:cNvSpPr/>
          <p:nvPr/>
        </p:nvSpPr>
        <p:spPr bwMode="auto">
          <a:xfrm>
            <a:off x="548640" y="28436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714614207" name="Text 6"/>
          <p:cNvSpPr/>
          <p:nvPr/>
        </p:nvSpPr>
        <p:spPr bwMode="auto">
          <a:xfrm>
            <a:off x="804600" y="27889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10 variables genuinamente independientes</a:t>
            </a:r>
            <a:endParaRPr lang="es-ES" sz="1250" b="0" u="none" strike="noStrike">
              <a:solidFill>
                <a:srgbClr val="FFFFFF"/>
              </a:solidFill>
              <a:latin typeface="Arial"/>
            </a:endParaRPr>
          </a:p>
        </p:txBody>
      </p:sp>
      <p:sp>
        <p:nvSpPr>
          <p:cNvPr id="349779152" name="Text 7"/>
          <p:cNvSpPr/>
          <p:nvPr/>
        </p:nvSpPr>
        <p:spPr bwMode="auto">
          <a:xfrm>
            <a:off x="804600" y="30358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Correlación absoluta mediana de 0.174 entre ellas y ninguna pareja supera |r| = 0.8, cubriendo 10 dimensiones distintas del juego.</a:t>
            </a:r>
            <a:endParaRPr lang="es-ES" sz="1000" b="0" u="none" strike="noStrike">
              <a:solidFill>
                <a:srgbClr val="FFFFFF"/>
              </a:solidFill>
              <a:latin typeface="Arial"/>
            </a:endParaRPr>
          </a:p>
        </p:txBody>
      </p:sp>
      <p:sp>
        <p:nvSpPr>
          <p:cNvPr id="1024082571" name="Shape 8"/>
          <p:cNvSpPr/>
          <p:nvPr/>
        </p:nvSpPr>
        <p:spPr bwMode="auto">
          <a:xfrm>
            <a:off x="548640" y="37580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2045788036" name="Text 9"/>
          <p:cNvSpPr/>
          <p:nvPr/>
        </p:nvSpPr>
        <p:spPr bwMode="auto">
          <a:xfrm>
            <a:off x="804600" y="37033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Pearson por sí solo engaña</a:t>
            </a:r>
            <a:endParaRPr lang="es-ES" sz="1250" b="0" u="none" strike="noStrike">
              <a:solidFill>
                <a:srgbClr val="FFFFFF"/>
              </a:solidFill>
              <a:latin typeface="Arial"/>
            </a:endParaRPr>
          </a:p>
        </p:txBody>
      </p:sp>
      <p:sp>
        <p:nvSpPr>
          <p:cNvPr id="1453380850" name="Text 10"/>
          <p:cNvSpPr/>
          <p:nvPr/>
        </p:nvSpPr>
        <p:spPr bwMode="auto">
          <a:xfrm>
            <a:off x="804600" y="39502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USG% vs. TS% y edad vs. PER dan r ≈ 0, pero esconden patrones reales: estrellas eficientes y una curva de rendimiento con pico hacia los 27-28 años.</a:t>
            </a:r>
            <a:endParaRPr lang="es-ES" sz="1000" b="0" u="none" strike="noStrike">
              <a:solidFill>
                <a:srgbClr val="FFFFFF"/>
              </a:solidFill>
              <a:latin typeface="Arial"/>
            </a:endParaRPr>
          </a:p>
        </p:txBody>
      </p:sp>
      <p:sp>
        <p:nvSpPr>
          <p:cNvPr id="287570709" name="Shape 11"/>
          <p:cNvSpPr/>
          <p:nvPr/>
        </p:nvSpPr>
        <p:spPr bwMode="auto">
          <a:xfrm>
            <a:off x="548640" y="46724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918418167" name="Text 12"/>
          <p:cNvSpPr/>
          <p:nvPr/>
        </p:nvSpPr>
        <p:spPr bwMode="auto">
          <a:xfrm>
            <a:off x="804600" y="46177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La posición es la confusión más frecuente</a:t>
            </a:r>
            <a:endParaRPr lang="es-ES" sz="1250" b="0" u="none" strike="noStrike">
              <a:solidFill>
                <a:srgbClr val="FFFFFF"/>
              </a:solidFill>
              <a:latin typeface="Arial"/>
            </a:endParaRPr>
          </a:p>
        </p:txBody>
      </p:sp>
      <p:sp>
        <p:nvSpPr>
          <p:cNvPr id="1133750392" name="Text 13"/>
          <p:cNvSpPr/>
          <p:nvPr/>
        </p:nvSpPr>
        <p:spPr bwMode="auto">
          <a:xfrm>
            <a:off x="804600" y="48646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Asistencias vs. pérdidas y rebote vs. asistencias solo se interpretan bien controlando por posición.</a:t>
            </a:r>
            <a:endParaRPr lang="es-ES" sz="1000" b="0" u="none" strike="noStrike">
              <a:solidFill>
                <a:srgbClr val="FFFFFF"/>
              </a:solidFill>
              <a:latin typeface="Arial"/>
            </a:endParaRPr>
          </a:p>
        </p:txBody>
      </p:sp>
      <p:sp>
        <p:nvSpPr>
          <p:cNvPr id="1039271679" name="Shape 14"/>
          <p:cNvSpPr/>
          <p:nvPr/>
        </p:nvSpPr>
        <p:spPr bwMode="auto">
          <a:xfrm>
            <a:off x="548640" y="55868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844614140" name="Text 15"/>
          <p:cNvSpPr/>
          <p:nvPr/>
        </p:nvSpPr>
        <p:spPr bwMode="auto">
          <a:xfrm>
            <a:off x="804600" y="55321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El contexto infla métricas "individuales"</a:t>
            </a:r>
            <a:endParaRPr lang="es-ES" sz="1250" b="0" u="none" strike="noStrike">
              <a:solidFill>
                <a:srgbClr val="FFFFFF"/>
              </a:solidFill>
              <a:latin typeface="Arial"/>
            </a:endParaRPr>
          </a:p>
        </p:txBody>
      </p:sp>
      <p:sp>
        <p:nvSpPr>
          <p:cNvPr id="679778633" name="Text 16"/>
          <p:cNvSpPr/>
          <p:nvPr/>
        </p:nvSpPr>
        <p:spPr bwMode="auto">
          <a:xfrm>
            <a:off x="804600" y="57790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El VORP crece de forma acelerada (no lineal) según los minutos jugados, y el impacto defensivo también depende de qué tan bueno es el equipo.</a:t>
            </a:r>
            <a:endParaRPr lang="es-ES" sz="1000" b="0" u="none" strike="noStrike">
              <a:solidFill>
                <a:srgbClr val="FFFFFF"/>
              </a:solidFill>
              <a:latin typeface="Arial"/>
            </a:endParaRPr>
          </a:p>
        </p:txBody>
      </p:sp>
      <p:sp>
        <p:nvSpPr>
          <p:cNvPr id="944620454" name="Shape 17"/>
          <p:cNvSpPr/>
          <p:nvPr/>
        </p:nvSpPr>
        <p:spPr bwMode="auto">
          <a:xfrm>
            <a:off x="6370200" y="19292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703164816" name="Text 18"/>
          <p:cNvSpPr/>
          <p:nvPr/>
        </p:nvSpPr>
        <p:spPr bwMode="auto">
          <a:xfrm>
            <a:off x="6626160" y="18745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El estilo de juego cambió por quiebre</a:t>
            </a:r>
            <a:endParaRPr lang="es-ES" sz="1250" b="0" u="none" strike="noStrike">
              <a:solidFill>
                <a:srgbClr val="FFFFFF"/>
              </a:solidFill>
              <a:latin typeface="Arial"/>
            </a:endParaRPr>
          </a:p>
        </p:txBody>
      </p:sp>
      <p:sp>
        <p:nvSpPr>
          <p:cNvPr id="2133548589" name="Text 19"/>
          <p:cNvSpPr/>
          <p:nvPr/>
        </p:nvSpPr>
        <p:spPr bwMode="auto">
          <a:xfrm>
            <a:off x="6626160" y="21214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La proporción de intentos de triple se aceleró en momentos identificables a lo largo de 41 temporadas, no de forma suave.</a:t>
            </a:r>
            <a:endParaRPr lang="es-ES" sz="1000" b="0" u="none" strike="noStrike">
              <a:solidFill>
                <a:srgbClr val="FFFFFF"/>
              </a:solidFill>
              <a:latin typeface="Arial"/>
            </a:endParaRPr>
          </a:p>
        </p:txBody>
      </p:sp>
      <p:sp>
        <p:nvSpPr>
          <p:cNvPr id="1004593988" name="Shape 20"/>
          <p:cNvSpPr/>
          <p:nvPr/>
        </p:nvSpPr>
        <p:spPr bwMode="auto">
          <a:xfrm>
            <a:off x="6370200" y="28436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952123958" name="Text 21"/>
          <p:cNvSpPr/>
          <p:nvPr/>
        </p:nvSpPr>
        <p:spPr bwMode="auto">
          <a:xfrm>
            <a:off x="6626160" y="27889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No todo supuesto trade-off se cumple</a:t>
            </a:r>
            <a:endParaRPr lang="es-ES" sz="1250" b="0" u="none" strike="noStrike">
              <a:solidFill>
                <a:srgbClr val="FFFFFF"/>
              </a:solidFill>
              <a:latin typeface="Arial"/>
            </a:endParaRPr>
          </a:p>
        </p:txBody>
      </p:sp>
      <p:sp>
        <p:nvSpPr>
          <p:cNvPr id="1658029594" name="Text 22"/>
          <p:cNvSpPr/>
          <p:nvPr/>
        </p:nvSpPr>
        <p:spPr bwMode="auto">
          <a:xfrm>
            <a:off x="6626160" y="30358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Puntos y asistencias por partido correlacionan positivo (r ≈ 0.59): anotar y crear juego comparten causa común, no se oponen.</a:t>
            </a:r>
            <a:endParaRPr lang="es-ES" sz="1000" b="0" u="none" strike="noStrike">
              <a:solidFill>
                <a:srgbClr val="FFFFFF"/>
              </a:solidFill>
              <a:latin typeface="Arial"/>
            </a:endParaRPr>
          </a:p>
        </p:txBody>
      </p:sp>
      <p:sp>
        <p:nvSpPr>
          <p:cNvPr id="1657665677" name="Shape 23"/>
          <p:cNvSpPr/>
          <p:nvPr/>
        </p:nvSpPr>
        <p:spPr bwMode="auto">
          <a:xfrm>
            <a:off x="6370200" y="37580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842469754" name="Text 24"/>
          <p:cNvSpPr/>
          <p:nvPr/>
        </p:nvSpPr>
        <p:spPr bwMode="auto">
          <a:xfrm>
            <a:off x="6626160" y="37033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Una variable derivada resuelve una confusión</a:t>
            </a:r>
            <a:endParaRPr lang="es-ES" sz="1250" b="0" u="none" strike="noStrike">
              <a:solidFill>
                <a:srgbClr val="FFFFFF"/>
              </a:solidFill>
              <a:latin typeface="Arial"/>
            </a:endParaRPr>
          </a:p>
        </p:txBody>
      </p:sp>
      <p:sp>
        <p:nvSpPr>
          <p:cNvPr id="451985807" name="Text 25"/>
          <p:cNvSpPr/>
          <p:nvPr/>
        </p:nvSpPr>
        <p:spPr bwMode="auto">
          <a:xfrm>
            <a:off x="6626160" y="39502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"Experiencia" y "edad de entrada" no existen en el dataset original, pero fueron necesarias para separar desarrollo real de sesgo de selección.</a:t>
            </a:r>
            <a:endParaRPr lang="es-ES" sz="1000" b="0" u="none" strike="noStrike">
              <a:solidFill>
                <a:srgbClr val="FFFFFF"/>
              </a:solidFill>
              <a:latin typeface="Arial"/>
            </a:endParaRPr>
          </a:p>
        </p:txBody>
      </p:sp>
      <p:sp>
        <p:nvSpPr>
          <p:cNvPr id="660545384" name="Shape 26"/>
          <p:cNvSpPr/>
          <p:nvPr/>
        </p:nvSpPr>
        <p:spPr bwMode="auto">
          <a:xfrm>
            <a:off x="6370200" y="4672440"/>
            <a:ext cx="109440" cy="109440"/>
          </a:xfrm>
          <a:prstGeom prst="rect">
            <a:avLst/>
          </a:prstGeom>
          <a:solidFill>
            <a:srgbClr val="FF7A29"/>
          </a:solid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defRPr/>
            </a:pPr>
            <a:endParaRPr lang="es-ES" sz="1800" b="0" u="none" strike="noStrike">
              <a:solidFill>
                <a:srgbClr val="000000"/>
              </a:solidFill>
              <a:latin typeface="Arial"/>
            </a:endParaRPr>
          </a:p>
        </p:txBody>
      </p:sp>
      <p:sp>
        <p:nvSpPr>
          <p:cNvPr id="1229498771" name="Text 27"/>
          <p:cNvSpPr/>
          <p:nvPr/>
        </p:nvSpPr>
        <p:spPr bwMode="auto">
          <a:xfrm>
            <a:off x="6626160" y="4617720"/>
            <a:ext cx="5016600" cy="255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defRPr/>
            </a:pPr>
            <a:r>
              <a:rPr lang="en-US" sz="1250" b="1" u="none" strike="noStrike">
                <a:solidFill>
                  <a:srgbClr val="FF7A29"/>
                </a:solidFill>
                <a:latin typeface="Calibri"/>
                <a:ea typeface="Calibri"/>
              </a:rPr>
              <a:t>Próximos pasos naturales</a:t>
            </a:r>
            <a:endParaRPr lang="es-ES" sz="1250" b="0" u="none" strike="noStrike">
              <a:solidFill>
                <a:srgbClr val="FFFFFF"/>
              </a:solidFill>
              <a:latin typeface="Arial"/>
            </a:endParaRPr>
          </a:p>
        </p:txBody>
      </p:sp>
      <p:sp>
        <p:nvSpPr>
          <p:cNvPr id="1523329066" name="Text 28"/>
          <p:cNvSpPr/>
          <p:nvPr/>
        </p:nvSpPr>
        <p:spPr bwMode="auto">
          <a:xfrm>
            <a:off x="6626160" y="4864680"/>
            <a:ext cx="5016600" cy="621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12000"/>
              </a:lnSpc>
              <a:tabLst>
                <a:tab pos="0" algn="l"/>
              </a:tabLst>
              <a:defRPr/>
            </a:pPr>
            <a:r>
              <a:rPr lang="en-US" sz="1000" b="0" u="none" strike="noStrike">
                <a:solidFill>
                  <a:srgbClr val="AAB8D6"/>
                </a:solidFill>
                <a:latin typeface="Calibri"/>
                <a:ea typeface="Calibri"/>
              </a:rPr>
              <a:t>PCA y clustering sobre el panel estandarizado de 10 variables para hallar arquetipos de jugador, y un modelo de VORP con predictores no redundantes.</a:t>
            </a:r>
            <a:endParaRPr lang="es-ES" sz="1000" b="0" u="none" strike="noStrike">
              <a:solidFill>
                <a:srgbClr val="FFFFFF"/>
              </a:solidFill>
              <a:latin typeface="Arial"/>
            </a:endParaRPr>
          </a:p>
        </p:txBody>
      </p:sp>
      <p:pic>
        <p:nvPicPr>
          <p:cNvPr id="1387478068" name="Image 1" descr="/tmp/claude-0/-home-claude/c0a8783c-8817-5425-bc4f-190e5f64548a/scratchpad/work/icons/basketball_FF7A29.png"/>
          <p:cNvPicPr/>
          <p:nvPr/>
        </p:nvPicPr>
        <p:blipFill rotWithShape="1">
          <a:blip r:embed="rId4"/>
          <a:stretch/>
        </p:blipFill>
        <p:spPr bwMode="auto">
          <a:xfrm>
            <a:off x="548640" y="6546960"/>
            <a:ext cx="145800" cy="145800"/>
          </a:xfrm>
          <a:prstGeom prst="rect">
            <a:avLst/>
          </a:prstGeom>
          <a:noFill/>
          <a:ln w="0">
            <a:noFill/>
          </a:ln>
        </p:spPr>
      </p:pic>
      <p:sp>
        <p:nvSpPr>
          <p:cNvPr id="214548370" name="Text 29"/>
          <p:cNvSpPr/>
          <p:nvPr/>
        </p:nvSpPr>
        <p:spPr bwMode="auto">
          <a:xfrm>
            <a:off x="768240" y="6510600"/>
            <a:ext cx="45716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defRPr/>
            </a:pPr>
            <a:r>
              <a:rPr lang="en-US" sz="850" b="0" u="none" strike="noStrike">
                <a:solidFill>
                  <a:srgbClr val="AAB8D6"/>
                </a:solidFill>
                <a:latin typeface="Calibri"/>
                <a:ea typeface="Calibri"/>
              </a:rPr>
              <a:t>GRACIAS · ANÁLISIS NBA 1982–2022</a:t>
            </a:r>
            <a:endParaRPr lang="es-ES" sz="850" b="0" u="none" strike="noStrike">
              <a:solidFill>
                <a:srgbClr val="FFFFFF"/>
              </a:solidFill>
              <a:latin typeface="Arial"/>
            </a:endParaRPr>
          </a:p>
        </p:txBody>
      </p:sp>
      <p:sp>
        <p:nvSpPr>
          <p:cNvPr id="2001572951" name="Text 30"/>
          <p:cNvSpPr/>
          <p:nvPr/>
        </p:nvSpPr>
        <p:spPr bwMode="auto">
          <a:xfrm>
            <a:off x="10271520" y="6510600"/>
            <a:ext cx="1371240" cy="237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defRPr/>
            </a:pPr>
            <a:r>
              <a:rPr lang="en-US" sz="850" b="0" u="none" strike="noStrike">
                <a:solidFill>
                  <a:srgbClr val="AAB8D6"/>
                </a:solidFill>
                <a:latin typeface="Calibri"/>
                <a:ea typeface="Calibri"/>
              </a:rPr>
              <a:t>23 / 23</a:t>
            </a:r>
            <a:endParaRPr lang="es-ES" sz="850" b="0" u="none" strike="noStrike">
              <a:solidFill>
                <a:srgbClr val="FFFFFF"/>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4</cp:revision>
  <dcterms:created xsi:type="dcterms:W3CDTF">2026-09-18T21:44:00Z</dcterms:created>
  <dcterms:modified xsi:type="dcterms:W3CDTF">2026-09-19T04:45:58Z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23</vt:i4>
  </property>
  <property fmtid="{D5CDD505-2E9C-101B-9397-08002B2CF9AE}" pid="3" name="PresentationFormat">
    <vt:lpwstr>On-screen Show (16:9)</vt:lpwstr>
  </property>
  <property fmtid="{D5CDD505-2E9C-101B-9397-08002B2CF9AE}" pid="4" name="Slides">
    <vt:i4>23</vt:i4>
  </property>
  <property fmtid="{D5CDD505-2E9C-101B-9397-08002B2CF9AE}" pid="5" name="KSOProductBuildVer">
    <vt:lpwstr>2058-12.1.0.28485</vt:lpwstr>
  </property>
  <property fmtid="{D5CDD505-2E9C-101B-9397-08002B2CF9AE}" pid="6" name="ICV">
    <vt:lpwstr>FCC0DE51DE674B56A26037313597FD9C_12</vt:lpwstr>
  </property>
</Properties>
</file>